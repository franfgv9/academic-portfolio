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4b39a498da468f" /><Relationship Type="http://schemas.openxmlformats.org/officeDocument/2006/relationships/extended-properties" Target="/docProps/app.xml" Id="R91afe59c92734d28" /><Relationship Type="http://schemas.openxmlformats.org/officeDocument/2006/relationships/officeDocument" Target="/ppt/presentation.xml" Id="R661c3b2bf2ad4d9d"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d231cc7bf1749fa"/>
  </p:sldMasterIdLst>
  <p:notesMasterIdLst>
    <p:notesMasterId xmlns:r="http://schemas.openxmlformats.org/officeDocument/2006/relationships" r:id="R8e0fe1d22d4f40e6"/>
  </p:notesMasterIdLst>
  <p:sldIdLst>
    <p:sldId xmlns:r="http://schemas.openxmlformats.org/officeDocument/2006/relationships" id="256" r:id="Rbcb977c1216a4fc1"/>
    <p:sldId xmlns:r="http://schemas.openxmlformats.org/officeDocument/2006/relationships" id="257" r:id="R4052ddd9b034449d"/>
    <p:sldId xmlns:r="http://schemas.openxmlformats.org/officeDocument/2006/relationships" id="258" r:id="Re14a4dfc9d6447c1"/>
    <p:sldId xmlns:r="http://schemas.openxmlformats.org/officeDocument/2006/relationships" id="259" r:id="R1cfccb53f1e14945"/>
    <p:sldId xmlns:r="http://schemas.openxmlformats.org/officeDocument/2006/relationships" id="260" r:id="R3964ca766daf4ab8"/>
    <p:sldId xmlns:r="http://schemas.openxmlformats.org/officeDocument/2006/relationships" id="261" r:id="Rdc3d65510fc34bc1"/>
    <p:sldId xmlns:r="http://schemas.openxmlformats.org/officeDocument/2006/relationships" id="262" r:id="R2b599b0364244318"/>
    <p:sldId xmlns:r="http://schemas.openxmlformats.org/officeDocument/2006/relationships" id="263" r:id="R5fd058ed2d354aaf"/>
    <p:sldId xmlns:r="http://schemas.openxmlformats.org/officeDocument/2006/relationships" id="264" r:id="R30803cbe6b24463c"/>
    <p:sldId xmlns:r="http://schemas.openxmlformats.org/officeDocument/2006/relationships" id="265" r:id="R6034986ee646411d"/>
    <p:sldId xmlns:r="http://schemas.openxmlformats.org/officeDocument/2006/relationships" id="266" r:id="R89e66bda72e04df4"/>
    <p:sldId xmlns:r="http://schemas.openxmlformats.org/officeDocument/2006/relationships" id="267" r:id="R40725a76f5e444ca"/>
  </p:sldIdLst>
  <p:sldSz cx="9144000" cy="5143500"/>
  <p:notesSz cx="6858000" cy="9144000"/>
  <p:embeddedFontLst>
    <p:embeddedFont>
      <p:font typeface="Roboto Mono"/>
      <p:regular xmlns:r="http://schemas.openxmlformats.org/officeDocument/2006/relationships" r:id="R9df645b93d76477a"/>
      <p:bold xmlns:r="http://schemas.openxmlformats.org/officeDocument/2006/relationships" r:id="R7ae2d504affb45f8"/>
      <p:italic xmlns:r="http://schemas.openxmlformats.org/officeDocument/2006/relationships" r:id="R30961df5655d4d04"/>
      <p:boldItalic xmlns:r="http://schemas.openxmlformats.org/officeDocument/2006/relationships" r:id="R73f4bc5fddce4b5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E9C96EFF-C137-458B-89EA-79B6DC1AD40E}">
  <a:tblStyle styleId="{E9C96EFF-C137-458B-89EA-79B6DC1AD40E}"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d9f1b463fd9b4a33" /><Relationship Type="http://schemas.openxmlformats.org/officeDocument/2006/relationships/slideMaster" Target="/ppt/slideMasters/slideMaster1.xml" Id="R7d231cc7bf1749fa" /><Relationship Type="http://schemas.openxmlformats.org/officeDocument/2006/relationships/notesMaster" Target="/ppt/notesMasters/notesMaster1.xml" Id="R8e0fe1d22d4f40e6" /><Relationship Type="http://schemas.openxmlformats.org/officeDocument/2006/relationships/presProps" Target="/ppt/presProps.xml" Id="R1f047451ecd8404c" /><Relationship Type="http://schemas.openxmlformats.org/officeDocument/2006/relationships/viewProps" Target="/ppt/viewProps.xml" Id="R2e42ce4eb23a440f" /><Relationship Type="http://schemas.openxmlformats.org/officeDocument/2006/relationships/tableStyles" Target="/ppt/tableStyles.xml" Id="R150dde1e06d341ef" /><Relationship Type="http://schemas.openxmlformats.org/officeDocument/2006/relationships/font" Target="/ppt/fonts/font.dat" Id="R9df645b93d76477a" /><Relationship Type="http://schemas.openxmlformats.org/officeDocument/2006/relationships/font" Target="/ppt/fonts/font2.dat" Id="R7ae2d504affb45f8" /><Relationship Type="http://schemas.openxmlformats.org/officeDocument/2006/relationships/font" Target="/ppt/fonts/font3.dat" Id="R30961df5655d4d04" /><Relationship Type="http://schemas.openxmlformats.org/officeDocument/2006/relationships/font" Target="/ppt/fonts/font4.dat" Id="R73f4bc5fddce4b59" /><Relationship Type="http://schemas.openxmlformats.org/officeDocument/2006/relationships/slide" Target="/ppt/slides/slide1.xml" Id="Rbcb977c1216a4fc1" /><Relationship Type="http://schemas.openxmlformats.org/officeDocument/2006/relationships/slide" Target="/ppt/slides/slide2.xml" Id="R4052ddd9b034449d" /><Relationship Type="http://schemas.openxmlformats.org/officeDocument/2006/relationships/slide" Target="/ppt/slides/slide3.xml" Id="Re14a4dfc9d6447c1" /><Relationship Type="http://schemas.openxmlformats.org/officeDocument/2006/relationships/slide" Target="/ppt/slides/slide4.xml" Id="R1cfccb53f1e14945" /><Relationship Type="http://schemas.openxmlformats.org/officeDocument/2006/relationships/slide" Target="/ppt/slides/slide5.xml" Id="R3964ca766daf4ab8" /><Relationship Type="http://schemas.openxmlformats.org/officeDocument/2006/relationships/slide" Target="/ppt/slides/slide6.xml" Id="Rdc3d65510fc34bc1" /><Relationship Type="http://schemas.openxmlformats.org/officeDocument/2006/relationships/slide" Target="/ppt/slides/slide7.xml" Id="R2b599b0364244318" /><Relationship Type="http://schemas.openxmlformats.org/officeDocument/2006/relationships/slide" Target="/ppt/slides/slide8.xml" Id="R5fd058ed2d354aaf" /><Relationship Type="http://schemas.openxmlformats.org/officeDocument/2006/relationships/slide" Target="/ppt/slides/slide9.xml" Id="R30803cbe6b24463c" /><Relationship Type="http://schemas.openxmlformats.org/officeDocument/2006/relationships/slide" Target="/ppt/slides/slide10.xml" Id="R6034986ee646411d" /><Relationship Type="http://schemas.openxmlformats.org/officeDocument/2006/relationships/slide" Target="/ppt/slides/slide11.xml" Id="R89e66bda72e04df4" /><Relationship Type="http://schemas.openxmlformats.org/officeDocument/2006/relationships/slide" Target="/ppt/slides/slide12.xml" Id="R40725a76f5e444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58da68616444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cc7f3265a64d4e" /><Relationship Type="http://schemas.openxmlformats.org/officeDocument/2006/relationships/notesMaster" Target="/ppt/notesMasters/notesMaster1.xml" Id="R519bdd5bb60942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b8e20c271349b1" /><Relationship Type="http://schemas.openxmlformats.org/officeDocument/2006/relationships/notesMaster" Target="/ppt/notesMasters/notesMaster1.xml" Id="R7faf45f9c4fa43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0c9d9d270b4391" /><Relationship Type="http://schemas.openxmlformats.org/officeDocument/2006/relationships/notesMaster" Target="/ppt/notesMasters/notesMaster1.xml" Id="R6ac94e65132047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2652e44a7a409e" /><Relationship Type="http://schemas.openxmlformats.org/officeDocument/2006/relationships/notesMaster" Target="/ppt/notesMasters/notesMaster1.xml" Id="R847619d5948b40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c0ff12e2ed435a" /><Relationship Type="http://schemas.openxmlformats.org/officeDocument/2006/relationships/notesMaster" Target="/ppt/notesMasters/notesMaster1.xml" Id="Rf218bc8a93d447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186eebbe2b41e0" /><Relationship Type="http://schemas.openxmlformats.org/officeDocument/2006/relationships/notesMaster" Target="/ppt/notesMasters/notesMaster1.xml" Id="Rdc80249c7a1647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f36408d16e4d10" /><Relationship Type="http://schemas.openxmlformats.org/officeDocument/2006/relationships/notesMaster" Target="/ppt/notesMasters/notesMaster1.xml" Id="R8cb1f8aeb18b49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5f35f53b4746f6" /><Relationship Type="http://schemas.openxmlformats.org/officeDocument/2006/relationships/notesMaster" Target="/ppt/notesMasters/notesMaster1.xml" Id="R2372b0df0a0b4583"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16adf891344f58" /><Relationship Type="http://schemas.openxmlformats.org/officeDocument/2006/relationships/notesMaster" Target="/ppt/notesMasters/notesMaster1.xml" Id="R95d32cee343d4a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14fa222c8c485a" /><Relationship Type="http://schemas.openxmlformats.org/officeDocument/2006/relationships/notesMaster" Target="/ppt/notesMasters/notesMaster1.xml" Id="R1e1e2840c14643a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a53d6fac58844c4" /><Relationship Type="http://schemas.openxmlformats.org/officeDocument/2006/relationships/notesMaster" Target="/ppt/notesMasters/notesMaster1.xml" Id="R5543a56a8fe94b9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0831f56f623471d" /><Relationship Type="http://schemas.openxmlformats.org/officeDocument/2006/relationships/notesMaster" Target="/ppt/notesMasters/notesMaster1.xml" Id="R676734af7e314d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 results.png for yolov8s_pretrained, yolov9s_pretrained, and yolov10s_pretrained from the user-provided Google Drive folder.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 confusion_matrix_normalized.png for yolov8s_pretrained_test, yolov9s_pretrained_test, and yolov10s_pretrained_test from the user-provided Google Drive folder.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 test_metrics.csv and the updated normalized test confusion matrices from the user-provided Google Drive folder.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 test_metrics.csv from the user-provided Google Drive folder. Relative gain = (pretrained - scratch) / scratch × 100.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19c0a8b954426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bd42442691e4d3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da31b1eb9248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5ef7020fd4e41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f0929f0f7234bf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5ea42ba63514b1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98c84cc323344c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12455a1e05d498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a8378b1f281413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be8eeb80619481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d22e899b8034edb"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14">
            <a:extLst xmlns:a="http://schemas.openxmlformats.org/drawingml/2006/main">
              <a:ext uri="{FF2B5EF4-FFF2-40B4-BE49-F238E27FC236}">
                <a16:creationId xmlns:a16="http://schemas.microsoft.com/office/drawing/2014/main" id="{54F1505A-2C90-4507-A14D-C8DE37704575}"/>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5200"/>
              <a:buNone/>
              <a:defRPr sz="5200"/>
            </a:lvl1pPr>
            <a:lvl2pPr algn="ctr">
              <a:lnSpc>
                <a:spcPct val="100000"/>
              </a:lnSpc>
              <a:spcBef>
                <a:spcPts val="0"/>
              </a:spcBef>
              <a:spcAft>
                <a:spcPts val="0"/>
              </a:spcAft>
              <a:buSzPts val="5200"/>
              <a:buNone/>
              <a:defRPr sz="5200"/>
            </a:lvl2pPr>
            <a:lvl3pPr algn="ctr">
              <a:lnSpc>
                <a:spcPct val="100000"/>
              </a:lnSpc>
              <a:spcBef>
                <a:spcPts val="0"/>
              </a:spcBef>
              <a:spcAft>
                <a:spcPts val="0"/>
              </a:spcAft>
              <a:buSzPts val="5200"/>
              <a:buNone/>
              <a:defRPr sz="5200"/>
            </a:lvl3pPr>
            <a:lvl4pPr algn="ctr">
              <a:lnSpc>
                <a:spcPct val="100000"/>
              </a:lnSpc>
              <a:spcBef>
                <a:spcPts val="0"/>
              </a:spcBef>
              <a:spcAft>
                <a:spcPts val="0"/>
              </a:spcAft>
              <a:buSzPts val="5200"/>
              <a:buNone/>
              <a:defRPr sz="5200"/>
            </a:lvl4pPr>
            <a:lvl5pPr algn="ctr">
              <a:lnSpc>
                <a:spcPct val="100000"/>
              </a:lnSpc>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xmlns:a="http://schemas.openxmlformats.org/drawingml/2006/main"/>
        </p:txBody>
      </p:sp>
      <p:sp>
        <p:nvSpPr>
          <p:cNvPr id="11" name="Google Shape;11;p14">
            <a:extLst xmlns:a="http://schemas.openxmlformats.org/drawingml/2006/main">
              <a:ext uri="{FF2B5EF4-FFF2-40B4-BE49-F238E27FC236}">
                <a16:creationId xmlns:a16="http://schemas.microsoft.com/office/drawing/2014/main" id="{3CBA7757-6CE6-495B-AA78-C331AD8FB850}"/>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14">
            <a:extLst xmlns:a="http://schemas.openxmlformats.org/drawingml/2006/main">
              <a:ext uri="{FF2B5EF4-FFF2-40B4-BE49-F238E27FC236}">
                <a16:creationId xmlns:a16="http://schemas.microsoft.com/office/drawing/2014/main" id="{CFDEA060-0A97-4DB1-9DD3-FFB876C247A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4" name="Google Shape;14;p15">
            <a:extLst xmlns:a="http://schemas.openxmlformats.org/drawingml/2006/main">
              <a:ext uri="{FF2B5EF4-FFF2-40B4-BE49-F238E27FC236}">
                <a16:creationId xmlns:a16="http://schemas.microsoft.com/office/drawing/2014/main" id="{C6B04211-A0D9-4CA1-812A-C354884AA71D}"/>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15" name="Google Shape;15;p15">
            <a:extLst xmlns:a="http://schemas.openxmlformats.org/drawingml/2006/main">
              <a:ext uri="{FF2B5EF4-FFF2-40B4-BE49-F238E27FC236}">
                <a16:creationId xmlns:a16="http://schemas.microsoft.com/office/drawing/2014/main" id="{493341C1-61EF-4BBF-BE40-74CF5A9DDBD5}"/>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16" name="Google Shape;16;p15">
            <a:extLst xmlns:a="http://schemas.openxmlformats.org/drawingml/2006/main">
              <a:ext uri="{FF2B5EF4-FFF2-40B4-BE49-F238E27FC236}">
                <a16:creationId xmlns:a16="http://schemas.microsoft.com/office/drawing/2014/main" id="{A0D405E9-9DA1-4440-8E1C-A9975322CC3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8" name="Google Shape;18;p16">
            <a:extLst xmlns:a="http://schemas.openxmlformats.org/drawingml/2006/main">
              <a:ext uri="{FF2B5EF4-FFF2-40B4-BE49-F238E27FC236}">
                <a16:creationId xmlns:a16="http://schemas.microsoft.com/office/drawing/2014/main" id="{AA3D6A7D-5DF0-41C6-8AB8-8280385656CA}"/>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None/>
              <a:defRPr sz="3600"/>
            </a:lvl1pPr>
            <a:lvl2pPr algn="ctr">
              <a:lnSpc>
                <a:spcPct val="100000"/>
              </a:lnSpc>
              <a:spcBef>
                <a:spcPts val="0"/>
              </a:spcBef>
              <a:spcAft>
                <a:spcPts val="0"/>
              </a:spcAft>
              <a:buSzPts val="3600"/>
              <a:buNone/>
              <a:defRPr sz="3600"/>
            </a:lvl2pPr>
            <a:lvl3pPr algn="ctr">
              <a:lnSpc>
                <a:spcPct val="100000"/>
              </a:lnSpc>
              <a:spcBef>
                <a:spcPts val="0"/>
              </a:spcBef>
              <a:spcAft>
                <a:spcPts val="0"/>
              </a:spcAft>
              <a:buSzPts val="3600"/>
              <a:buNone/>
              <a:defRPr sz="3600"/>
            </a:lvl3pPr>
            <a:lvl4pPr algn="ctr">
              <a:lnSpc>
                <a:spcPct val="100000"/>
              </a:lnSpc>
              <a:spcBef>
                <a:spcPts val="0"/>
              </a:spcBef>
              <a:spcAft>
                <a:spcPts val="0"/>
              </a:spcAft>
              <a:buSzPts val="3600"/>
              <a:buNone/>
              <a:defRPr sz="3600"/>
            </a:lvl4pPr>
            <a:lvl5pPr algn="ctr">
              <a:lnSpc>
                <a:spcPct val="100000"/>
              </a:lnSpc>
              <a:spcBef>
                <a:spcPts val="0"/>
              </a:spcBef>
              <a:spcAft>
                <a:spcPts val="0"/>
              </a:spcAft>
              <a:buSzPts val="3600"/>
              <a:buNone/>
              <a:defRPr sz="3600"/>
            </a:lvl5pPr>
            <a:lvl6pPr algn="ctr">
              <a:lnSpc>
                <a:spcPct val="100000"/>
              </a:lnSpc>
              <a:spcBef>
                <a:spcPts val="0"/>
              </a:spcBef>
              <a:spcAft>
                <a:spcPts val="0"/>
              </a:spcAft>
              <a:buSzPts val="3600"/>
              <a:buNone/>
              <a:defRPr sz="3600"/>
            </a:lvl6pPr>
            <a:lvl7pPr algn="ctr">
              <a:lnSpc>
                <a:spcPct val="100000"/>
              </a:lnSpc>
              <a:spcBef>
                <a:spcPts val="0"/>
              </a:spcBef>
              <a:spcAft>
                <a:spcPts val="0"/>
              </a:spcAft>
              <a:buSzPts val="3600"/>
              <a:buNone/>
              <a:defRPr sz="3600"/>
            </a:lvl7pPr>
            <a:lvl8pPr algn="ctr">
              <a:lnSpc>
                <a:spcPct val="100000"/>
              </a:lnSpc>
              <a:spcBef>
                <a:spcPts val="0"/>
              </a:spcBef>
              <a:spcAft>
                <a:spcPts val="0"/>
              </a:spcAft>
              <a:buSzPts val="3600"/>
              <a:buNone/>
              <a:defRPr sz="3600"/>
            </a:lvl8pPr>
            <a:lvl9pPr algn="ctr">
              <a:lnSpc>
                <a:spcPct val="100000"/>
              </a:lnSpc>
              <a:spcBef>
                <a:spcPts val="0"/>
              </a:spcBef>
              <a:spcAft>
                <a:spcPts val="0"/>
              </a:spcAft>
              <a:buSzPts val="3600"/>
              <a:buNone/>
              <a:defRPr sz="3600"/>
            </a:lvl9pPr>
          </a:lstStyle>
          <a:p xmlns:a="http://schemas.openxmlformats.org/drawingml/2006/main"/>
        </p:txBody>
      </p:sp>
      <p:sp>
        <p:nvSpPr>
          <p:cNvPr id="19" name="Google Shape;19;p16">
            <a:extLst xmlns:a="http://schemas.openxmlformats.org/drawingml/2006/main">
              <a:ext uri="{FF2B5EF4-FFF2-40B4-BE49-F238E27FC236}">
                <a16:creationId xmlns:a16="http://schemas.microsoft.com/office/drawing/2014/main" id="{EA1A6C16-7B18-420B-9B06-4FC31DD3B38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17">
            <a:extLst xmlns:a="http://schemas.openxmlformats.org/drawingml/2006/main">
              <a:ext uri="{FF2B5EF4-FFF2-40B4-BE49-F238E27FC236}">
                <a16:creationId xmlns:a16="http://schemas.microsoft.com/office/drawing/2014/main" id="{369F6340-C3E0-4C1E-8325-6EC4100F818B}"/>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2" name="Google Shape;22;p17">
            <a:extLst xmlns:a="http://schemas.openxmlformats.org/drawingml/2006/main">
              <a:ext uri="{FF2B5EF4-FFF2-40B4-BE49-F238E27FC236}">
                <a16:creationId xmlns:a16="http://schemas.microsoft.com/office/drawing/2014/main" id="{D78BADF7-66F7-4DB2-96FB-C46AEA3F7FE1}"/>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23" name="Google Shape;23;p17">
            <a:extLst xmlns:a="http://schemas.openxmlformats.org/drawingml/2006/main">
              <a:ext uri="{FF2B5EF4-FFF2-40B4-BE49-F238E27FC236}">
                <a16:creationId xmlns:a16="http://schemas.microsoft.com/office/drawing/2014/main" id="{CF37B884-FBAB-4AD2-B679-89C40452208E}"/>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24" name="Google Shape;24;p17">
            <a:extLst xmlns:a="http://schemas.openxmlformats.org/drawingml/2006/main">
              <a:ext uri="{FF2B5EF4-FFF2-40B4-BE49-F238E27FC236}">
                <a16:creationId xmlns:a16="http://schemas.microsoft.com/office/drawing/2014/main" id="{0B4287BA-3928-4EFA-9F01-984F1B7829D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18">
            <a:extLst xmlns:a="http://schemas.openxmlformats.org/drawingml/2006/main">
              <a:ext uri="{FF2B5EF4-FFF2-40B4-BE49-F238E27FC236}">
                <a16:creationId xmlns:a16="http://schemas.microsoft.com/office/drawing/2014/main" id="{00DCA17B-ACC1-41A7-BDAE-7994FF31B1FA}"/>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7" name="Google Shape;27;p18">
            <a:extLst xmlns:a="http://schemas.openxmlformats.org/drawingml/2006/main">
              <a:ext uri="{FF2B5EF4-FFF2-40B4-BE49-F238E27FC236}">
                <a16:creationId xmlns:a16="http://schemas.microsoft.com/office/drawing/2014/main" id="{DB524715-1916-472A-84C0-87395B533D1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19">
            <a:extLst xmlns:a="http://schemas.openxmlformats.org/drawingml/2006/main">
              <a:ext uri="{FF2B5EF4-FFF2-40B4-BE49-F238E27FC236}">
                <a16:creationId xmlns:a16="http://schemas.microsoft.com/office/drawing/2014/main" id="{A22A51B4-CC36-4A17-A33E-F9DC5DF2E85F}"/>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2400"/>
              <a:buNone/>
              <a:defRPr sz="2400"/>
            </a:lvl1pPr>
            <a:lvl2pPr algn="l">
              <a:lnSpc>
                <a:spcPct val="100000"/>
              </a:lnSpc>
              <a:spcBef>
                <a:spcPts val="0"/>
              </a:spcBef>
              <a:spcAft>
                <a:spcPts val="0"/>
              </a:spcAft>
              <a:buSzPts val="2400"/>
              <a:buNone/>
              <a:defRPr sz="2400"/>
            </a:lvl2pPr>
            <a:lvl3pPr algn="l">
              <a:lnSpc>
                <a:spcPct val="100000"/>
              </a:lnSpc>
              <a:spcBef>
                <a:spcPts val="0"/>
              </a:spcBef>
              <a:spcAft>
                <a:spcPts val="0"/>
              </a:spcAft>
              <a:buSzPts val="2400"/>
              <a:buNone/>
              <a:defRPr sz="2400"/>
            </a:lvl3pPr>
            <a:lvl4pPr algn="l">
              <a:lnSpc>
                <a:spcPct val="100000"/>
              </a:lnSpc>
              <a:spcBef>
                <a:spcPts val="0"/>
              </a:spcBef>
              <a:spcAft>
                <a:spcPts val="0"/>
              </a:spcAft>
              <a:buSzPts val="2400"/>
              <a:buNone/>
              <a:defRPr sz="2400"/>
            </a:lvl4pPr>
            <a:lvl5pPr algn="l">
              <a:lnSpc>
                <a:spcPct val="100000"/>
              </a:lnSpc>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p:txBody>
      </p:sp>
      <p:sp>
        <p:nvSpPr>
          <p:cNvPr id="30" name="Google Shape;30;p19">
            <a:extLst xmlns:a="http://schemas.openxmlformats.org/drawingml/2006/main">
              <a:ext uri="{FF2B5EF4-FFF2-40B4-BE49-F238E27FC236}">
                <a16:creationId xmlns:a16="http://schemas.microsoft.com/office/drawing/2014/main" id="{3EF351A6-B2A8-4EE9-A59B-CE55F5804EB3}"/>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lnSpc>
                <a:spcPct val="115000"/>
              </a:lnSpc>
              <a:spcBef>
                <a:spcPts val="0"/>
              </a:spcBef>
              <a:spcAft>
                <a:spcPts val="0"/>
              </a:spcAft>
              <a:buSzPts val="1200"/>
              <a:buChar char="●"/>
              <a:defRPr sz="12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31" name="Google Shape;31;p19">
            <a:extLst xmlns:a="http://schemas.openxmlformats.org/drawingml/2006/main">
              <a:ext uri="{FF2B5EF4-FFF2-40B4-BE49-F238E27FC236}">
                <a16:creationId xmlns:a16="http://schemas.microsoft.com/office/drawing/2014/main" id="{F051A0FC-BD9F-41AE-86FA-B717E582F01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20">
            <a:extLst xmlns:a="http://schemas.openxmlformats.org/drawingml/2006/main">
              <a:ext uri="{FF2B5EF4-FFF2-40B4-BE49-F238E27FC236}">
                <a16:creationId xmlns:a16="http://schemas.microsoft.com/office/drawing/2014/main" id="{8A1D5330-EE08-4EEA-908A-70DB8C5720C3}"/>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lnSpc>
                <a:spcPct val="100000"/>
              </a:lnSpc>
              <a:spcBef>
                <a:spcPts val="0"/>
              </a:spcBef>
              <a:spcAft>
                <a:spcPts val="0"/>
              </a:spcAft>
              <a:buSzPts val="4800"/>
              <a:buNone/>
              <a:defRPr sz="4800"/>
            </a:lvl1pPr>
            <a:lvl2pPr algn="l">
              <a:lnSpc>
                <a:spcPct val="100000"/>
              </a:lnSpc>
              <a:spcBef>
                <a:spcPts val="0"/>
              </a:spcBef>
              <a:spcAft>
                <a:spcPts val="0"/>
              </a:spcAft>
              <a:buSzPts val="4800"/>
              <a:buNone/>
              <a:defRPr sz="4800"/>
            </a:lvl2pPr>
            <a:lvl3pPr algn="l">
              <a:lnSpc>
                <a:spcPct val="100000"/>
              </a:lnSpc>
              <a:spcBef>
                <a:spcPts val="0"/>
              </a:spcBef>
              <a:spcAft>
                <a:spcPts val="0"/>
              </a:spcAft>
              <a:buSzPts val="4800"/>
              <a:buNone/>
              <a:defRPr sz="4800"/>
            </a:lvl3pPr>
            <a:lvl4pPr algn="l">
              <a:lnSpc>
                <a:spcPct val="100000"/>
              </a:lnSpc>
              <a:spcBef>
                <a:spcPts val="0"/>
              </a:spcBef>
              <a:spcAft>
                <a:spcPts val="0"/>
              </a:spcAft>
              <a:buSzPts val="4800"/>
              <a:buNone/>
              <a:defRPr sz="4800"/>
            </a:lvl4pPr>
            <a:lvl5pPr algn="l">
              <a:lnSpc>
                <a:spcPct val="100000"/>
              </a:lnSpc>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xmlns:a="http://schemas.openxmlformats.org/drawingml/2006/main"/>
        </p:txBody>
      </p:sp>
      <p:sp>
        <p:nvSpPr>
          <p:cNvPr id="34" name="Google Shape;34;p20">
            <a:extLst xmlns:a="http://schemas.openxmlformats.org/drawingml/2006/main">
              <a:ext uri="{FF2B5EF4-FFF2-40B4-BE49-F238E27FC236}">
                <a16:creationId xmlns:a16="http://schemas.microsoft.com/office/drawing/2014/main" id="{267DAB08-AC4C-4B60-94F3-DD736B71EAF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21">
            <a:extLst xmlns:a="http://schemas.openxmlformats.org/drawingml/2006/main">
              <a:ext uri="{FF2B5EF4-FFF2-40B4-BE49-F238E27FC236}">
                <a16:creationId xmlns:a16="http://schemas.microsoft.com/office/drawing/2014/main" id="{8BB69A19-70A1-483A-BB0F-C55ED7D32BE4}"/>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37" name="Google Shape;37;p21">
            <a:extLst xmlns:a="http://schemas.openxmlformats.org/drawingml/2006/main">
              <a:ext uri="{FF2B5EF4-FFF2-40B4-BE49-F238E27FC236}">
                <a16:creationId xmlns:a16="http://schemas.microsoft.com/office/drawing/2014/main" id="{496E8459-5A7E-40CE-A91C-CF149C034C87}"/>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4200"/>
              <a:buNone/>
              <a:defRPr sz="4200"/>
            </a:lvl1pPr>
            <a:lvl2pPr algn="ctr">
              <a:lnSpc>
                <a:spcPct val="100000"/>
              </a:lnSpc>
              <a:spcBef>
                <a:spcPts val="0"/>
              </a:spcBef>
              <a:spcAft>
                <a:spcPts val="0"/>
              </a:spcAft>
              <a:buSzPts val="4200"/>
              <a:buNone/>
              <a:defRPr sz="4200"/>
            </a:lvl2pPr>
            <a:lvl3pPr algn="ctr">
              <a:lnSpc>
                <a:spcPct val="100000"/>
              </a:lnSpc>
              <a:spcBef>
                <a:spcPts val="0"/>
              </a:spcBef>
              <a:spcAft>
                <a:spcPts val="0"/>
              </a:spcAft>
              <a:buSzPts val="4200"/>
              <a:buNone/>
              <a:defRPr sz="4200"/>
            </a:lvl3pPr>
            <a:lvl4pPr algn="ctr">
              <a:lnSpc>
                <a:spcPct val="100000"/>
              </a:lnSpc>
              <a:spcBef>
                <a:spcPts val="0"/>
              </a:spcBef>
              <a:spcAft>
                <a:spcPts val="0"/>
              </a:spcAft>
              <a:buSzPts val="4200"/>
              <a:buNone/>
              <a:defRPr sz="4200"/>
            </a:lvl4pPr>
            <a:lvl5pPr algn="ctr">
              <a:lnSpc>
                <a:spcPct val="100000"/>
              </a:lnSpc>
              <a:spcBef>
                <a:spcPts val="0"/>
              </a:spcBef>
              <a:spcAft>
                <a:spcPts val="0"/>
              </a:spcAft>
              <a:buSzPts val="4200"/>
              <a:buNone/>
              <a:defRPr sz="4200"/>
            </a:lvl5pPr>
            <a:lvl6pPr algn="ctr">
              <a:lnSpc>
                <a:spcPct val="100000"/>
              </a:lnSpc>
              <a:spcBef>
                <a:spcPts val="0"/>
              </a:spcBef>
              <a:spcAft>
                <a:spcPts val="0"/>
              </a:spcAft>
              <a:buSzPts val="4200"/>
              <a:buNone/>
              <a:defRPr sz="4200"/>
            </a:lvl6pPr>
            <a:lvl7pPr algn="ctr">
              <a:lnSpc>
                <a:spcPct val="100000"/>
              </a:lnSpc>
              <a:spcBef>
                <a:spcPts val="0"/>
              </a:spcBef>
              <a:spcAft>
                <a:spcPts val="0"/>
              </a:spcAft>
              <a:buSzPts val="4200"/>
              <a:buNone/>
              <a:defRPr sz="4200"/>
            </a:lvl7pPr>
            <a:lvl8pPr algn="ctr">
              <a:lnSpc>
                <a:spcPct val="100000"/>
              </a:lnSpc>
              <a:spcBef>
                <a:spcPts val="0"/>
              </a:spcBef>
              <a:spcAft>
                <a:spcPts val="0"/>
              </a:spcAft>
              <a:buSzPts val="4200"/>
              <a:buNone/>
              <a:defRPr sz="4200"/>
            </a:lvl8pPr>
            <a:lvl9pPr algn="ctr">
              <a:lnSpc>
                <a:spcPct val="100000"/>
              </a:lnSpc>
              <a:spcBef>
                <a:spcPts val="0"/>
              </a:spcBef>
              <a:spcAft>
                <a:spcPts val="0"/>
              </a:spcAft>
              <a:buSzPts val="4200"/>
              <a:buNone/>
              <a:defRPr sz="4200"/>
            </a:lvl9pPr>
          </a:lstStyle>
          <a:p xmlns:a="http://schemas.openxmlformats.org/drawingml/2006/main"/>
        </p:txBody>
      </p:sp>
      <p:sp>
        <p:nvSpPr>
          <p:cNvPr id="38" name="Google Shape;38;p21">
            <a:extLst xmlns:a="http://schemas.openxmlformats.org/drawingml/2006/main">
              <a:ext uri="{FF2B5EF4-FFF2-40B4-BE49-F238E27FC236}">
                <a16:creationId xmlns:a16="http://schemas.microsoft.com/office/drawing/2014/main" id="{19D5FB5E-B709-48EE-B077-84CE0EE290E5}"/>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21">
            <a:extLst xmlns:a="http://schemas.openxmlformats.org/drawingml/2006/main">
              <a:ext uri="{FF2B5EF4-FFF2-40B4-BE49-F238E27FC236}">
                <a16:creationId xmlns:a16="http://schemas.microsoft.com/office/drawing/2014/main" id="{1189DEF4-44C5-45DB-9F24-5A52A3296FF5}"/>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40" name="Google Shape;40;p21">
            <a:extLst xmlns:a="http://schemas.openxmlformats.org/drawingml/2006/main">
              <a:ext uri="{FF2B5EF4-FFF2-40B4-BE49-F238E27FC236}">
                <a16:creationId xmlns:a16="http://schemas.microsoft.com/office/drawing/2014/main" id="{6F96371F-35B6-48D8-BA61-655102A5C1F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22">
            <a:extLst xmlns:a="http://schemas.openxmlformats.org/drawingml/2006/main">
              <a:ext uri="{FF2B5EF4-FFF2-40B4-BE49-F238E27FC236}">
                <a16:creationId xmlns:a16="http://schemas.microsoft.com/office/drawing/2014/main" id="{7A8330A3-9114-40D6-8927-26222A4B0692}"/>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1800"/>
              <a:buNone/>
              <a:defRPr/>
            </a:lvl1pPr>
          </a:lstStyle>
          <a:p xmlns:a="http://schemas.openxmlformats.org/drawingml/2006/main"/>
        </p:txBody>
      </p:sp>
      <p:sp>
        <p:nvSpPr>
          <p:cNvPr id="43" name="Google Shape;43;p22">
            <a:extLst xmlns:a="http://schemas.openxmlformats.org/drawingml/2006/main">
              <a:ext uri="{FF2B5EF4-FFF2-40B4-BE49-F238E27FC236}">
                <a16:creationId xmlns:a16="http://schemas.microsoft.com/office/drawing/2014/main" id="{DCA05E4D-C058-465B-BD18-FE1FC317929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23">
            <a:extLst xmlns:a="http://schemas.openxmlformats.org/drawingml/2006/main">
              <a:ext uri="{FF2B5EF4-FFF2-40B4-BE49-F238E27FC236}">
                <a16:creationId xmlns:a16="http://schemas.microsoft.com/office/drawing/2014/main" id="{617AA1A5-803B-43C2-94A5-EDAB36A21363}"/>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12000"/>
              <a:buNone/>
              <a:defRPr sz="12000"/>
            </a:lvl1pPr>
            <a:lvl2pPr algn="ctr">
              <a:lnSpc>
                <a:spcPct val="100000"/>
              </a:lnSpc>
              <a:spcBef>
                <a:spcPts val="0"/>
              </a:spcBef>
              <a:spcAft>
                <a:spcPts val="0"/>
              </a:spcAft>
              <a:buSzPts val="12000"/>
              <a:buNone/>
              <a:defRPr sz="12000"/>
            </a:lvl2pPr>
            <a:lvl3pPr algn="ctr">
              <a:lnSpc>
                <a:spcPct val="100000"/>
              </a:lnSpc>
              <a:spcBef>
                <a:spcPts val="0"/>
              </a:spcBef>
              <a:spcAft>
                <a:spcPts val="0"/>
              </a:spcAft>
              <a:buSzPts val="12000"/>
              <a:buNone/>
              <a:defRPr sz="12000"/>
            </a:lvl3pPr>
            <a:lvl4pPr algn="ctr">
              <a:lnSpc>
                <a:spcPct val="100000"/>
              </a:lnSpc>
              <a:spcBef>
                <a:spcPts val="0"/>
              </a:spcBef>
              <a:spcAft>
                <a:spcPts val="0"/>
              </a:spcAft>
              <a:buSzPts val="12000"/>
              <a:buNone/>
              <a:defRPr sz="12000"/>
            </a:lvl4pPr>
            <a:lvl5pPr algn="ctr">
              <a:lnSpc>
                <a:spcPct val="100000"/>
              </a:lnSpc>
              <a:spcBef>
                <a:spcPts val="0"/>
              </a:spcBef>
              <a:spcAft>
                <a:spcPts val="0"/>
              </a:spcAft>
              <a:buSzPts val="12000"/>
              <a:buNone/>
              <a:defRPr sz="12000"/>
            </a:lvl5pPr>
            <a:lvl6pPr algn="ctr">
              <a:lnSpc>
                <a:spcPct val="100000"/>
              </a:lnSpc>
              <a:spcBef>
                <a:spcPts val="0"/>
              </a:spcBef>
              <a:spcAft>
                <a:spcPts val="0"/>
              </a:spcAft>
              <a:buSzPts val="12000"/>
              <a:buNone/>
              <a:defRPr sz="12000"/>
            </a:lvl6pPr>
            <a:lvl7pPr algn="ctr">
              <a:lnSpc>
                <a:spcPct val="100000"/>
              </a:lnSpc>
              <a:spcBef>
                <a:spcPts val="0"/>
              </a:spcBef>
              <a:spcAft>
                <a:spcPts val="0"/>
              </a:spcAft>
              <a:buSzPts val="12000"/>
              <a:buNone/>
              <a:defRPr sz="12000"/>
            </a:lvl7pPr>
            <a:lvl8pPr algn="ctr">
              <a:lnSpc>
                <a:spcPct val="100000"/>
              </a:lnSpc>
              <a:spcBef>
                <a:spcPts val="0"/>
              </a:spcBef>
              <a:spcAft>
                <a:spcPts val="0"/>
              </a:spcAft>
              <a:buSzPts val="12000"/>
              <a:buNone/>
              <a:defRPr sz="12000"/>
            </a:lvl8pPr>
            <a:lvl9pPr algn="ctr">
              <a:lnSpc>
                <a:spcPct val="100000"/>
              </a:lnSpc>
              <a:spcBef>
                <a:spcPts val="0"/>
              </a:spcBef>
              <a:spcAft>
                <a:spcPts val="0"/>
              </a:spcAft>
              <a:buSzPts val="12000"/>
              <a:buNone/>
              <a:defRPr sz="12000"/>
            </a:lvl9pPr>
          </a:lstStyle>
          <a:p xmlns:a="http://schemas.openxmlformats.org/drawingml/2006/main">
            <a:r>
              <a:t>xx%</a:t>
            </a:r>
          </a:p>
        </p:txBody>
      </p:sp>
      <p:sp>
        <p:nvSpPr>
          <p:cNvPr id="46" name="Google Shape;46;p23">
            <a:extLst xmlns:a="http://schemas.openxmlformats.org/drawingml/2006/main">
              <a:ext uri="{FF2B5EF4-FFF2-40B4-BE49-F238E27FC236}">
                <a16:creationId xmlns:a16="http://schemas.microsoft.com/office/drawing/2014/main" id="{762C7BAD-F420-4611-B960-B9F4F9ABE5C5}"/>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ctr">
              <a:lnSpc>
                <a:spcPct val="115000"/>
              </a:lnSpc>
              <a:spcBef>
                <a:spcPts val="0"/>
              </a:spcBef>
              <a:spcAft>
                <a:spcPts val="0"/>
              </a:spcAft>
              <a:buSzPts val="1800"/>
              <a:buChar char="●"/>
              <a:defRPr/>
            </a:lvl1pPr>
            <a:lvl2pPr marL="914400" indent="-317500" algn="ctr">
              <a:lnSpc>
                <a:spcPct val="115000"/>
              </a:lnSpc>
              <a:spcBef>
                <a:spcPts val="0"/>
              </a:spcBef>
              <a:spcAft>
                <a:spcPts val="0"/>
              </a:spcAft>
              <a:buSzPts val="1400"/>
              <a:buChar char="○"/>
              <a:defRPr/>
            </a:lvl2pPr>
            <a:lvl3pPr marL="1371600" indent="-317500" algn="ctr">
              <a:lnSpc>
                <a:spcPct val="115000"/>
              </a:lnSpc>
              <a:spcBef>
                <a:spcPts val="0"/>
              </a:spcBef>
              <a:spcAft>
                <a:spcPts val="0"/>
              </a:spcAft>
              <a:buSzPts val="1400"/>
              <a:buChar char="■"/>
              <a:defRPr/>
            </a:lvl3pPr>
            <a:lvl4pPr marL="1828800" indent="-317500" algn="ctr">
              <a:lnSpc>
                <a:spcPct val="115000"/>
              </a:lnSpc>
              <a:spcBef>
                <a:spcPts val="0"/>
              </a:spcBef>
              <a:spcAft>
                <a:spcPts val="0"/>
              </a:spcAft>
              <a:buSzPts val="1400"/>
              <a:buChar char="●"/>
              <a:defRPr/>
            </a:lvl4pPr>
            <a:lvl5pPr marL="2286000" indent="-317500" algn="ctr">
              <a:lnSpc>
                <a:spcPct val="115000"/>
              </a:lnSpc>
              <a:spcBef>
                <a:spcPts val="0"/>
              </a:spcBef>
              <a:spcAft>
                <a:spcPts val="0"/>
              </a:spcAft>
              <a:buSzPts val="1400"/>
              <a:buChar char="○"/>
              <a:defRPr/>
            </a:lvl5pPr>
            <a:lvl6pPr marL="2743200" indent="-317500" algn="ctr">
              <a:lnSpc>
                <a:spcPct val="115000"/>
              </a:lnSpc>
              <a:spcBef>
                <a:spcPts val="0"/>
              </a:spcBef>
              <a:spcAft>
                <a:spcPts val="0"/>
              </a:spcAft>
              <a:buSzPts val="1400"/>
              <a:buChar char="■"/>
              <a:defRPr/>
            </a:lvl6pPr>
            <a:lvl7pPr marL="3200400" indent="-317500" algn="ctr">
              <a:lnSpc>
                <a:spcPct val="115000"/>
              </a:lnSpc>
              <a:spcBef>
                <a:spcPts val="0"/>
              </a:spcBef>
              <a:spcAft>
                <a:spcPts val="0"/>
              </a:spcAft>
              <a:buSzPts val="1400"/>
              <a:buChar char="●"/>
              <a:defRPr/>
            </a:lvl7pPr>
            <a:lvl8pPr marL="3657600" indent="-317500" algn="ctr">
              <a:lnSpc>
                <a:spcPct val="115000"/>
              </a:lnSpc>
              <a:spcBef>
                <a:spcPts val="0"/>
              </a:spcBef>
              <a:spcAft>
                <a:spcPts val="0"/>
              </a:spcAft>
              <a:buSzPts val="1400"/>
              <a:buChar char="○"/>
              <a:defRPr/>
            </a:lvl8pPr>
            <a:lvl9pPr marL="4114800" indent="-317500" algn="ctr">
              <a:lnSpc>
                <a:spcPct val="115000"/>
              </a:lnSpc>
              <a:spcBef>
                <a:spcPts val="0"/>
              </a:spcBef>
              <a:spcAft>
                <a:spcPts val="0"/>
              </a:spcAft>
              <a:buSzPts val="1400"/>
              <a:buChar char="■"/>
              <a:defRPr/>
            </a:lvl9pPr>
          </a:lstStyle>
          <a:p xmlns:a="http://schemas.openxmlformats.org/drawingml/2006/main"/>
        </p:txBody>
      </p:sp>
      <p:sp>
        <p:nvSpPr>
          <p:cNvPr id="47" name="Google Shape;47;p23">
            <a:extLst xmlns:a="http://schemas.openxmlformats.org/drawingml/2006/main">
              <a:ext uri="{FF2B5EF4-FFF2-40B4-BE49-F238E27FC236}">
                <a16:creationId xmlns:a16="http://schemas.microsoft.com/office/drawing/2014/main" id="{9A7E265D-2EC4-4E58-BAD3-238478D4030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24">
            <a:extLst xmlns:a="http://schemas.openxmlformats.org/drawingml/2006/main">
              <a:ext uri="{FF2B5EF4-FFF2-40B4-BE49-F238E27FC236}">
                <a16:creationId xmlns:a16="http://schemas.microsoft.com/office/drawing/2014/main" id="{5D929E08-97DF-4DF3-9FB0-DC212E8579C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bad7588efe4f13" /><Relationship Type="http://schemas.openxmlformats.org/officeDocument/2006/relationships/slideLayout" Target="/ppt/slideLayouts/slideLayout1.xml" Id="Rea6119a717954cab" /><Relationship Type="http://schemas.openxmlformats.org/officeDocument/2006/relationships/slideLayout" Target="/ppt/slideLayouts/slideLayout2.xml" Id="Ra3bc712a258c4e34" /><Relationship Type="http://schemas.openxmlformats.org/officeDocument/2006/relationships/slideLayout" Target="/ppt/slideLayouts/slideLayout3.xml" Id="R604fc5e44d4d44d4" /><Relationship Type="http://schemas.openxmlformats.org/officeDocument/2006/relationships/slideLayout" Target="/ppt/slideLayouts/slideLayout4.xml" Id="Rb02b76022e5d4dcc" /><Relationship Type="http://schemas.openxmlformats.org/officeDocument/2006/relationships/slideLayout" Target="/ppt/slideLayouts/slideLayout5.xml" Id="R25ea9655eee5478c" /><Relationship Type="http://schemas.openxmlformats.org/officeDocument/2006/relationships/slideLayout" Target="/ppt/slideLayouts/slideLayout6.xml" Id="Rd78dcecef0524c6d" /><Relationship Type="http://schemas.openxmlformats.org/officeDocument/2006/relationships/slideLayout" Target="/ppt/slideLayouts/slideLayout7.xml" Id="R161bb01bf400469b" /><Relationship Type="http://schemas.openxmlformats.org/officeDocument/2006/relationships/slideLayout" Target="/ppt/slideLayouts/slideLayout8.xml" Id="R8d02a35517474e4e" /><Relationship Type="http://schemas.openxmlformats.org/officeDocument/2006/relationships/slideLayout" Target="/ppt/slideLayouts/slideLayout9.xml" Id="R5806738e71ee4979" /><Relationship Type="http://schemas.openxmlformats.org/officeDocument/2006/relationships/slideLayout" Target="/ppt/slideLayouts/slideLayout10.xml" Id="R4d89636f9d9b4b55" /><Relationship Type="http://schemas.openxmlformats.org/officeDocument/2006/relationships/slideLayout" Target="/ppt/slideLayouts/slideLayout11.xml" Id="R793efd3796fb4e55"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3">
            <a:extLst xmlns:a="http://schemas.openxmlformats.org/drawingml/2006/main">
              <a:ext uri="{FF2B5EF4-FFF2-40B4-BE49-F238E27FC236}">
                <a16:creationId xmlns:a16="http://schemas.microsoft.com/office/drawing/2014/main" id="{E63CE636-D539-4772-BA06-BA9408FAD601}"/>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1pPr>
            <a:lvl2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2pPr>
            <a:lvl3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3pPr>
            <a:lvl4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4pPr>
            <a:lvl5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5pPr>
            <a:lvl6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6pPr>
            <a:lvl7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7pPr>
            <a:lvl8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8pPr>
            <a:lvl9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9pPr>
          </a:lstStyle>
          <a:p xmlns:a="http://schemas.openxmlformats.org/drawingml/2006/main"/>
        </p:txBody>
      </p:sp>
      <p:sp>
        <p:nvSpPr>
          <p:cNvPr id="7" name="Google Shape;7;p13">
            <a:extLst xmlns:a="http://schemas.openxmlformats.org/drawingml/2006/main">
              <a:ext uri="{FF2B5EF4-FFF2-40B4-BE49-F238E27FC236}">
                <a16:creationId xmlns:a16="http://schemas.microsoft.com/office/drawing/2014/main" id="{45DA253B-D277-468C-A2ED-74F474CB9097}"/>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chemeClr val="dk2"/>
              </a:buClr>
              <a:buSzPts val="1800"/>
              <a:buFont typeface="Arial"/>
              <a:buChar char="●"/>
              <a:defRPr sz="1800" b="0" i="0" u="none" cap="none">
                <a:solidFill>
                  <a:schemeClr val="dk2"/>
                </a:solidFill>
                <a:latin typeface="Arial"/>
                <a:ea typeface="Arial"/>
                <a:cs typeface="Arial"/>
              </a:defRPr>
            </a:lvl1pPr>
            <a:lvl2pPr marL="914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2pPr>
            <a:lvl3pPr marL="1371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3pPr>
            <a:lvl4pPr marL="1828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4pPr>
            <a:lvl5pPr marL="22860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5pPr>
            <a:lvl6pPr marL="27432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6pPr>
            <a:lvl7pPr marL="3200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7pPr>
            <a:lvl8pPr marL="3657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8pPr>
            <a:lvl9pPr marL="4114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9pPr>
          </a:lstStyle>
          <a:p xmlns:a="http://schemas.openxmlformats.org/drawingml/2006/main"/>
        </p:txBody>
      </p:sp>
      <p:sp>
        <p:nvSpPr>
          <p:cNvPr id="8" name="Google Shape;8;p13">
            <a:extLst xmlns:a="http://schemas.openxmlformats.org/drawingml/2006/main">
              <a:ext uri="{FF2B5EF4-FFF2-40B4-BE49-F238E27FC236}">
                <a16:creationId xmlns:a16="http://schemas.microsoft.com/office/drawing/2014/main" id="{7B693D7D-21E3-4E16-A0FC-27DD9CC4015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ea6119a717954cab"/>
    <p:sldLayoutId xmlns:r="http://schemas.openxmlformats.org/officeDocument/2006/relationships" id="2147483650" r:id="Ra3bc712a258c4e34"/>
    <p:sldLayoutId xmlns:r="http://schemas.openxmlformats.org/officeDocument/2006/relationships" id="2147483651" r:id="R604fc5e44d4d44d4"/>
    <p:sldLayoutId xmlns:r="http://schemas.openxmlformats.org/officeDocument/2006/relationships" id="2147483652" r:id="Rb02b76022e5d4dcc"/>
    <p:sldLayoutId xmlns:r="http://schemas.openxmlformats.org/officeDocument/2006/relationships" id="2147483653" r:id="R25ea9655eee5478c"/>
    <p:sldLayoutId xmlns:r="http://schemas.openxmlformats.org/officeDocument/2006/relationships" id="2147483654" r:id="Rd78dcecef0524c6d"/>
    <p:sldLayoutId xmlns:r="http://schemas.openxmlformats.org/officeDocument/2006/relationships" id="2147483655" r:id="R161bb01bf400469b"/>
    <p:sldLayoutId xmlns:r="http://schemas.openxmlformats.org/officeDocument/2006/relationships" id="2147483656" r:id="R8d02a35517474e4e"/>
    <p:sldLayoutId xmlns:r="http://schemas.openxmlformats.org/officeDocument/2006/relationships" id="2147483657" r:id="R5806738e71ee4979"/>
    <p:sldLayoutId xmlns:r="http://schemas.openxmlformats.org/officeDocument/2006/relationships" id="2147483658" r:id="R4d89636f9d9b4b55"/>
    <p:sldLayoutId xmlns:r="http://schemas.openxmlformats.org/officeDocument/2006/relationships" id="2147483659" r:id="R793efd3796fb4e55"/>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d9a9ed3fc39445b" /><Relationship Type="http://schemas.openxmlformats.org/officeDocument/2006/relationships/notesSlide" Target="/ppt/notesSlides/notesSlide1.xml" Id="R93305b97c2d846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851d6defef64951" /><Relationship Type="http://schemas.openxmlformats.org/officeDocument/2006/relationships/notesSlide" Target="/ppt/notesSlides/notesSlide2.xml" Id="R9e5d5c6ea9fb46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8ead63bd4cc4486" /><Relationship Type="http://schemas.openxmlformats.org/officeDocument/2006/relationships/notesSlide" Target="/ppt/notesSlides/notesSlide3.xml" Id="R927348cd155a4f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b11800e0abd64b6b" /><Relationship Type="http://schemas.openxmlformats.org/officeDocument/2006/relationships/notesSlide" Target="/ppt/notesSlides/notesSlide4.xml" Id="R808e88f9982f41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45c2040cc23b4910" /><Relationship Type="http://schemas.openxmlformats.org/officeDocument/2006/relationships/image" Target="/ppt/media/image.png" Id="R60f402479a6c45a0" /><Relationship Type="http://schemas.openxmlformats.org/officeDocument/2006/relationships/image" Target="/ppt/media/image2.png" Id="Rfc7d590a60384327" /><Relationship Type="http://schemas.openxmlformats.org/officeDocument/2006/relationships/image" Target="/ppt/media/image3.png" Id="R78dc05e1481c4345" /><Relationship Type="http://schemas.openxmlformats.org/officeDocument/2006/relationships/image" Target="/ppt/media/image4.png" Id="Ra6caa33ea25b469f" /><Relationship Type="http://schemas.openxmlformats.org/officeDocument/2006/relationships/image" Target="/ppt/media/image5.png" Id="R4e0a04b4e8b54054" /><Relationship Type="http://schemas.openxmlformats.org/officeDocument/2006/relationships/image" Target="/ppt/media/image6.png" Id="Rec4ed1783f5b4789" /><Relationship Type="http://schemas.openxmlformats.org/officeDocument/2006/relationships/image" Target="/ppt/media/image7.png" Id="R0ee36079989d476d" /><Relationship Type="http://schemas.openxmlformats.org/officeDocument/2006/relationships/image" Target="/ppt/media/image8.png" Id="R70147dc3da054e0b" /><Relationship Type="http://schemas.openxmlformats.org/officeDocument/2006/relationships/image" Target="/ppt/media/image9.png" Id="Rf9c9ad59b0844fc9" /><Relationship Type="http://schemas.openxmlformats.org/officeDocument/2006/relationships/image" Target="/ppt/media/image10.png" Id="Rf59d9ec13ee541ee" /><Relationship Type="http://schemas.openxmlformats.org/officeDocument/2006/relationships/image" Target="/ppt/media/image11.png" Id="R8c6e4fa3b1914fbd" /><Relationship Type="http://schemas.openxmlformats.org/officeDocument/2006/relationships/notesSlide" Target="/ppt/notesSlides/notesSlide5.xml" Id="R69be807cc8c24d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a3976f086bf404a" /><Relationship Type="http://schemas.openxmlformats.org/officeDocument/2006/relationships/notesSlide" Target="/ppt/notesSlides/notesSlide6.xml" Id="R195f42f48a5d49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031304ab7b034557" /><Relationship Type="http://schemas.openxmlformats.org/officeDocument/2006/relationships/notesSlide" Target="/ppt/notesSlides/notesSlide7.xml" Id="Ra51f9505652847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6852e943386a4f14" /><Relationship Type="http://schemas.openxmlformats.org/officeDocument/2006/relationships/image" Target="/ppt/media/image12.png" Id="R1cb234ce756c451a" /><Relationship Type="http://schemas.openxmlformats.org/officeDocument/2006/relationships/notesSlide" Target="/ppt/notesSlides/notesSlide8.xml" Id="R5ffccd9bb5154c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06d8dcaa5f344d35" /><Relationship Type="http://schemas.openxmlformats.org/officeDocument/2006/relationships/image" Target="/ppt/media/image13.png" Id="Re354617fb60a4a50" /><Relationship Type="http://schemas.openxmlformats.org/officeDocument/2006/relationships/image" Target="/ppt/media/image14.png" Id="Re35e969855d74073" /><Relationship Type="http://schemas.openxmlformats.org/officeDocument/2006/relationships/image" Target="/ppt/media/image15.png" Id="R35670856823d4edb" /><Relationship Type="http://schemas.openxmlformats.org/officeDocument/2006/relationships/image" Target="/ppt/media/image16.png" Id="R949b2f63cdb541ef" /><Relationship Type="http://schemas.openxmlformats.org/officeDocument/2006/relationships/image" Target="/ppt/media/image17.png" Id="Rb994a268aedf4e45" /><Relationship Type="http://schemas.openxmlformats.org/officeDocument/2006/relationships/image" Target="/ppt/media/image18.png" Id="R25a179c7f1d14cd2" /><Relationship Type="http://schemas.openxmlformats.org/officeDocument/2006/relationships/notesSlide" Target="/ppt/notesSlides/notesSlide9.xml" Id="R282ddfdf6b2c4b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84ebd2b764f746ef" /><Relationship Type="http://schemas.openxmlformats.org/officeDocument/2006/relationships/image" Target="/ppt/media/image19.png" Id="Ra8f7908b901f4355" /><Relationship Type="http://schemas.openxmlformats.org/officeDocument/2006/relationships/image" Target="/ppt/media/image20.png" Id="Re2226e6163564261" /><Relationship Type="http://schemas.openxmlformats.org/officeDocument/2006/relationships/image" Target="/ppt/media/image21.png" Id="R40be55009d1f49a6" /><Relationship Type="http://schemas.openxmlformats.org/officeDocument/2006/relationships/image" Target="/ppt/media/image22.png" Id="R2a98b588086746d5" /><Relationship Type="http://schemas.openxmlformats.org/officeDocument/2006/relationships/image" Target="/ppt/media/image23.png" Id="R0e8eb9fe40cb48a1" /><Relationship Type="http://schemas.openxmlformats.org/officeDocument/2006/relationships/image" Target="/ppt/media/image24.png" Id="Rcd7441b3a2694020" /><Relationship Type="http://schemas.openxmlformats.org/officeDocument/2006/relationships/notesSlide" Target="/ppt/notesSlides/notesSlide10.xml" Id="R17716697d91443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dd0522c32dc84c6d" /><Relationship Type="http://schemas.openxmlformats.org/officeDocument/2006/relationships/notesSlide" Target="/ppt/notesSlides/notesSlide11.xml" Id="Ra9523f35c6bd41c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241baa7f32ab4fbd" /><Relationship Type="http://schemas.openxmlformats.org/officeDocument/2006/relationships/notesSlide" Target="/ppt/notesSlides/notesSlide12.xml" Id="R14810d88529e48c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4" name="Google Shape;54;p1">
            <a:extLst xmlns:a="http://schemas.openxmlformats.org/drawingml/2006/main">
              <a:ext uri="{FF2B5EF4-FFF2-40B4-BE49-F238E27FC236}">
                <a16:creationId xmlns:a16="http://schemas.microsoft.com/office/drawing/2014/main" id="{CD9A9C8C-2597-4B6E-87E3-62EC8AAFB8DC}"/>
              </a:ext>
            </a:extLst>
          </p:cNvPr>
          <p:cNvSpPr>
            <a:spLocks xmlns:a="http://schemas.openxmlformats.org/drawingml/2006/main" noGrp="1"/>
          </p:cNvSpPr>
          <p:nvPr/>
        </p:nvSpPr>
        <p:spPr>
          <a:xfrm xmlns:a="http://schemas.openxmlformats.org/drawingml/2006/main">
            <a:off x="-11934" y="986345"/>
            <a:ext cx="9144000" cy="7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3600"/>
              <a:buFont typeface="Arial"/>
              <a:buNone/>
            </a:pPr>
            <a:r>
              <a:rPr sz="3600" b="1" i="0" u="none" cap="none">
                <a:solidFill>
                  <a:schemeClr val="dk1"/>
                </a:solidFill>
                <a:latin typeface="Arial"/>
                <a:ea typeface="Arial"/>
                <a:cs typeface="Arial"/>
              </a:rPr>
              <a:t>Practical Assignment 2</a:t>
            </a:r>
            <a:endParaRPr sz="3600" b="1" i="0" u="none" cap="none">
              <a:solidFill>
                <a:schemeClr val="dk1"/>
              </a:solidFill>
              <a:latin typeface="Arial"/>
              <a:ea typeface="Arial"/>
              <a:cs typeface="Arial"/>
            </a:endParaRPr>
          </a:p>
        </p:txBody>
      </p:sp>
      <p:sp>
        <p:nvSpPr>
          <p:cNvPr id="55" name="Google Shape;55;p1">
            <a:extLst xmlns:a="http://schemas.openxmlformats.org/drawingml/2006/main">
              <a:ext uri="{FF2B5EF4-FFF2-40B4-BE49-F238E27FC236}">
                <a16:creationId xmlns:a16="http://schemas.microsoft.com/office/drawing/2014/main" id="{821C9C86-175D-4BE1-9118-EF9DA6EB280D}"/>
              </a:ext>
            </a:extLst>
          </p:cNvPr>
          <p:cNvSpPr>
            <a:spLocks xmlns:a="http://schemas.openxmlformats.org/drawingml/2006/main" noGrp="1"/>
          </p:cNvSpPr>
          <p:nvPr/>
        </p:nvSpPr>
        <p:spPr>
          <a:xfrm xmlns:a="http://schemas.openxmlformats.org/drawingml/2006/main">
            <a:off x="2124241" y="2732870"/>
            <a:ext cx="5083800" cy="114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ctr">
              <a:lnSpc>
                <a:spcPct val="150000"/>
              </a:lnSpc>
              <a:spcBef>
                <a:spcPts val="0"/>
              </a:spcBef>
              <a:spcAft>
                <a:spcPts val="0"/>
              </a:spcAft>
              <a:buClr>
                <a:srgbClr val="000000"/>
              </a:buClr>
              <a:buSzPts val="1800"/>
              <a:buFont typeface="Arial"/>
              <a:buNone/>
            </a:pPr>
            <a:r>
              <a:rPr sz="1800" b="1" i="0" u="none" cap="none">
                <a:solidFill>
                  <a:schemeClr val="dk2"/>
                </a:solidFill>
                <a:latin typeface="Arial"/>
                <a:ea typeface="Arial"/>
                <a:cs typeface="Arial"/>
              </a:rPr>
              <a:t>Team: Minnie &amp; Fran</a:t>
            </a:r>
            <a:endParaRPr sz="1800" b="1" i="0" u="none" cap="none">
              <a:solidFill>
                <a:schemeClr val="dk2"/>
              </a:solidFill>
              <a:latin typeface="Arial"/>
              <a:ea typeface="Arial"/>
              <a:cs typeface="Arial"/>
            </a:endParaRPr>
          </a:p>
          <a:p xmlns:a="http://schemas.openxmlformats.org/drawingml/2006/main">
            <a:pPr marL="0" marR="0" lvl="0" indent="0" algn="ctr">
              <a:lnSpc>
                <a:spcPct val="150000"/>
              </a:lnSpc>
              <a:spcBef>
                <a:spcPts val="0"/>
              </a:spcBef>
              <a:spcAft>
                <a:spcPts val="0"/>
              </a:spcAft>
              <a:buClr>
                <a:srgbClr val="000000"/>
              </a:buClr>
              <a:buSzPts val="1800"/>
              <a:buFont typeface="Arial"/>
              <a:buNone/>
            </a:pPr>
            <a:r>
              <a:rPr sz="1800" b="1" i="0" u="none" cap="none">
                <a:solidFill>
                  <a:schemeClr val="dk2"/>
                </a:solidFill>
                <a:latin typeface="Arial"/>
                <a:ea typeface="Arial"/>
                <a:cs typeface="Arial"/>
              </a:rPr>
              <a:t>25th Nov 2025</a:t>
            </a:r>
            <a:endParaRPr sz="1800" b="1" i="0" u="none" cap="none">
              <a:solidFill>
                <a:schemeClr val="dk2"/>
              </a:solidFill>
              <a:latin typeface="Arial"/>
              <a:ea typeface="Arial"/>
              <a:cs typeface="Arial"/>
            </a:endParaRPr>
          </a:p>
        </p:txBody>
      </p:sp>
    </p:spTree>
    <p:extLst>
      <p:ext uri="{BB962C8B-B14F-4D97-AF65-F5344CB8AC3E}">
        <p14:creationId xmlns:p14="http://schemas.microsoft.com/office/powerpoint/2010/main" val="27240995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0" name="Google Shape;60;p2">
            <a:extLst xmlns:a="http://schemas.openxmlformats.org/drawingml/2006/main">
              <a:ext uri="{FF2B5EF4-FFF2-40B4-BE49-F238E27FC236}">
                <a16:creationId xmlns:a16="http://schemas.microsoft.com/office/drawing/2014/main" id="{5E853297-A7F0-418B-AF67-891BD4EE20C5}"/>
              </a:ext>
            </a:extLst>
          </p:cNvPr>
          <p:cNvSpPr>
            <a:spLocks xmlns:a="http://schemas.openxmlformats.org/drawingml/2006/main" noGrp="1"/>
          </p:cNvSpPr>
          <p:nvPr/>
        </p:nvSpPr>
        <p:spPr>
          <a:xfrm xmlns:a="http://schemas.openxmlformats.org/drawingml/2006/main">
            <a:off x="167050" y="131275"/>
            <a:ext cx="8730600" cy="4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1100"/>
              <a:buFont typeface="Arial"/>
              <a:buNone/>
            </a:pPr>
            <a:r>
              <a:rPr sz="2200" b="1" i="0" u="none" cap="none">
                <a:solidFill>
                  <a:schemeClr val="dk2"/>
                </a:solidFill>
                <a:latin typeface="Arial"/>
                <a:ea typeface="Arial"/>
                <a:cs typeface="Arial"/>
              </a:rPr>
              <a:t>1.1  AE vs VAE vs DAE (theory + diagram)</a:t>
            </a:r>
            <a:endParaRPr sz="2200" b="1" i="0" u="none" cap="none">
              <a:solidFill>
                <a:schemeClr val="dk2"/>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t/>
            </a:r>
            <a:endParaRPr sz="2200" b="1" i="0" u="none" cap="none">
              <a:solidFill>
                <a:schemeClr val="dk2"/>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200"/>
              <a:buFont typeface="Arial"/>
              <a:buNone/>
            </a:pPr>
            <a:r>
              <a:t/>
            </a:r>
            <a:endParaRPr sz="2200" b="1" i="0" u="none" cap="none">
              <a:solidFill>
                <a:srgbClr val="595959"/>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200"/>
              <a:buFont typeface="Arial"/>
              <a:buNone/>
            </a:pPr>
            <a:r>
              <a:t/>
            </a:r>
            <a:endParaRPr sz="2200" b="1" i="0" u="none" cap="none">
              <a:solidFill>
                <a:srgbClr val="595959"/>
              </a:solidFill>
              <a:latin typeface="Arial"/>
              <a:ea typeface="Arial"/>
              <a:cs typeface="Arial"/>
            </a:endParaRPr>
          </a:p>
        </p:txBody>
      </p:sp>
      <p:sp>
        <p:nvSpPr>
          <p:cNvPr id="61" name="Google Shape;61;p2">
            <a:extLst xmlns:a="http://schemas.openxmlformats.org/drawingml/2006/main">
              <a:ext uri="{FF2B5EF4-FFF2-40B4-BE49-F238E27FC236}">
                <a16:creationId xmlns:a16="http://schemas.microsoft.com/office/drawing/2014/main" id="{515A11D2-8053-46C5-B54A-37CBA868C295}"/>
              </a:ext>
            </a:extLst>
          </p:cNvPr>
          <p:cNvSpPr>
            <a:spLocks xmlns:a="http://schemas.openxmlformats.org/drawingml/2006/main" noGrp="1"/>
          </p:cNvSpPr>
          <p:nvPr/>
        </p:nvSpPr>
        <p:spPr>
          <a:xfrm xmlns:a="http://schemas.openxmlformats.org/drawingml/2006/main">
            <a:off x="90600" y="596575"/>
            <a:ext cx="8962800" cy="5079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pPr>
            <a:r>
              <a:rPr sz="1100" b="1" i="0" u="none" cap="none">
                <a:solidFill>
                  <a:srgbClr val="000000"/>
                </a:solidFill>
                <a:latin typeface="Arial"/>
                <a:ea typeface="Arial"/>
                <a:cs typeface="Arial"/>
              </a:rPr>
              <a:t>Part 1: Theoretical comparison: AE vs VAE vs DAE</a:t>
            </a:r>
            <a:endParaRPr sz="1100" b="1"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0" i="0" u="none" cap="none">
                <a:solidFill>
                  <a:schemeClr val="dk1"/>
                </a:solidFill>
                <a:latin typeface="Arial"/>
                <a:ea typeface="Arial"/>
                <a:cs typeface="Arial"/>
              </a:rPr>
              <a:t>(TL = transfer learning)</a:t>
            </a:r>
            <a:endParaRPr sz="1000" b="1" i="0" u="none" cap="none">
              <a:solidFill>
                <a:srgbClr val="000000"/>
              </a:solidFill>
              <a:latin typeface="Arial"/>
              <a:ea typeface="Arial"/>
              <a:cs typeface="Arial"/>
            </a:endParaRPr>
          </a:p>
        </p:txBody>
      </p:sp>
      <p:graphicFrame>
        <p:nvGraphicFramePr>
          <p:cNvPr id="65" name="Google Shape;62;p2"/>
          <p:cNvGraphicFramePr/>
          <p:nvPr/>
        </p:nvGraphicFramePr>
        <p:xfrm>
          <a:off xmlns:a="http://schemas.openxmlformats.org/drawingml/2006/main" x="90597" y="1211708"/>
          <a:ext xmlns:a="http://schemas.openxmlformats.org/drawingml/2006/main" cx="3000000" cy="3000000"/>
        </p:xfrm>
        <a:graphic xmlns:a="http://schemas.openxmlformats.org/drawingml/2006/main">
          <a:graphicData uri="http://schemas.openxmlformats.org/drawingml/2006/table">
            <a:tbl>
              <a:tblPr>
                <a:tableStyleId>{E9C96EFF-C137-458B-89EA-79B6DC1AD40E}</a:tableStyleId>
              </a:tblPr>
              <a:tblGrid>
                <a:gridCol w="1553425"/>
                <a:gridCol w="2259525"/>
                <a:gridCol w="2946825"/>
                <a:gridCol w="2203050"/>
              </a:tblGrid>
              <a:tr h="403275">
                <a:tc>
                  <a:txBody>
                    <a:bodyPr/>
                    <a:lstStyle/>
                    <a:p>
                      <a:pPr marL="0" marR="0" lvl="0" indent="0" algn="ctr">
                        <a:lnSpc>
                          <a:spcPct val="115000"/>
                        </a:lnSpc>
                        <a:spcBef>
                          <a:spcPts val="0"/>
                        </a:spcBef>
                        <a:spcAft>
                          <a:spcPts val="0"/>
                        </a:spcAft>
                        <a:buClr>
                          <a:srgbClr val="000000"/>
                        </a:buClr>
                        <a:buSzPts val="1200"/>
                        <a:buFont typeface="Arial"/>
                        <a:buNone/>
                      </a:pPr>
                      <a:r>
                        <a:rPr sz="1200" b="1" u="none" cap="none"/>
                        <a:t>Aspect</a:t>
                      </a:r>
                      <a:endParaRPr sz="12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ctr">
                        <a:lnSpc>
                          <a:spcPct val="115000"/>
                        </a:lnSpc>
                        <a:spcBef>
                          <a:spcPts val="0"/>
                        </a:spcBef>
                        <a:spcAft>
                          <a:spcPts val="0"/>
                        </a:spcAft>
                        <a:buClr>
                          <a:srgbClr val="000000"/>
                        </a:buClr>
                        <a:buSzPts val="1200"/>
                        <a:buFont typeface="Arial"/>
                        <a:buNone/>
                      </a:pPr>
                      <a:r>
                        <a:rPr sz="1200" b="1" u="none" cap="none"/>
                        <a:t>AE</a:t>
                      </a:r>
                      <a:endParaRPr sz="12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ctr">
                        <a:lnSpc>
                          <a:spcPct val="115000"/>
                        </a:lnSpc>
                        <a:spcBef>
                          <a:spcPts val="0"/>
                        </a:spcBef>
                        <a:spcAft>
                          <a:spcPts val="0"/>
                        </a:spcAft>
                        <a:buClr>
                          <a:srgbClr val="000000"/>
                        </a:buClr>
                        <a:buSzPts val="1200"/>
                        <a:buFont typeface="Arial"/>
                        <a:buNone/>
                      </a:pPr>
                      <a:r>
                        <a:rPr sz="1200" b="1" u="none" cap="none"/>
                        <a:t>VAE</a:t>
                      </a:r>
                      <a:endParaRPr sz="12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ctr">
                        <a:lnSpc>
                          <a:spcPct val="115000"/>
                        </a:lnSpc>
                        <a:spcBef>
                          <a:spcPts val="0"/>
                        </a:spcBef>
                        <a:spcAft>
                          <a:spcPts val="0"/>
                        </a:spcAft>
                        <a:buClr>
                          <a:srgbClr val="000000"/>
                        </a:buClr>
                        <a:buSzPts val="1200"/>
                        <a:buFont typeface="Arial"/>
                        <a:buNone/>
                      </a:pPr>
                      <a:r>
                        <a:rPr sz="1200" b="1" u="none" cap="none"/>
                        <a:t>DAE</a:t>
                      </a:r>
                      <a:endParaRPr sz="12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369850">
                <a:tc>
                  <a:txBody>
                    <a:bodyPr/>
                    <a:lstStyle/>
                    <a:p>
                      <a:pPr marL="0" marR="0" lvl="0" indent="0" algn="l">
                        <a:lnSpc>
                          <a:spcPct val="100000"/>
                        </a:lnSpc>
                        <a:spcBef>
                          <a:spcPts val="0"/>
                        </a:spcBef>
                        <a:spcAft>
                          <a:spcPts val="0"/>
                        </a:spcAft>
                        <a:buClr>
                          <a:srgbClr val="000000"/>
                        </a:buClr>
                        <a:buSzPts val="900"/>
                        <a:buFont typeface="Arial"/>
                        <a:buNone/>
                      </a:pPr>
                      <a:r>
                        <a:rPr sz="900" b="1" u="none" cap="none"/>
                        <a:t>Latent type</a:t>
                      </a:r>
                      <a:endParaRPr sz="9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Deterministic vector </a:t>
                      </a:r>
                      <a:r>
                        <a:rPr sz="900" u="none" cap="none">
                          <a:solidFill>
                            <a:srgbClr val="188038"/>
                          </a:solidFill>
                          <a:latin typeface="Roboto Mono"/>
                          <a:ea typeface="Roboto Mono"/>
                          <a:cs typeface="Roboto Mono"/>
                        </a:rPr>
                        <a:t>z</a:t>
                      </a:r>
                      <a:endParaRPr sz="900" u="none" cap="none">
                        <a:solidFill>
                          <a:srgbClr val="188038"/>
                        </a:solidFill>
                        <a:latin typeface="Roboto Mono"/>
                        <a:ea typeface="Roboto Mono"/>
                        <a:cs typeface="Roboto Mono"/>
                      </a:endParaRPr>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Probabilistic: </a:t>
                      </a:r>
                      <a:r>
                        <a:rPr sz="900" u="none" cap="none">
                          <a:solidFill>
                            <a:srgbClr val="188038"/>
                          </a:solidFill>
                          <a:latin typeface="Roboto Mono"/>
                          <a:ea typeface="Roboto Mono"/>
                          <a:cs typeface="Roboto Mono"/>
                        </a:rPr>
                        <a:t>z ~ N(μ, σ²)</a:t>
                      </a:r>
                      <a:endParaRPr sz="900" u="none" cap="none">
                        <a:solidFill>
                          <a:srgbClr val="188038"/>
                        </a:solidFill>
                        <a:latin typeface="Roboto Mono"/>
                        <a:ea typeface="Roboto Mono"/>
                        <a:cs typeface="Roboto Mono"/>
                      </a:endParaRPr>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Deterministic (same as AE)</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525825">
                <a:tc>
                  <a:txBody>
                    <a:bodyPr/>
                    <a:lstStyle/>
                    <a:p>
                      <a:pPr marL="0" marR="0" lvl="0" indent="0" algn="l">
                        <a:lnSpc>
                          <a:spcPct val="100000"/>
                        </a:lnSpc>
                        <a:spcBef>
                          <a:spcPts val="0"/>
                        </a:spcBef>
                        <a:spcAft>
                          <a:spcPts val="0"/>
                        </a:spcAft>
                        <a:buClr>
                          <a:srgbClr val="000000"/>
                        </a:buClr>
                        <a:buSzPts val="900"/>
                        <a:buFont typeface="Arial"/>
                        <a:buNone/>
                      </a:pPr>
                      <a:r>
                        <a:rPr sz="900" b="1" u="none" cap="none"/>
                        <a:t>Encoder output</a:t>
                      </a:r>
                      <a:endParaRPr sz="9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solidFill>
                            <a:srgbClr val="188038"/>
                          </a:solidFill>
                          <a:latin typeface="Roboto Mono"/>
                          <a:ea typeface="Roboto Mono"/>
                          <a:cs typeface="Roboto Mono"/>
                        </a:rPr>
                        <a:t>z</a:t>
                      </a:r>
                      <a:endParaRPr sz="900" u="none" cap="none">
                        <a:solidFill>
                          <a:srgbClr val="188038"/>
                        </a:solidFill>
                        <a:latin typeface="Roboto Mono"/>
                        <a:ea typeface="Roboto Mono"/>
                        <a:cs typeface="Roboto Mono"/>
                      </a:endParaRPr>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solidFill>
                            <a:srgbClr val="188038"/>
                          </a:solidFill>
                          <a:latin typeface="Roboto Mono"/>
                          <a:ea typeface="Roboto Mono"/>
                          <a:cs typeface="Roboto Mono"/>
                        </a:rPr>
                        <a:t>mu</a:t>
                      </a:r>
                      <a:r>
                        <a:rPr sz="900" u="none" cap="none"/>
                        <a:t>, </a:t>
                      </a:r>
                      <a:r>
                        <a:rPr sz="900" u="none" cap="none">
                          <a:solidFill>
                            <a:srgbClr val="188038"/>
                          </a:solidFill>
                          <a:latin typeface="Roboto Mono"/>
                          <a:ea typeface="Roboto Mono"/>
                          <a:cs typeface="Roboto Mono"/>
                        </a:rPr>
                        <a:t>logvar</a:t>
                      </a:r>
                      <a:r>
                        <a:rPr sz="900" u="none" cap="none"/>
                        <a:t> (and then </a:t>
                      </a:r>
                      <a:r>
                        <a:rPr sz="900" u="none" cap="none">
                          <a:solidFill>
                            <a:srgbClr val="188038"/>
                          </a:solidFill>
                          <a:latin typeface="Roboto Mono"/>
                          <a:ea typeface="Roboto Mono"/>
                          <a:cs typeface="Roboto Mono"/>
                        </a:rPr>
                        <a:t>z</a:t>
                      </a:r>
                      <a:r>
                        <a:rPr sz="900" u="none" cap="none"/>
                        <a:t> via reparameterization)</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solidFill>
                            <a:srgbClr val="188038"/>
                          </a:solidFill>
                          <a:latin typeface="Roboto Mono"/>
                          <a:ea typeface="Roboto Mono"/>
                          <a:cs typeface="Roboto Mono"/>
                        </a:rPr>
                        <a:t>z</a:t>
                      </a:r>
                      <a:endParaRPr sz="900" u="none" cap="none">
                        <a:solidFill>
                          <a:srgbClr val="188038"/>
                        </a:solidFill>
                        <a:latin typeface="Roboto Mono"/>
                        <a:ea typeface="Roboto Mono"/>
                        <a:cs typeface="Roboto Mono"/>
                      </a:endParaRPr>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374275">
                <a:tc>
                  <a:txBody>
                    <a:bodyPr/>
                    <a:lstStyle/>
                    <a:p>
                      <a:pPr marL="0" marR="0" lvl="0" indent="0" algn="l">
                        <a:lnSpc>
                          <a:spcPct val="100000"/>
                        </a:lnSpc>
                        <a:spcBef>
                          <a:spcPts val="0"/>
                        </a:spcBef>
                        <a:spcAft>
                          <a:spcPts val="0"/>
                        </a:spcAft>
                        <a:buClr>
                          <a:srgbClr val="000000"/>
                        </a:buClr>
                        <a:buSzPts val="900"/>
                        <a:buFont typeface="Arial"/>
                        <a:buNone/>
                      </a:pPr>
                      <a:r>
                        <a:rPr sz="900" b="1" u="none" cap="none"/>
                        <a:t>Loss function</a:t>
                      </a:r>
                      <a:endParaRPr sz="9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MSE per pixel</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MSE per pixel + β · KL(N(μ,σ²)</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369850">
                <a:tc>
                  <a:txBody>
                    <a:bodyPr/>
                    <a:lstStyle/>
                    <a:p>
                      <a:pPr marL="0" marR="0" lvl="0" indent="0" algn="l">
                        <a:lnSpc>
                          <a:spcPct val="100000"/>
                        </a:lnSpc>
                        <a:spcBef>
                          <a:spcPts val="0"/>
                        </a:spcBef>
                        <a:spcAft>
                          <a:spcPts val="0"/>
                        </a:spcAft>
                        <a:buClr>
                          <a:srgbClr val="000000"/>
                        </a:buClr>
                        <a:buSzPts val="900"/>
                        <a:buFont typeface="Arial"/>
                        <a:buNone/>
                      </a:pPr>
                      <a:r>
                        <a:rPr sz="900" b="1" u="none" cap="none"/>
                        <a:t>Input during training</a:t>
                      </a:r>
                      <a:endParaRPr sz="9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Clean image </a:t>
                      </a:r>
                      <a:r>
                        <a:rPr sz="900" u="none" cap="none">
                          <a:solidFill>
                            <a:srgbClr val="188038"/>
                          </a:solidFill>
                          <a:latin typeface="Roboto Mono"/>
                          <a:ea typeface="Roboto Mono"/>
                          <a:cs typeface="Roboto Mono"/>
                        </a:rPr>
                        <a:t>x</a:t>
                      </a:r>
                      <a:endParaRPr sz="900" u="none" cap="none">
                        <a:solidFill>
                          <a:srgbClr val="188038"/>
                        </a:solidFill>
                        <a:latin typeface="Roboto Mono"/>
                        <a:ea typeface="Roboto Mono"/>
                        <a:cs typeface="Roboto Mono"/>
                      </a:endParaRPr>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Clean image </a:t>
                      </a:r>
                      <a:r>
                        <a:rPr sz="900" u="none" cap="none">
                          <a:solidFill>
                            <a:srgbClr val="188038"/>
                          </a:solidFill>
                          <a:latin typeface="Roboto Mono"/>
                          <a:ea typeface="Roboto Mono"/>
                          <a:cs typeface="Roboto Mono"/>
                        </a:rPr>
                        <a:t>x</a:t>
                      </a:r>
                      <a:endParaRPr sz="900" u="none" cap="none">
                        <a:solidFill>
                          <a:srgbClr val="188038"/>
                        </a:solidFill>
                        <a:latin typeface="Roboto Mono"/>
                        <a:ea typeface="Roboto Mono"/>
                        <a:cs typeface="Roboto Mono"/>
                      </a:endParaRPr>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Noisy image </a:t>
                      </a:r>
                      <a:r>
                        <a:rPr sz="900" u="none" cap="none">
                          <a:solidFill>
                            <a:srgbClr val="188038"/>
                          </a:solidFill>
                          <a:latin typeface="Roboto Mono"/>
                          <a:ea typeface="Roboto Mono"/>
                          <a:cs typeface="Roboto Mono"/>
                        </a:rPr>
                        <a:t>x_noisy</a:t>
                      </a:r>
                      <a:endParaRPr sz="900" u="none" cap="none">
                        <a:solidFill>
                          <a:srgbClr val="188038"/>
                        </a:solidFill>
                        <a:latin typeface="Roboto Mono"/>
                        <a:ea typeface="Roboto Mono"/>
                        <a:cs typeface="Roboto Mono"/>
                      </a:endParaRPr>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525825">
                <a:tc>
                  <a:txBody>
                    <a:bodyPr/>
                    <a:lstStyle/>
                    <a:p>
                      <a:pPr marL="0" marR="0" lvl="0" indent="0" algn="l">
                        <a:lnSpc>
                          <a:spcPct val="100000"/>
                        </a:lnSpc>
                        <a:spcBef>
                          <a:spcPts val="0"/>
                        </a:spcBef>
                        <a:spcAft>
                          <a:spcPts val="0"/>
                        </a:spcAft>
                        <a:buClr>
                          <a:srgbClr val="000000"/>
                        </a:buClr>
                        <a:buSzPts val="900"/>
                        <a:buFont typeface="Arial"/>
                        <a:buNone/>
                      </a:pPr>
                      <a:r>
                        <a:rPr sz="900" b="1" u="none" cap="none"/>
                        <a:t>Reconstruction target</a:t>
                      </a:r>
                      <a:endParaRPr sz="9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Reconstruct </a:t>
                      </a:r>
                      <a:r>
                        <a:rPr sz="900" u="none" cap="none">
                          <a:solidFill>
                            <a:srgbClr val="188038"/>
                          </a:solidFill>
                          <a:latin typeface="Roboto Mono"/>
                          <a:ea typeface="Roboto Mono"/>
                          <a:cs typeface="Roboto Mono"/>
                        </a:rPr>
                        <a:t>x</a:t>
                      </a:r>
                      <a:endParaRPr sz="900" u="none" cap="none">
                        <a:solidFill>
                          <a:srgbClr val="188038"/>
                        </a:solidFill>
                        <a:latin typeface="Roboto Mono"/>
                        <a:ea typeface="Roboto Mono"/>
                        <a:cs typeface="Roboto Mono"/>
                      </a:endParaRPr>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Reconstruct </a:t>
                      </a:r>
                      <a:r>
                        <a:rPr sz="900" u="none" cap="none">
                          <a:solidFill>
                            <a:srgbClr val="188038"/>
                          </a:solidFill>
                          <a:latin typeface="Roboto Mono"/>
                          <a:ea typeface="Roboto Mono"/>
                          <a:cs typeface="Roboto Mono"/>
                        </a:rPr>
                        <a:t>x</a:t>
                      </a:r>
                      <a:endParaRPr sz="900" u="none" cap="none">
                        <a:solidFill>
                          <a:srgbClr val="188038"/>
                        </a:solidFill>
                        <a:latin typeface="Roboto Mono"/>
                        <a:ea typeface="Roboto Mono"/>
                        <a:cs typeface="Roboto Mono"/>
                      </a:endParaRPr>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Reconstruct the clean </a:t>
                      </a:r>
                      <a:r>
                        <a:rPr sz="900" u="none" cap="none">
                          <a:solidFill>
                            <a:srgbClr val="188038"/>
                          </a:solidFill>
                          <a:latin typeface="Roboto Mono"/>
                          <a:ea typeface="Roboto Mono"/>
                          <a:cs typeface="Roboto Mono"/>
                        </a:rPr>
                        <a:t>x</a:t>
                      </a:r>
                      <a:r>
                        <a:rPr sz="900" u="none" cap="none"/>
                        <a:t> from noisy input</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525825">
                <a:tc>
                  <a:txBody>
                    <a:bodyPr/>
                    <a:lstStyle/>
                    <a:p>
                      <a:pPr marL="0" marR="0" lvl="0" indent="0" algn="l">
                        <a:lnSpc>
                          <a:spcPct val="100000"/>
                        </a:lnSpc>
                        <a:spcBef>
                          <a:spcPts val="0"/>
                        </a:spcBef>
                        <a:spcAft>
                          <a:spcPts val="0"/>
                        </a:spcAft>
                        <a:buClr>
                          <a:srgbClr val="000000"/>
                        </a:buClr>
                        <a:buSzPts val="900"/>
                        <a:buFont typeface="Arial"/>
                        <a:buNone/>
                      </a:pPr>
                      <a:r>
                        <a:rPr sz="900" b="1" u="none" cap="none"/>
                        <a:t>Conv. architecture (Enc/Dec)</a:t>
                      </a:r>
                      <a:endParaRPr sz="9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Shared: same convolutional encoder–decoder</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Shared: same conv encoder/decoder, extra linear for logvar</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Shared: same as AE</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525825">
                <a:tc>
                  <a:txBody>
                    <a:bodyPr/>
                    <a:lstStyle/>
                    <a:p>
                      <a:pPr marL="0" marR="0" lvl="0" indent="0" algn="l">
                        <a:lnSpc>
                          <a:spcPct val="100000"/>
                        </a:lnSpc>
                        <a:spcBef>
                          <a:spcPts val="0"/>
                        </a:spcBef>
                        <a:spcAft>
                          <a:spcPts val="0"/>
                        </a:spcAft>
                        <a:buClr>
                          <a:srgbClr val="000000"/>
                        </a:buClr>
                        <a:buSzPts val="900"/>
                        <a:buFont typeface="Arial"/>
                        <a:buNone/>
                      </a:pPr>
                      <a:r>
                        <a:rPr sz="900" b="1" u="none" cap="none"/>
                        <a:t>Main goal</a:t>
                      </a:r>
                      <a:endParaRPr sz="9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Compress and reconstruct images</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Learn a structured, generative latent space</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Learn noise-robust representations</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bl>
          </a:graphicData>
        </a:graphic>
      </p:graphicFrame>
    </p:spTree>
    <p:extLst>
      <p:ext uri="{BB962C8B-B14F-4D97-AF65-F5344CB8AC3E}">
        <p14:creationId xmlns:p14="http://schemas.microsoft.com/office/powerpoint/2010/main" val="82431868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7" name="Google Shape;67;p3">
            <a:extLst xmlns:a="http://schemas.openxmlformats.org/drawingml/2006/main">
              <a:ext uri="{FF2B5EF4-FFF2-40B4-BE49-F238E27FC236}">
                <a16:creationId xmlns:a16="http://schemas.microsoft.com/office/drawing/2014/main" id="{7F184099-C1E5-4C44-85EC-AEA8F145CA40}"/>
              </a:ext>
            </a:extLst>
          </p:cNvPr>
          <p:cNvSpPr>
            <a:spLocks xmlns:a="http://schemas.openxmlformats.org/drawingml/2006/main" noGrp="1"/>
          </p:cNvSpPr>
          <p:nvPr/>
        </p:nvSpPr>
        <p:spPr>
          <a:xfrm xmlns:a="http://schemas.openxmlformats.org/drawingml/2006/main">
            <a:off x="167050" y="131275"/>
            <a:ext cx="8730600" cy="4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1100"/>
              <a:buFont typeface="Arial"/>
              <a:buNone/>
            </a:pPr>
            <a:r>
              <a:rPr sz="2200" b="1" i="0" u="none" cap="none">
                <a:solidFill>
                  <a:schemeClr val="dk2"/>
                </a:solidFill>
                <a:latin typeface="Arial"/>
                <a:ea typeface="Arial"/>
                <a:cs typeface="Arial"/>
              </a:rPr>
              <a:t>1.1  AE vs VAE vs DAE (theory + diagram)</a:t>
            </a:r>
            <a:endParaRPr sz="2200" b="1" i="0" u="none" cap="none">
              <a:solidFill>
                <a:schemeClr val="dk2"/>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t/>
            </a:r>
            <a:endParaRPr sz="2200" b="1" i="0" u="none" cap="none">
              <a:solidFill>
                <a:schemeClr val="dk2"/>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200"/>
              <a:buFont typeface="Arial"/>
              <a:buNone/>
            </a:pPr>
            <a:r>
              <a:t/>
            </a:r>
            <a:endParaRPr sz="2200" b="1" i="0" u="none" cap="none">
              <a:solidFill>
                <a:srgbClr val="595959"/>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200"/>
              <a:buFont typeface="Arial"/>
              <a:buNone/>
            </a:pPr>
            <a:r>
              <a:t/>
            </a:r>
            <a:endParaRPr sz="2200" b="1" i="0" u="none" cap="none">
              <a:solidFill>
                <a:srgbClr val="595959"/>
              </a:solidFill>
              <a:latin typeface="Arial"/>
              <a:ea typeface="Arial"/>
              <a:cs typeface="Arial"/>
            </a:endParaRPr>
          </a:p>
        </p:txBody>
      </p:sp>
      <p:sp>
        <p:nvSpPr>
          <p:cNvPr id="68" name="Google Shape;68;p3">
            <a:extLst xmlns:a="http://schemas.openxmlformats.org/drawingml/2006/main">
              <a:ext uri="{FF2B5EF4-FFF2-40B4-BE49-F238E27FC236}">
                <a16:creationId xmlns:a16="http://schemas.microsoft.com/office/drawing/2014/main" id="{4CEA1458-E81C-4E91-8850-174D27DA4955}"/>
              </a:ext>
            </a:extLst>
          </p:cNvPr>
          <p:cNvSpPr>
            <a:spLocks xmlns:a="http://schemas.openxmlformats.org/drawingml/2006/main" noGrp="1"/>
          </p:cNvSpPr>
          <p:nvPr/>
        </p:nvSpPr>
        <p:spPr>
          <a:xfrm xmlns:a="http://schemas.openxmlformats.org/drawingml/2006/main">
            <a:off x="90600" y="596575"/>
            <a:ext cx="8962800" cy="6618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pPr>
            <a:r>
              <a:rPr sz="1100" b="1" i="0" u="none" cap="none">
                <a:solidFill>
                  <a:srgbClr val="000000"/>
                </a:solidFill>
                <a:latin typeface="Arial"/>
                <a:ea typeface="Arial"/>
                <a:cs typeface="Arial"/>
              </a:rPr>
              <a:t>Part 2: Architectures of AE, VAE and DAE</a:t>
            </a:r>
            <a:endParaRPr sz="1100" b="1"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rPr sz="1000" b="0" i="0" u="none" cap="none">
                <a:solidFill>
                  <a:schemeClr val="dk1"/>
                </a:solidFill>
                <a:latin typeface="Arial"/>
                <a:ea typeface="Arial"/>
                <a:cs typeface="Arial"/>
              </a:rPr>
              <a:t>All three models share the same </a:t>
            </a:r>
            <a:r>
              <a:rPr sz="1000" b="1" i="0" u="none" cap="none">
                <a:solidFill>
                  <a:schemeClr val="dk1"/>
                </a:solidFill>
                <a:latin typeface="Arial"/>
                <a:ea typeface="Arial"/>
                <a:cs typeface="Arial"/>
              </a:rPr>
              <a:t>convolutional encoder–decoder backbone</a:t>
            </a:r>
            <a:r>
              <a:rPr sz="1000" b="0" i="0" u="none" cap="none">
                <a:solidFill>
                  <a:schemeClr val="dk1"/>
                </a:solidFill>
                <a:latin typeface="Arial"/>
                <a:ea typeface="Arial"/>
                <a:cs typeface="Arial"/>
              </a:rPr>
              <a:t>.</a:t>
            </a:r>
            <a:endParaRPr sz="10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0" i="0" u="none" cap="none">
                <a:solidFill>
                  <a:schemeClr val="dk1"/>
                </a:solidFill>
                <a:latin typeface="Arial"/>
                <a:ea typeface="Arial"/>
                <a:cs typeface="Arial"/>
              </a:rPr>
              <a:t>They differ only in </a:t>
            </a:r>
            <a:r>
              <a:rPr sz="1000" b="1" i="0" u="none" cap="none">
                <a:solidFill>
                  <a:schemeClr val="dk1"/>
                </a:solidFill>
                <a:latin typeface="Arial"/>
                <a:ea typeface="Arial"/>
                <a:cs typeface="Arial"/>
              </a:rPr>
              <a:t>what happens in the bottleneck (latent space)</a:t>
            </a:r>
            <a:r>
              <a:rPr sz="1000" b="0" i="0" u="none" cap="none">
                <a:solidFill>
                  <a:schemeClr val="dk1"/>
                </a:solidFill>
                <a:latin typeface="Arial"/>
                <a:ea typeface="Arial"/>
                <a:cs typeface="Arial"/>
              </a:rPr>
              <a:t> and in </a:t>
            </a:r>
            <a:r>
              <a:rPr sz="1000" b="1" i="0" u="none" cap="none">
                <a:solidFill>
                  <a:schemeClr val="dk1"/>
                </a:solidFill>
                <a:latin typeface="Arial"/>
                <a:ea typeface="Arial"/>
                <a:cs typeface="Arial"/>
              </a:rPr>
              <a:t>how the loss is defined</a:t>
            </a:r>
            <a:r>
              <a:rPr sz="1000" b="0" i="0" u="none" cap="none">
                <a:solidFill>
                  <a:schemeClr val="dk1"/>
                </a:solidFill>
                <a:latin typeface="Arial"/>
                <a:ea typeface="Arial"/>
                <a:cs typeface="Arial"/>
              </a:rPr>
              <a:t>.</a:t>
            </a:r>
            <a:endParaRPr sz="1000" b="1" i="0" u="none" cap="none">
              <a:solidFill>
                <a:srgbClr val="000000"/>
              </a:solidFill>
              <a:latin typeface="Arial"/>
              <a:ea typeface="Arial"/>
              <a:cs typeface="Arial"/>
            </a:endParaRPr>
          </a:p>
        </p:txBody>
      </p:sp>
      <p:graphicFrame>
        <p:nvGraphicFramePr>
          <p:cNvPr id="79" name="Google Shape;69;p3"/>
          <p:cNvGraphicFramePr/>
          <p:nvPr/>
        </p:nvGraphicFramePr>
        <p:xfrm>
          <a:off xmlns:a="http://schemas.openxmlformats.org/drawingml/2006/main" x="167050" y="1554418"/>
          <a:ext xmlns:a="http://schemas.openxmlformats.org/drawingml/2006/main" cx="3000000" cy="3000000"/>
        </p:xfrm>
        <a:graphic xmlns:a="http://schemas.openxmlformats.org/drawingml/2006/main">
          <a:graphicData uri="http://schemas.openxmlformats.org/drawingml/2006/table">
            <a:tbl>
              <a:tblPr>
                <a:tableStyleId>{E9C96EFF-C137-458B-89EA-79B6DC1AD40E}</a:tableStyleId>
              </a:tblPr>
              <a:tblGrid>
                <a:gridCol w="432175"/>
                <a:gridCol w="714800"/>
                <a:gridCol w="2181275"/>
                <a:gridCol w="850600"/>
              </a:tblGrid>
              <a:tr h="190500">
                <a:tc>
                  <a:txBody>
                    <a:bodyPr/>
                    <a:lstStyle/>
                    <a:p>
                      <a:pPr marL="0" marR="0" lvl="0" indent="0" algn="ctr">
                        <a:lnSpc>
                          <a:spcPct val="115000"/>
                        </a:lnSpc>
                        <a:spcBef>
                          <a:spcPts val="0"/>
                        </a:spcBef>
                        <a:spcAft>
                          <a:spcPts val="0"/>
                        </a:spcAft>
                        <a:buClr>
                          <a:srgbClr val="000000"/>
                        </a:buClr>
                        <a:buSzPts val="800"/>
                        <a:buFont typeface="Arial"/>
                        <a:buNone/>
                      </a:pPr>
                      <a:r>
                        <a:rPr sz="800" b="1" u="none" cap="none"/>
                        <a:t>Step</a:t>
                      </a:r>
                      <a:endParaRPr sz="8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ctr">
                        <a:lnSpc>
                          <a:spcPct val="115000"/>
                        </a:lnSpc>
                        <a:spcBef>
                          <a:spcPts val="0"/>
                        </a:spcBef>
                        <a:spcAft>
                          <a:spcPts val="0"/>
                        </a:spcAft>
                        <a:buClr>
                          <a:srgbClr val="000000"/>
                        </a:buClr>
                        <a:buSzPts val="800"/>
                        <a:buFont typeface="Arial"/>
                        <a:buNone/>
                      </a:pPr>
                      <a:r>
                        <a:rPr sz="800" b="1" u="none" cap="none"/>
                        <a:t>Layer</a:t>
                      </a:r>
                      <a:endParaRPr sz="8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ctr">
                        <a:lnSpc>
                          <a:spcPct val="115000"/>
                        </a:lnSpc>
                        <a:spcBef>
                          <a:spcPts val="0"/>
                        </a:spcBef>
                        <a:spcAft>
                          <a:spcPts val="0"/>
                        </a:spcAft>
                        <a:buClr>
                          <a:srgbClr val="000000"/>
                        </a:buClr>
                        <a:buSzPts val="800"/>
                        <a:buFont typeface="Arial"/>
                        <a:buNone/>
                      </a:pPr>
                      <a:r>
                        <a:rPr sz="800" b="1" u="none" cap="none"/>
                        <a:t>Main parameters</a:t>
                      </a:r>
                      <a:endParaRPr sz="8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ctr">
                        <a:lnSpc>
                          <a:spcPct val="115000"/>
                        </a:lnSpc>
                        <a:spcBef>
                          <a:spcPts val="0"/>
                        </a:spcBef>
                        <a:spcAft>
                          <a:spcPts val="0"/>
                        </a:spcAft>
                        <a:buClr>
                          <a:srgbClr val="000000"/>
                        </a:buClr>
                        <a:buSzPts val="800"/>
                        <a:buFont typeface="Arial"/>
                        <a:buNone/>
                      </a:pPr>
                      <a:r>
                        <a:rPr sz="800" b="1" u="none" cap="none"/>
                        <a:t>Output shape</a:t>
                      </a:r>
                      <a:endParaRPr sz="8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190500">
                <a:tc>
                  <a:txBody>
                    <a:bodyPr/>
                    <a:lstStyle/>
                    <a:p>
                      <a:pPr marL="0" marR="0" lvl="0" indent="0" algn="l">
                        <a:lnSpc>
                          <a:spcPct val="100000"/>
                        </a:lnSpc>
                        <a:spcBef>
                          <a:spcPts val="0"/>
                        </a:spcBef>
                        <a:spcAft>
                          <a:spcPts val="0"/>
                        </a:spcAft>
                        <a:buClr>
                          <a:srgbClr val="000000"/>
                        </a:buClr>
                        <a:buSzPts val="800"/>
                        <a:buFont typeface="Arial"/>
                        <a:buNone/>
                      </a:pPr>
                      <a:r>
                        <a:rPr sz="800" u="none" cap="none"/>
                        <a:t>1</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Conv2d</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in=1, out=16, kernel=3, stride=1, pad=1</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16×28×28</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190500">
                <a:tc>
                  <a:txBody>
                    <a:bodyPr/>
                    <a:lstStyle/>
                    <a:p>
                      <a:pPr marL="0" marR="0" lvl="0" indent="0" algn="l">
                        <a:lnSpc>
                          <a:spcPct val="100000"/>
                        </a:lnSpc>
                        <a:spcBef>
                          <a:spcPts val="0"/>
                        </a:spcBef>
                        <a:spcAft>
                          <a:spcPts val="0"/>
                        </a:spcAft>
                        <a:buClr>
                          <a:srgbClr val="000000"/>
                        </a:buClr>
                        <a:buSzPts val="800"/>
                        <a:buFont typeface="Arial"/>
                        <a:buNone/>
                      </a:pPr>
                      <a:r>
                        <a:rPr sz="800" u="none" cap="none"/>
                        <a:t>2</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ReLU</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16×28×28</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190500">
                <a:tc>
                  <a:txBody>
                    <a:bodyPr/>
                    <a:lstStyle/>
                    <a:p>
                      <a:pPr marL="0" marR="0" lvl="0" indent="0" algn="l">
                        <a:lnSpc>
                          <a:spcPct val="100000"/>
                        </a:lnSpc>
                        <a:spcBef>
                          <a:spcPts val="0"/>
                        </a:spcBef>
                        <a:spcAft>
                          <a:spcPts val="0"/>
                        </a:spcAft>
                        <a:buClr>
                          <a:srgbClr val="000000"/>
                        </a:buClr>
                        <a:buSzPts val="800"/>
                        <a:buFont typeface="Arial"/>
                        <a:buNone/>
                      </a:pPr>
                      <a:r>
                        <a:rPr sz="800" u="none" cap="none"/>
                        <a:t>3</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MaxPool2d</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(2, 2)</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16x14x14</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424875">
                <a:tc>
                  <a:txBody>
                    <a:bodyPr/>
                    <a:lstStyle/>
                    <a:p>
                      <a:pPr marL="0" marR="0" lvl="0" indent="0" algn="l">
                        <a:lnSpc>
                          <a:spcPct val="100000"/>
                        </a:lnSpc>
                        <a:spcBef>
                          <a:spcPts val="0"/>
                        </a:spcBef>
                        <a:spcAft>
                          <a:spcPts val="0"/>
                        </a:spcAft>
                        <a:buClr>
                          <a:srgbClr val="000000"/>
                        </a:buClr>
                        <a:buSzPts val="800"/>
                        <a:buFont typeface="Arial"/>
                        <a:buNone/>
                      </a:pPr>
                      <a:r>
                        <a:rPr sz="800" u="none" cap="none"/>
                        <a:t>4</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Conv2d</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in=16, out=32, kernel=3, stride=1, pad=1</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32×14×14</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190500">
                <a:tc>
                  <a:txBody>
                    <a:bodyPr/>
                    <a:lstStyle/>
                    <a:p>
                      <a:pPr marL="0" marR="0" lvl="0" indent="0" algn="l">
                        <a:lnSpc>
                          <a:spcPct val="100000"/>
                        </a:lnSpc>
                        <a:spcBef>
                          <a:spcPts val="0"/>
                        </a:spcBef>
                        <a:spcAft>
                          <a:spcPts val="0"/>
                        </a:spcAft>
                        <a:buClr>
                          <a:srgbClr val="000000"/>
                        </a:buClr>
                        <a:buSzPts val="800"/>
                        <a:buFont typeface="Arial"/>
                        <a:buNone/>
                      </a:pPr>
                      <a:r>
                        <a:rPr sz="800" u="none" cap="none"/>
                        <a:t>4</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ReLU</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32×14×14</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190500">
                <a:tc>
                  <a:txBody>
                    <a:bodyPr/>
                    <a:lstStyle/>
                    <a:p>
                      <a:pPr marL="0" marR="0" lvl="0" indent="0" algn="l">
                        <a:lnSpc>
                          <a:spcPct val="100000"/>
                        </a:lnSpc>
                        <a:spcBef>
                          <a:spcPts val="0"/>
                        </a:spcBef>
                        <a:spcAft>
                          <a:spcPts val="0"/>
                        </a:spcAft>
                        <a:buClr>
                          <a:srgbClr val="000000"/>
                        </a:buClr>
                        <a:buSzPts val="800"/>
                        <a:buFont typeface="Arial"/>
                        <a:buNone/>
                      </a:pPr>
                      <a:r>
                        <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chemeClr val="dk1"/>
                        </a:buClr>
                        <a:buSzPts val="1100"/>
                        <a:buFont typeface="Arial"/>
                        <a:buNone/>
                      </a:pPr>
                      <a:r>
                        <a:rPr sz="800" u="none" cap="none">
                          <a:solidFill>
                            <a:schemeClr val="dk1"/>
                          </a:solidFill>
                        </a:rPr>
                        <a:t>MaxPool2d</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(2, 2)</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chemeClr val="dk1"/>
                        </a:buClr>
                        <a:buSzPts val="1100"/>
                        <a:buFont typeface="Arial"/>
                        <a:buNone/>
                      </a:pPr>
                      <a:r>
                        <a:rPr sz="800" u="none" cap="none">
                          <a:solidFill>
                            <a:schemeClr val="dk1"/>
                          </a:solidFill>
                        </a:rPr>
                        <a:t>32×7×7</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190500">
                <a:tc>
                  <a:txBody>
                    <a:bodyPr/>
                    <a:lstStyle/>
                    <a:p>
                      <a:pPr marL="0" marR="0" lvl="0" indent="0" algn="l">
                        <a:lnSpc>
                          <a:spcPct val="100000"/>
                        </a:lnSpc>
                        <a:spcBef>
                          <a:spcPts val="0"/>
                        </a:spcBef>
                        <a:spcAft>
                          <a:spcPts val="0"/>
                        </a:spcAft>
                        <a:buClr>
                          <a:srgbClr val="000000"/>
                        </a:buClr>
                        <a:buSzPts val="800"/>
                        <a:buFont typeface="Arial"/>
                        <a:buNone/>
                      </a:pPr>
                      <a:r>
                        <a:rPr sz="800" u="none" cap="none"/>
                        <a:t>5</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Flatten</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32·7·7 → 1568</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1568</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190500">
                <a:tc>
                  <a:txBody>
                    <a:bodyPr/>
                    <a:lstStyle/>
                    <a:p>
                      <a:pPr marL="0" marR="0" lvl="0" indent="0" algn="l">
                        <a:lnSpc>
                          <a:spcPct val="100000"/>
                        </a:lnSpc>
                        <a:spcBef>
                          <a:spcPts val="0"/>
                        </a:spcBef>
                        <a:spcAft>
                          <a:spcPts val="0"/>
                        </a:spcAft>
                        <a:buClr>
                          <a:srgbClr val="000000"/>
                        </a:buClr>
                        <a:buSzPts val="800"/>
                        <a:buFont typeface="Arial"/>
                        <a:buNone/>
                      </a:pPr>
                      <a:r>
                        <a:rPr sz="800" u="none" cap="none"/>
                        <a:t>6</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Linear (μ)</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1568 → latent_dim</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latent_dim=32</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bl>
          </a:graphicData>
        </a:graphic>
      </p:graphicFrame>
      <p:graphicFrame>
        <p:nvGraphicFramePr>
          <p:cNvPr id="80" name="Google Shape;70;p3"/>
          <p:cNvGraphicFramePr/>
          <p:nvPr/>
        </p:nvGraphicFramePr>
        <p:xfrm>
          <a:off xmlns:a="http://schemas.openxmlformats.org/drawingml/2006/main" x="4469245" y="1554420"/>
          <a:ext xmlns:a="http://schemas.openxmlformats.org/drawingml/2006/main" cx="3000000" cy="3000000"/>
        </p:xfrm>
        <a:graphic xmlns:a="http://schemas.openxmlformats.org/drawingml/2006/main">
          <a:graphicData uri="http://schemas.openxmlformats.org/drawingml/2006/table">
            <a:tbl>
              <a:tblPr>
                <a:tableStyleId>{E9C96EFF-C137-458B-89EA-79B6DC1AD40E}</a:tableStyleId>
              </a:tblPr>
              <a:tblGrid>
                <a:gridCol w="528450"/>
                <a:gridCol w="933625"/>
                <a:gridCol w="2354725"/>
                <a:gridCol w="735500"/>
              </a:tblGrid>
              <a:tr h="190500">
                <a:tc>
                  <a:txBody>
                    <a:bodyPr/>
                    <a:lstStyle/>
                    <a:p>
                      <a:pPr marL="0" marR="0" lvl="0" indent="0" algn="ctr">
                        <a:lnSpc>
                          <a:spcPct val="115000"/>
                        </a:lnSpc>
                        <a:spcBef>
                          <a:spcPts val="0"/>
                        </a:spcBef>
                        <a:spcAft>
                          <a:spcPts val="0"/>
                        </a:spcAft>
                        <a:buClr>
                          <a:srgbClr val="000000"/>
                        </a:buClr>
                        <a:buSzPts val="900"/>
                        <a:buFont typeface="Arial"/>
                        <a:buNone/>
                      </a:pPr>
                      <a:r>
                        <a:rPr sz="900" b="1" u="none" cap="none"/>
                        <a:t>Step</a:t>
                      </a:r>
                      <a:endParaRPr sz="9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ctr">
                        <a:lnSpc>
                          <a:spcPct val="115000"/>
                        </a:lnSpc>
                        <a:spcBef>
                          <a:spcPts val="0"/>
                        </a:spcBef>
                        <a:spcAft>
                          <a:spcPts val="0"/>
                        </a:spcAft>
                        <a:buClr>
                          <a:srgbClr val="000000"/>
                        </a:buClr>
                        <a:buSzPts val="900"/>
                        <a:buFont typeface="Arial"/>
                        <a:buNone/>
                      </a:pPr>
                      <a:r>
                        <a:rPr sz="900" b="1" u="none" cap="none"/>
                        <a:t>Layer</a:t>
                      </a:r>
                      <a:endParaRPr sz="9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ctr">
                        <a:lnSpc>
                          <a:spcPct val="115000"/>
                        </a:lnSpc>
                        <a:spcBef>
                          <a:spcPts val="0"/>
                        </a:spcBef>
                        <a:spcAft>
                          <a:spcPts val="0"/>
                        </a:spcAft>
                        <a:buClr>
                          <a:srgbClr val="000000"/>
                        </a:buClr>
                        <a:buSzPts val="900"/>
                        <a:buFont typeface="Arial"/>
                        <a:buNone/>
                      </a:pPr>
                      <a:r>
                        <a:rPr sz="900" b="1" u="none" cap="none"/>
                        <a:t>Main parameters</a:t>
                      </a:r>
                      <a:endParaRPr sz="9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ctr">
                        <a:lnSpc>
                          <a:spcPct val="115000"/>
                        </a:lnSpc>
                        <a:spcBef>
                          <a:spcPts val="0"/>
                        </a:spcBef>
                        <a:spcAft>
                          <a:spcPts val="0"/>
                        </a:spcAft>
                        <a:buClr>
                          <a:srgbClr val="000000"/>
                        </a:buClr>
                        <a:buSzPts val="900"/>
                        <a:buFont typeface="Arial"/>
                        <a:buNone/>
                      </a:pPr>
                      <a:r>
                        <a:rPr sz="900" b="1" u="none" cap="none"/>
                        <a:t>Output shape</a:t>
                      </a:r>
                      <a:endParaRPr sz="9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190500">
                <a:tc>
                  <a:txBody>
                    <a:bodyPr/>
                    <a:lstStyle/>
                    <a:p>
                      <a:pPr marL="0" marR="0" lvl="0" indent="0" algn="l">
                        <a:lnSpc>
                          <a:spcPct val="100000"/>
                        </a:lnSpc>
                        <a:spcBef>
                          <a:spcPts val="0"/>
                        </a:spcBef>
                        <a:spcAft>
                          <a:spcPts val="0"/>
                        </a:spcAft>
                        <a:buClr>
                          <a:srgbClr val="000000"/>
                        </a:buClr>
                        <a:buSzPts val="900"/>
                        <a:buFont typeface="Arial"/>
                        <a:buNone/>
                      </a:pPr>
                      <a:r>
                        <a:rPr sz="900" u="none" cap="none"/>
                        <a:t>1</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Linear</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latent_dim → 32·7·7</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1568</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190500">
                <a:tc>
                  <a:txBody>
                    <a:bodyPr/>
                    <a:lstStyle/>
                    <a:p>
                      <a:pPr marL="0" marR="0" lvl="0" indent="0" algn="l">
                        <a:lnSpc>
                          <a:spcPct val="100000"/>
                        </a:lnSpc>
                        <a:spcBef>
                          <a:spcPts val="0"/>
                        </a:spcBef>
                        <a:spcAft>
                          <a:spcPts val="0"/>
                        </a:spcAft>
                        <a:buClr>
                          <a:srgbClr val="000000"/>
                        </a:buClr>
                        <a:buSzPts val="900"/>
                        <a:buFont typeface="Arial"/>
                        <a:buNone/>
                      </a:pPr>
                      <a:r>
                        <a:rPr sz="900" u="none" cap="none"/>
                        <a:t>2</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Unflatten</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1568 → (32, 7, 7)</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32×7×7</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190500">
                <a:tc>
                  <a:txBody>
                    <a:bodyPr/>
                    <a:lstStyle/>
                    <a:p>
                      <a:pPr marL="0" marR="0" lvl="0" indent="0" algn="l">
                        <a:lnSpc>
                          <a:spcPct val="100000"/>
                        </a:lnSpc>
                        <a:spcBef>
                          <a:spcPts val="0"/>
                        </a:spcBef>
                        <a:spcAft>
                          <a:spcPts val="0"/>
                        </a:spcAft>
                        <a:buClr>
                          <a:srgbClr val="000000"/>
                        </a:buClr>
                        <a:buSzPts val="900"/>
                        <a:buFont typeface="Arial"/>
                        <a:buNone/>
                      </a:pPr>
                      <a:r>
                        <a:rPr sz="900" u="none" cap="none"/>
                        <a:t>3</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ConvTranspose2d</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in=32, out=16, kernel=3, stride=2, pad=1, out_pad=1</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16×14×14</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190500">
                <a:tc>
                  <a:txBody>
                    <a:bodyPr/>
                    <a:lstStyle/>
                    <a:p>
                      <a:pPr marL="0" marR="0" lvl="0" indent="0" algn="l">
                        <a:lnSpc>
                          <a:spcPct val="100000"/>
                        </a:lnSpc>
                        <a:spcBef>
                          <a:spcPts val="0"/>
                        </a:spcBef>
                        <a:spcAft>
                          <a:spcPts val="0"/>
                        </a:spcAft>
                        <a:buClr>
                          <a:srgbClr val="000000"/>
                        </a:buClr>
                        <a:buSzPts val="900"/>
                        <a:buFont typeface="Arial"/>
                        <a:buNone/>
                      </a:pPr>
                      <a:r>
                        <a:rPr sz="900" u="none" cap="none"/>
                        <a:t>4</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ReLU</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16×14×14</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190500">
                <a:tc>
                  <a:txBody>
                    <a:bodyPr/>
                    <a:lstStyle/>
                    <a:p>
                      <a:pPr marL="0" marR="0" lvl="0" indent="0" algn="l">
                        <a:lnSpc>
                          <a:spcPct val="100000"/>
                        </a:lnSpc>
                        <a:spcBef>
                          <a:spcPts val="0"/>
                        </a:spcBef>
                        <a:spcAft>
                          <a:spcPts val="0"/>
                        </a:spcAft>
                        <a:buClr>
                          <a:srgbClr val="000000"/>
                        </a:buClr>
                        <a:buSzPts val="900"/>
                        <a:buFont typeface="Arial"/>
                        <a:buNone/>
                      </a:pPr>
                      <a:r>
                        <a:rPr sz="900" u="none" cap="none"/>
                        <a:t>5</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ConvTranspose2d</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in=16, out=1, kernel=3, stride=2, pad=1, out_pad=1</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1×28×28</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190500">
                <a:tc>
                  <a:txBody>
                    <a:bodyPr/>
                    <a:lstStyle/>
                    <a:p>
                      <a:pPr marL="0" marR="0" lvl="0" indent="0" algn="l">
                        <a:lnSpc>
                          <a:spcPct val="100000"/>
                        </a:lnSpc>
                        <a:spcBef>
                          <a:spcPts val="0"/>
                        </a:spcBef>
                        <a:spcAft>
                          <a:spcPts val="0"/>
                        </a:spcAft>
                        <a:buClr>
                          <a:srgbClr val="000000"/>
                        </a:buClr>
                        <a:buSzPts val="900"/>
                        <a:buFont typeface="Arial"/>
                        <a:buNone/>
                      </a:pPr>
                      <a:r>
                        <a:rPr sz="900" u="none" cap="none"/>
                        <a:t>6</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Sigmoid</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 (forces output to [0,1])</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900"/>
                        <a:buFont typeface="Arial"/>
                        <a:buNone/>
                      </a:pPr>
                      <a:r>
                        <a:rPr sz="900" u="none" cap="none"/>
                        <a:t>1×28×28</a:t>
                      </a:r>
                      <a:endParaRPr sz="9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bl>
          </a:graphicData>
        </a:graphic>
      </p:graphicFrame>
      <p:sp>
        <p:nvSpPr>
          <p:cNvPr id="71" name="Google Shape;71;p3">
            <a:extLst xmlns:a="http://schemas.openxmlformats.org/drawingml/2006/main">
              <a:ext uri="{FF2B5EF4-FFF2-40B4-BE49-F238E27FC236}">
                <a16:creationId xmlns:a16="http://schemas.microsoft.com/office/drawing/2014/main" id="{B279B850-EC47-4010-88FD-2358CA7BE323}"/>
              </a:ext>
            </a:extLst>
          </p:cNvPr>
          <p:cNvSpPr>
            <a:spLocks xmlns:a="http://schemas.openxmlformats.org/drawingml/2006/main" noGrp="1"/>
          </p:cNvSpPr>
          <p:nvPr/>
        </p:nvSpPr>
        <p:spPr>
          <a:xfrm xmlns:a="http://schemas.openxmlformats.org/drawingml/2006/main">
            <a:off x="167050" y="1258375"/>
            <a:ext cx="760500" cy="296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Arial"/>
                <a:ea typeface="Arial"/>
                <a:cs typeface="Arial"/>
              </a:rPr>
              <a:t>Encoder</a:t>
            </a:r>
            <a:endParaRPr sz="1000" b="1" i="0" u="none" cap="none">
              <a:solidFill>
                <a:schemeClr val="dk1"/>
              </a:solidFill>
              <a:latin typeface="Arial"/>
              <a:ea typeface="Arial"/>
              <a:cs typeface="Arial"/>
            </a:endParaRPr>
          </a:p>
        </p:txBody>
      </p:sp>
      <p:sp>
        <p:nvSpPr>
          <p:cNvPr id="72" name="Google Shape;72;p3">
            <a:extLst xmlns:a="http://schemas.openxmlformats.org/drawingml/2006/main">
              <a:ext uri="{FF2B5EF4-FFF2-40B4-BE49-F238E27FC236}">
                <a16:creationId xmlns:a16="http://schemas.microsoft.com/office/drawing/2014/main" id="{0E79EEA8-F8A4-4FE3-BC1D-668A9DF62656}"/>
              </a:ext>
            </a:extLst>
          </p:cNvPr>
          <p:cNvSpPr>
            <a:spLocks xmlns:a="http://schemas.openxmlformats.org/drawingml/2006/main" noGrp="1"/>
          </p:cNvSpPr>
          <p:nvPr/>
        </p:nvSpPr>
        <p:spPr>
          <a:xfrm xmlns:a="http://schemas.openxmlformats.org/drawingml/2006/main">
            <a:off x="4469250" y="1258378"/>
            <a:ext cx="760500" cy="296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Arial"/>
                <a:ea typeface="Arial"/>
                <a:cs typeface="Arial"/>
              </a:rPr>
              <a:t>Decoder</a:t>
            </a:r>
            <a:endParaRPr sz="1000" b="1" i="0" u="none" cap="none">
              <a:solidFill>
                <a:schemeClr val="dk1"/>
              </a:solidFill>
              <a:latin typeface="Arial"/>
              <a:ea typeface="Arial"/>
              <a:cs typeface="Arial"/>
            </a:endParaRPr>
          </a:p>
        </p:txBody>
      </p:sp>
      <p:sp>
        <p:nvSpPr>
          <p:cNvPr id="73" name="Google Shape;73;p3">
            <a:extLst xmlns:a="http://schemas.openxmlformats.org/drawingml/2006/main">
              <a:ext uri="{FF2B5EF4-FFF2-40B4-BE49-F238E27FC236}">
                <a16:creationId xmlns:a16="http://schemas.microsoft.com/office/drawing/2014/main" id="{BFB6D383-22AD-4654-8854-1B6AC97C98E2}"/>
              </a:ext>
            </a:extLst>
          </p:cNvPr>
          <p:cNvSpPr>
            <a:spLocks xmlns:a="http://schemas.openxmlformats.org/drawingml/2006/main" noGrp="1"/>
          </p:cNvSpPr>
          <p:nvPr/>
        </p:nvSpPr>
        <p:spPr>
          <a:xfrm xmlns:a="http://schemas.openxmlformats.org/drawingml/2006/main">
            <a:off x="166975" y="4473546"/>
            <a:ext cx="4179000" cy="296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900"/>
              <a:buFont typeface="Arial"/>
              <a:buNone/>
            </a:pPr>
            <a:r>
              <a:rPr sz="900" b="0" i="0" u="none" cap="none">
                <a:solidFill>
                  <a:schemeClr val="dk1"/>
                </a:solidFill>
                <a:latin typeface="Arial"/>
                <a:ea typeface="Arial"/>
                <a:cs typeface="Arial"/>
              </a:rPr>
              <a:t>The output of the last linear layer is the </a:t>
            </a:r>
            <a:r>
              <a:rPr sz="900" b="1" i="0" u="none" cap="none">
                <a:solidFill>
                  <a:schemeClr val="dk1"/>
                </a:solidFill>
                <a:latin typeface="Arial"/>
                <a:ea typeface="Arial"/>
                <a:cs typeface="Arial"/>
              </a:rPr>
              <a:t>bottleneck</a:t>
            </a:r>
            <a:r>
              <a:rPr sz="900" b="0" i="0" u="none" cap="none">
                <a:solidFill>
                  <a:schemeClr val="dk1"/>
                </a:solidFill>
                <a:latin typeface="Arial"/>
                <a:ea typeface="Arial"/>
                <a:cs typeface="Arial"/>
              </a:rPr>
              <a:t> (latent representation)</a:t>
            </a:r>
            <a:endParaRPr sz="900" b="0" i="0" u="none" cap="none">
              <a:solidFill>
                <a:schemeClr val="dk1"/>
              </a:solidFill>
              <a:latin typeface="Arial"/>
              <a:ea typeface="Arial"/>
              <a:cs typeface="Arial"/>
            </a:endParaRPr>
          </a:p>
        </p:txBody>
      </p:sp>
      <p:sp>
        <p:nvSpPr>
          <p:cNvPr id="74" name="Google Shape;74;p3">
            <a:extLst xmlns:a="http://schemas.openxmlformats.org/drawingml/2006/main">
              <a:ext uri="{FF2B5EF4-FFF2-40B4-BE49-F238E27FC236}">
                <a16:creationId xmlns:a16="http://schemas.microsoft.com/office/drawing/2014/main" id="{14CAC5C4-6039-4722-81BE-F1C3459513E1}"/>
              </a:ext>
            </a:extLst>
          </p:cNvPr>
          <p:cNvSpPr>
            <a:spLocks xmlns:a="http://schemas.openxmlformats.org/drawingml/2006/main" noGrp="1"/>
          </p:cNvSpPr>
          <p:nvPr/>
        </p:nvSpPr>
        <p:spPr>
          <a:xfrm xmlns:a="http://schemas.openxmlformats.org/drawingml/2006/main">
            <a:off x="4469250" y="4290700"/>
            <a:ext cx="4179000" cy="661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1100"/>
              <a:buFont typeface="Arial"/>
              <a:buNone/>
            </a:pPr>
            <a:r>
              <a:rPr sz="900" b="0" i="0" u="none" cap="none">
                <a:solidFill>
                  <a:schemeClr val="dk1"/>
                </a:solidFill>
                <a:latin typeface="Arial"/>
                <a:ea typeface="Arial"/>
                <a:cs typeface="Arial"/>
              </a:rPr>
              <a:t>This is the architecture of the </a:t>
            </a:r>
            <a:r>
              <a:rPr sz="900" b="1" i="0" u="none" cap="none">
                <a:solidFill>
                  <a:schemeClr val="dk1"/>
                </a:solidFill>
                <a:latin typeface="Arial"/>
                <a:ea typeface="Arial"/>
                <a:cs typeface="Arial"/>
              </a:rPr>
              <a:t>plain AE</a:t>
            </a:r>
            <a:r>
              <a:rPr sz="900" b="0" i="0" u="none" cap="none">
                <a:solidFill>
                  <a:schemeClr val="dk1"/>
                </a:solidFill>
                <a:latin typeface="Arial"/>
                <a:ea typeface="Arial"/>
                <a:cs typeface="Arial"/>
              </a:rPr>
              <a:t>.</a:t>
            </a:r>
            <a:endParaRPr sz="9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900"/>
              <a:buFont typeface="Arial"/>
              <a:buNone/>
            </a:pPr>
            <a:r>
              <a:rPr sz="900" b="0" i="0" u="none" cap="none">
                <a:solidFill>
                  <a:schemeClr val="dk1"/>
                </a:solidFill>
                <a:latin typeface="Arial"/>
                <a:ea typeface="Arial"/>
                <a:cs typeface="Arial"/>
              </a:rPr>
              <a:t>VAE and DAE reuse the same blocks, changing only the bottleneck behaviour and the input/target.</a:t>
            </a:r>
            <a:endParaRPr sz="900" b="0" i="0" u="none" cap="none">
              <a:solidFill>
                <a:schemeClr val="dk1"/>
              </a:solidFill>
              <a:latin typeface="Arial"/>
              <a:ea typeface="Arial"/>
              <a:cs typeface="Arial"/>
            </a:endParaRPr>
          </a:p>
        </p:txBody>
      </p:sp>
    </p:spTree>
    <p:extLst>
      <p:ext uri="{BB962C8B-B14F-4D97-AF65-F5344CB8AC3E}">
        <p14:creationId xmlns:p14="http://schemas.microsoft.com/office/powerpoint/2010/main" val="99843768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4">
            <a:extLst xmlns:a="http://schemas.openxmlformats.org/drawingml/2006/main">
              <a:ext uri="{FF2B5EF4-FFF2-40B4-BE49-F238E27FC236}">
                <a16:creationId xmlns:a16="http://schemas.microsoft.com/office/drawing/2014/main" id="{598ED417-5B03-4067-B8A2-439FBF6C332A}"/>
              </a:ext>
            </a:extLst>
          </p:cNvPr>
          <p:cNvSpPr>
            <a:spLocks xmlns:a="http://schemas.openxmlformats.org/drawingml/2006/main" noGrp="1"/>
          </p:cNvSpPr>
          <p:nvPr/>
        </p:nvSpPr>
        <p:spPr>
          <a:xfrm xmlns:a="http://schemas.openxmlformats.org/drawingml/2006/main">
            <a:off x="167050" y="131275"/>
            <a:ext cx="8730600" cy="4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1100"/>
              <a:buFont typeface="Arial"/>
              <a:buNone/>
            </a:pPr>
            <a:r>
              <a:rPr sz="2200" b="1" i="0" u="none" cap="none">
                <a:solidFill>
                  <a:schemeClr val="dk2"/>
                </a:solidFill>
                <a:latin typeface="Arial"/>
                <a:ea typeface="Arial"/>
                <a:cs typeface="Arial"/>
              </a:rPr>
              <a:t>1.2  Hyperparameters</a:t>
            </a:r>
            <a:endParaRPr sz="2200" b="1" i="0" u="none" cap="none">
              <a:solidFill>
                <a:schemeClr val="dk2"/>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200"/>
              <a:buFont typeface="Arial"/>
              <a:buNone/>
            </a:pPr>
            <a:r>
              <a:t/>
            </a:r>
            <a:endParaRPr sz="2200" b="1" i="0" u="none" cap="none">
              <a:solidFill>
                <a:srgbClr val="595959"/>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200"/>
              <a:buFont typeface="Arial"/>
              <a:buNone/>
            </a:pPr>
            <a:r>
              <a:t/>
            </a:r>
            <a:endParaRPr sz="2200" b="1" i="0" u="none" cap="none">
              <a:solidFill>
                <a:srgbClr val="595959"/>
              </a:solidFill>
              <a:latin typeface="Arial"/>
              <a:ea typeface="Arial"/>
              <a:cs typeface="Arial"/>
            </a:endParaRPr>
          </a:p>
        </p:txBody>
      </p:sp>
      <p:sp>
        <p:nvSpPr>
          <p:cNvPr id="80" name="Google Shape;80;p4">
            <a:extLst xmlns:a="http://schemas.openxmlformats.org/drawingml/2006/main">
              <a:ext uri="{FF2B5EF4-FFF2-40B4-BE49-F238E27FC236}">
                <a16:creationId xmlns:a16="http://schemas.microsoft.com/office/drawing/2014/main" id="{E93B918E-5A68-4231-A9D2-9740F390A50E}"/>
              </a:ext>
            </a:extLst>
          </p:cNvPr>
          <p:cNvSpPr>
            <a:spLocks xmlns:a="http://schemas.openxmlformats.org/drawingml/2006/main" noGrp="1"/>
          </p:cNvSpPr>
          <p:nvPr/>
        </p:nvSpPr>
        <p:spPr>
          <a:xfrm xmlns:a="http://schemas.openxmlformats.org/drawingml/2006/main">
            <a:off x="90600" y="596575"/>
            <a:ext cx="8962800" cy="3540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pPr>
            <a:r>
              <a:rPr sz="1100" b="1" i="0" u="none" cap="none">
                <a:solidFill>
                  <a:srgbClr val="000000"/>
                </a:solidFill>
                <a:latin typeface="Arial"/>
                <a:ea typeface="Arial"/>
                <a:cs typeface="Arial"/>
              </a:rPr>
              <a:t>Hyperparameters</a:t>
            </a:r>
            <a:endParaRPr sz="1100" b="1" i="0" u="none" cap="none">
              <a:solidFill>
                <a:srgbClr val="000000"/>
              </a:solidFill>
              <a:latin typeface="Arial"/>
              <a:ea typeface="Arial"/>
              <a:cs typeface="Arial"/>
            </a:endParaRPr>
          </a:p>
        </p:txBody>
      </p:sp>
      <p:graphicFrame>
        <p:nvGraphicFramePr>
          <p:cNvPr id="85" name="Google Shape;81;p4"/>
          <p:cNvGraphicFramePr/>
          <p:nvPr/>
        </p:nvGraphicFramePr>
        <p:xfrm>
          <a:off xmlns:a="http://schemas.openxmlformats.org/drawingml/2006/main" x="242750" y="1134720"/>
          <a:ext xmlns:a="http://schemas.openxmlformats.org/drawingml/2006/main" cx="3000000" cy="3000000"/>
        </p:xfrm>
        <a:graphic xmlns:a="http://schemas.openxmlformats.org/drawingml/2006/main">
          <a:graphicData uri="http://schemas.openxmlformats.org/drawingml/2006/table">
            <a:tbl>
              <a:tblPr>
                <a:tableStyleId>{E9C96EFF-C137-458B-89EA-79B6DC1AD40E}</a:tableStyleId>
              </a:tblPr>
              <a:tblGrid>
                <a:gridCol w="816900"/>
                <a:gridCol w="1028100"/>
                <a:gridCol w="537750"/>
                <a:gridCol w="2111300"/>
              </a:tblGrid>
              <a:tr h="436325">
                <a:tc>
                  <a:txBody>
                    <a:bodyPr/>
                    <a:lstStyle/>
                    <a:p>
                      <a:pPr marL="0" marR="0" lvl="0" indent="0" algn="ctr">
                        <a:lnSpc>
                          <a:spcPct val="115000"/>
                        </a:lnSpc>
                        <a:spcBef>
                          <a:spcPts val="0"/>
                        </a:spcBef>
                        <a:spcAft>
                          <a:spcPts val="0"/>
                        </a:spcAft>
                        <a:buClr>
                          <a:srgbClr val="000000"/>
                        </a:buClr>
                        <a:buSzPts val="800"/>
                        <a:buFont typeface="Arial"/>
                        <a:buNone/>
                      </a:pPr>
                      <a:r>
                        <a:rPr sz="800" b="1" u="none" cap="none"/>
                        <a:t>Category</a:t>
                      </a:r>
                      <a:endParaRPr sz="8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ctr">
                        <a:lnSpc>
                          <a:spcPct val="115000"/>
                        </a:lnSpc>
                        <a:spcBef>
                          <a:spcPts val="0"/>
                        </a:spcBef>
                        <a:spcAft>
                          <a:spcPts val="0"/>
                        </a:spcAft>
                        <a:buClr>
                          <a:srgbClr val="000000"/>
                        </a:buClr>
                        <a:buSzPts val="800"/>
                        <a:buFont typeface="Arial"/>
                        <a:buNone/>
                      </a:pPr>
                      <a:r>
                        <a:rPr sz="800" b="1" u="none" cap="none"/>
                        <a:t>Hyperparameter</a:t>
                      </a:r>
                      <a:endParaRPr sz="8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ctr">
                        <a:lnSpc>
                          <a:spcPct val="115000"/>
                        </a:lnSpc>
                        <a:spcBef>
                          <a:spcPts val="0"/>
                        </a:spcBef>
                        <a:spcAft>
                          <a:spcPts val="0"/>
                        </a:spcAft>
                        <a:buClr>
                          <a:srgbClr val="000000"/>
                        </a:buClr>
                        <a:buSzPts val="800"/>
                        <a:buFont typeface="Arial"/>
                        <a:buNone/>
                      </a:pPr>
                      <a:r>
                        <a:rPr sz="800" b="1" u="none" cap="none"/>
                        <a:t>Value</a:t>
                      </a:r>
                      <a:endParaRPr sz="8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ctr">
                        <a:lnSpc>
                          <a:spcPct val="115000"/>
                        </a:lnSpc>
                        <a:spcBef>
                          <a:spcPts val="0"/>
                        </a:spcBef>
                        <a:spcAft>
                          <a:spcPts val="0"/>
                        </a:spcAft>
                        <a:buClr>
                          <a:srgbClr val="000000"/>
                        </a:buClr>
                        <a:buSzPts val="800"/>
                        <a:buFont typeface="Arial"/>
                        <a:buNone/>
                      </a:pPr>
                      <a:r>
                        <a:rPr sz="800" b="1" u="none" cap="none"/>
                        <a:t>Comment</a:t>
                      </a:r>
                      <a:endParaRPr sz="8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576650">
                <a:tc>
                  <a:txBody>
                    <a:bodyPr/>
                    <a:lstStyle/>
                    <a:p>
                      <a:pPr marL="0" marR="0" lvl="0" indent="0" algn="l">
                        <a:lnSpc>
                          <a:spcPct val="100000"/>
                        </a:lnSpc>
                        <a:spcBef>
                          <a:spcPts val="0"/>
                        </a:spcBef>
                        <a:spcAft>
                          <a:spcPts val="0"/>
                        </a:spcAft>
                        <a:buClr>
                          <a:srgbClr val="000000"/>
                        </a:buClr>
                        <a:buSzPts val="800"/>
                        <a:buFont typeface="Arial"/>
                        <a:buNone/>
                      </a:pPr>
                      <a:r>
                        <a:rPr sz="800" u="none" cap="none"/>
                        <a:t>Model (latent space)</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latent_dim</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32</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Dimension of the bottleneck / latent vector.</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576650">
                <a:tc>
                  <a:txBody>
                    <a:bodyPr/>
                    <a:lstStyle/>
                    <a:p>
                      <a:pPr marL="0" marR="0" lvl="0" indent="0" algn="l">
                        <a:lnSpc>
                          <a:spcPct val="100000"/>
                        </a:lnSpc>
                        <a:spcBef>
                          <a:spcPts val="0"/>
                        </a:spcBef>
                        <a:spcAft>
                          <a:spcPts val="0"/>
                        </a:spcAft>
                        <a:buClr>
                          <a:srgbClr val="000000"/>
                        </a:buClr>
                        <a:buSzPts val="800"/>
                        <a:buFont typeface="Arial"/>
                        <a:buNone/>
                      </a:pPr>
                      <a:r>
                        <a:rPr sz="800" u="none" cap="none"/>
                        <a:t>Data / DataLoader</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batch_size</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100</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Batch size for AE, VAE, DAE and classifier.</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410800">
                <a:tc>
                  <a:txBody>
                    <a:bodyPr/>
                    <a:lstStyle/>
                    <a:p>
                      <a:pPr marL="0" marR="0" lvl="0" indent="0" algn="l">
                        <a:lnSpc>
                          <a:spcPct val="100000"/>
                        </a:lnSpc>
                        <a:spcBef>
                          <a:spcPts val="0"/>
                        </a:spcBef>
                        <a:spcAft>
                          <a:spcPts val="0"/>
                        </a:spcAft>
                        <a:buClr>
                          <a:srgbClr val="000000"/>
                        </a:buClr>
                        <a:buSzPts val="800"/>
                        <a:buFont typeface="Arial"/>
                        <a:buNone/>
                      </a:pPr>
                      <a:r>
                        <a:rPr sz="800" u="none" cap="none"/>
                        <a:t>AE training</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epochs_ae</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20</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Number of epochs for the Autoencoder.</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410800">
                <a:tc>
                  <a:txBody>
                    <a:bodyPr/>
                    <a:lstStyle/>
                    <a:p>
                      <a:pPr marL="0" marR="0" lvl="0" indent="0" algn="l">
                        <a:lnSpc>
                          <a:spcPct val="100000"/>
                        </a:lnSpc>
                        <a:spcBef>
                          <a:spcPts val="0"/>
                        </a:spcBef>
                        <a:spcAft>
                          <a:spcPts val="0"/>
                        </a:spcAft>
                        <a:buClr>
                          <a:srgbClr val="000000"/>
                        </a:buClr>
                        <a:buSzPts val="800"/>
                        <a:buFont typeface="Arial"/>
                        <a:buNone/>
                      </a:pPr>
                      <a:r>
                        <a:rPr sz="800" u="none" cap="none"/>
                        <a:t>VAE training</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epochs_vae</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20</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Number of epochs for the Variational AE.</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410800">
                <a:tc>
                  <a:txBody>
                    <a:bodyPr/>
                    <a:lstStyle/>
                    <a:p>
                      <a:pPr marL="0" marR="0" lvl="0" indent="0" algn="l">
                        <a:lnSpc>
                          <a:spcPct val="100000"/>
                        </a:lnSpc>
                        <a:spcBef>
                          <a:spcPts val="0"/>
                        </a:spcBef>
                        <a:spcAft>
                          <a:spcPts val="0"/>
                        </a:spcAft>
                        <a:buClr>
                          <a:srgbClr val="000000"/>
                        </a:buClr>
                        <a:buSzPts val="800"/>
                        <a:buFont typeface="Arial"/>
                        <a:buNone/>
                      </a:pPr>
                      <a:r>
                        <a:rPr sz="800" u="none" cap="none"/>
                        <a:t>DAE training</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epochs_dae</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20</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Number of epochs for the Denoising AE.</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576650">
                <a:tc>
                  <a:txBody>
                    <a:bodyPr/>
                    <a:lstStyle/>
                    <a:p>
                      <a:pPr marL="0" marR="0" lvl="0" indent="0" algn="l">
                        <a:lnSpc>
                          <a:spcPct val="100000"/>
                        </a:lnSpc>
                        <a:spcBef>
                          <a:spcPts val="0"/>
                        </a:spcBef>
                        <a:spcAft>
                          <a:spcPts val="0"/>
                        </a:spcAft>
                        <a:buClr>
                          <a:srgbClr val="000000"/>
                        </a:buClr>
                        <a:buSzPts val="800"/>
                        <a:buFont typeface="Arial"/>
                        <a:buNone/>
                      </a:pPr>
                      <a:r>
                        <a:rPr sz="800" u="none" cap="none"/>
                        <a:t>Classifier training</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epochs_clf</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20</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Epochs for the MLP classifier on top of encoder.</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410800">
                <a:tc>
                  <a:txBody>
                    <a:bodyPr/>
                    <a:lstStyle/>
                    <a:p>
                      <a:pPr marL="0" marR="0" lvl="0" indent="0" algn="l">
                        <a:lnSpc>
                          <a:spcPct val="100000"/>
                        </a:lnSpc>
                        <a:spcBef>
                          <a:spcPts val="0"/>
                        </a:spcBef>
                        <a:spcAft>
                          <a:spcPts val="0"/>
                        </a:spcAft>
                        <a:buClr>
                          <a:srgbClr val="000000"/>
                        </a:buClr>
                        <a:buSzPts val="800"/>
                        <a:buFont typeface="Arial"/>
                        <a:buNone/>
                      </a:pPr>
                      <a:r>
                        <a:rPr sz="800" u="none" cap="none"/>
                        <a:t>Optimization</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lr</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1e-3</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Learning rate for all models (Adam).</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bl>
          </a:graphicData>
        </a:graphic>
      </p:graphicFrame>
      <p:graphicFrame>
        <p:nvGraphicFramePr>
          <p:cNvPr id="86" name="Google Shape;82;p4"/>
          <p:cNvGraphicFramePr/>
          <p:nvPr/>
        </p:nvGraphicFramePr>
        <p:xfrm>
          <a:off xmlns:a="http://schemas.openxmlformats.org/drawingml/2006/main" x="4853050" y="1134725"/>
          <a:ext xmlns:a="http://schemas.openxmlformats.org/drawingml/2006/main" cx="3000000" cy="3000000"/>
        </p:xfrm>
        <a:graphic xmlns:a="http://schemas.openxmlformats.org/drawingml/2006/main">
          <a:graphicData uri="http://schemas.openxmlformats.org/drawingml/2006/table">
            <a:tbl>
              <a:tblPr>
                <a:tableStyleId>{E9C96EFF-C137-458B-89EA-79B6DC1AD40E}</a:tableStyleId>
              </a:tblPr>
              <a:tblGrid>
                <a:gridCol w="719300"/>
                <a:gridCol w="994600"/>
                <a:gridCol w="655900"/>
                <a:gridCol w="1775825"/>
              </a:tblGrid>
              <a:tr h="525650">
                <a:tc>
                  <a:txBody>
                    <a:bodyPr/>
                    <a:lstStyle/>
                    <a:p>
                      <a:pPr marL="0" marR="0" lvl="0" indent="0" algn="ctr">
                        <a:lnSpc>
                          <a:spcPct val="115000"/>
                        </a:lnSpc>
                        <a:spcBef>
                          <a:spcPts val="0"/>
                        </a:spcBef>
                        <a:spcAft>
                          <a:spcPts val="0"/>
                        </a:spcAft>
                        <a:buClr>
                          <a:srgbClr val="000000"/>
                        </a:buClr>
                        <a:buSzPts val="800"/>
                        <a:buFont typeface="Arial"/>
                        <a:buNone/>
                      </a:pPr>
                      <a:r>
                        <a:rPr sz="800" b="1" u="none" cap="none"/>
                        <a:t>Category</a:t>
                      </a:r>
                      <a:endParaRPr sz="8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ctr">
                        <a:lnSpc>
                          <a:spcPct val="115000"/>
                        </a:lnSpc>
                        <a:spcBef>
                          <a:spcPts val="0"/>
                        </a:spcBef>
                        <a:spcAft>
                          <a:spcPts val="0"/>
                        </a:spcAft>
                        <a:buClr>
                          <a:srgbClr val="000000"/>
                        </a:buClr>
                        <a:buSzPts val="800"/>
                        <a:buFont typeface="Arial"/>
                        <a:buNone/>
                      </a:pPr>
                      <a:r>
                        <a:rPr sz="800" b="1" u="none" cap="none"/>
                        <a:t>Hyperparameter</a:t>
                      </a:r>
                      <a:endParaRPr sz="8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ctr">
                        <a:lnSpc>
                          <a:spcPct val="115000"/>
                        </a:lnSpc>
                        <a:spcBef>
                          <a:spcPts val="0"/>
                        </a:spcBef>
                        <a:spcAft>
                          <a:spcPts val="0"/>
                        </a:spcAft>
                        <a:buClr>
                          <a:srgbClr val="000000"/>
                        </a:buClr>
                        <a:buSzPts val="800"/>
                        <a:buFont typeface="Arial"/>
                        <a:buNone/>
                      </a:pPr>
                      <a:r>
                        <a:rPr sz="800" b="1" u="none" cap="none"/>
                        <a:t>Value</a:t>
                      </a:r>
                      <a:endParaRPr sz="8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ctr">
                        <a:lnSpc>
                          <a:spcPct val="115000"/>
                        </a:lnSpc>
                        <a:spcBef>
                          <a:spcPts val="0"/>
                        </a:spcBef>
                        <a:spcAft>
                          <a:spcPts val="0"/>
                        </a:spcAft>
                        <a:buClr>
                          <a:srgbClr val="000000"/>
                        </a:buClr>
                        <a:buSzPts val="800"/>
                        <a:buFont typeface="Arial"/>
                        <a:buNone/>
                      </a:pPr>
                      <a:r>
                        <a:rPr sz="800" b="1" u="none" cap="none"/>
                        <a:t>Comment</a:t>
                      </a:r>
                      <a:endParaRPr sz="8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611675">
                <a:tc>
                  <a:txBody>
                    <a:bodyPr/>
                    <a:lstStyle/>
                    <a:p>
                      <a:pPr marL="0" marR="0" lvl="0" indent="0" algn="l">
                        <a:lnSpc>
                          <a:spcPct val="100000"/>
                        </a:lnSpc>
                        <a:spcBef>
                          <a:spcPts val="0"/>
                        </a:spcBef>
                        <a:spcAft>
                          <a:spcPts val="0"/>
                        </a:spcAft>
                        <a:buClr>
                          <a:srgbClr val="000000"/>
                        </a:buClr>
                        <a:buSzPts val="800"/>
                        <a:buFont typeface="Arial"/>
                        <a:buNone/>
                      </a:pPr>
                      <a:r>
                        <a:rPr sz="800" u="none" cap="none"/>
                        <a:t>VAE regularisation</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beta_kl</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1.0</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Weight of the KL term in the VAE loss.</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611675">
                <a:tc>
                  <a:txBody>
                    <a:bodyPr/>
                    <a:lstStyle/>
                    <a:p>
                      <a:pPr marL="0" marR="0" lvl="0" indent="0" algn="l">
                        <a:lnSpc>
                          <a:spcPct val="100000"/>
                        </a:lnSpc>
                        <a:spcBef>
                          <a:spcPts val="0"/>
                        </a:spcBef>
                        <a:spcAft>
                          <a:spcPts val="0"/>
                        </a:spcAft>
                        <a:buClr>
                          <a:srgbClr val="000000"/>
                        </a:buClr>
                        <a:buSzPts val="800"/>
                        <a:buFont typeface="Arial"/>
                        <a:buNone/>
                      </a:pPr>
                      <a:r>
                        <a:rPr sz="800" u="none" cap="none"/>
                        <a:t>DAE regularisation</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noise_factor</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0.5</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Std factor of the Gaussian noise added to inputs.</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482925">
                <a:tc>
                  <a:txBody>
                    <a:bodyPr/>
                    <a:lstStyle/>
                    <a:p>
                      <a:pPr marL="0" marR="0" lvl="0" indent="0" algn="l">
                        <a:lnSpc>
                          <a:spcPct val="100000"/>
                        </a:lnSpc>
                        <a:spcBef>
                          <a:spcPts val="0"/>
                        </a:spcBef>
                        <a:spcAft>
                          <a:spcPts val="0"/>
                        </a:spcAft>
                        <a:buClr>
                          <a:srgbClr val="000000"/>
                        </a:buClr>
                        <a:buSzPts val="800"/>
                        <a:buFont typeface="Arial"/>
                        <a:buNone/>
                      </a:pPr>
                      <a:r>
                        <a:rPr sz="800" u="none" cap="none"/>
                        <a:t>Classifier architecture</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hidden_units</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128</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Size of the hidden layer in the classifier MLP.</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611675">
                <a:tc>
                  <a:txBody>
                    <a:bodyPr/>
                    <a:lstStyle/>
                    <a:p>
                      <a:pPr marL="0" marR="0" lvl="0" indent="0" algn="l">
                        <a:lnSpc>
                          <a:spcPct val="100000"/>
                        </a:lnSpc>
                        <a:spcBef>
                          <a:spcPts val="0"/>
                        </a:spcBef>
                        <a:spcAft>
                          <a:spcPts val="0"/>
                        </a:spcAft>
                        <a:buClr>
                          <a:srgbClr val="000000"/>
                        </a:buClr>
                        <a:buSzPts val="800"/>
                        <a:buFont typeface="Arial"/>
                        <a:buNone/>
                      </a:pPr>
                      <a:r>
                        <a:rPr sz="800" u="none" cap="none"/>
                        <a:t>Classifier regularisation</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dropout_p</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0.3</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Dropout probability in the classifier’s hidden layer.</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482925">
                <a:tc>
                  <a:txBody>
                    <a:bodyPr/>
                    <a:lstStyle/>
                    <a:p>
                      <a:pPr marL="0" marR="0" lvl="0" indent="0" algn="l">
                        <a:lnSpc>
                          <a:spcPct val="100000"/>
                        </a:lnSpc>
                        <a:spcBef>
                          <a:spcPts val="0"/>
                        </a:spcBef>
                        <a:spcAft>
                          <a:spcPts val="0"/>
                        </a:spcAft>
                        <a:buClr>
                          <a:srgbClr val="000000"/>
                        </a:buClr>
                        <a:buSzPts val="800"/>
                        <a:buFont typeface="Arial"/>
                        <a:buNone/>
                      </a:pPr>
                      <a:r>
                        <a:rPr sz="800" u="none" cap="none"/>
                        <a:t>t-SNE</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perplexity</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30 (default)</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Main hyperparameter for t-SNE latent visualisation.</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482925">
                <a:tc>
                  <a:txBody>
                    <a:bodyPr/>
                    <a:lstStyle/>
                    <a:p>
                      <a:pPr marL="0" marR="0" lvl="0" indent="0" algn="l">
                        <a:lnSpc>
                          <a:spcPct val="100000"/>
                        </a:lnSpc>
                        <a:spcBef>
                          <a:spcPts val="0"/>
                        </a:spcBef>
                        <a:spcAft>
                          <a:spcPts val="0"/>
                        </a:spcAft>
                        <a:buClr>
                          <a:srgbClr val="000000"/>
                        </a:buClr>
                        <a:buSzPts val="800"/>
                        <a:buFont typeface="Arial"/>
                        <a:buNone/>
                      </a:pPr>
                      <a:r>
                        <a:rPr sz="800" u="none" cap="none"/>
                        <a:t>t-SNE / sampling</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max_tsne_samples</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 5000 samples</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l">
                        <a:lnSpc>
                          <a:spcPct val="100000"/>
                        </a:lnSpc>
                        <a:spcBef>
                          <a:spcPts val="0"/>
                        </a:spcBef>
                        <a:spcAft>
                          <a:spcPts val="0"/>
                        </a:spcAft>
                        <a:buClr>
                          <a:srgbClr val="000000"/>
                        </a:buClr>
                        <a:buSzPts val="800"/>
                        <a:buFont typeface="Arial"/>
                        <a:buNone/>
                      </a:pPr>
                      <a:r>
                        <a:rPr sz="800" u="none" cap="none"/>
                        <a:t>Limit on the number of latent points used for t-SNE.</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bl>
          </a:graphicData>
        </a:graphic>
      </p:graphicFrame>
    </p:spTree>
    <p:extLst>
      <p:ext uri="{BB962C8B-B14F-4D97-AF65-F5344CB8AC3E}">
        <p14:creationId xmlns:p14="http://schemas.microsoft.com/office/powerpoint/2010/main" val="155828471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5">
            <a:extLst xmlns:a="http://schemas.openxmlformats.org/drawingml/2006/main">
              <a:ext uri="{FF2B5EF4-FFF2-40B4-BE49-F238E27FC236}">
                <a16:creationId xmlns:a16="http://schemas.microsoft.com/office/drawing/2014/main" id="{D1BFA2B6-879E-4ECC-9594-3394A4682C26}"/>
              </a:ext>
            </a:extLst>
          </p:cNvPr>
          <p:cNvSpPr>
            <a:spLocks xmlns:a="http://schemas.openxmlformats.org/drawingml/2006/main" noGrp="1"/>
          </p:cNvSpPr>
          <p:nvPr/>
        </p:nvSpPr>
        <p:spPr>
          <a:xfrm xmlns:a="http://schemas.openxmlformats.org/drawingml/2006/main">
            <a:off x="167050" y="131275"/>
            <a:ext cx="8730600" cy="4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1100"/>
              <a:buFont typeface="Arial"/>
              <a:buNone/>
            </a:pPr>
            <a:r>
              <a:rPr sz="2200" b="1" i="0" u="none" cap="none">
                <a:solidFill>
                  <a:schemeClr val="dk2"/>
                </a:solidFill>
                <a:latin typeface="Arial"/>
                <a:ea typeface="Arial"/>
                <a:cs typeface="Arial"/>
              </a:rPr>
              <a:t>1.3  Plots</a:t>
            </a:r>
            <a:endParaRPr sz="2200" b="1" i="0" u="none" cap="none">
              <a:solidFill>
                <a:schemeClr val="dk2"/>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200"/>
              <a:buFont typeface="Arial"/>
              <a:buNone/>
            </a:pPr>
            <a:r>
              <a:t/>
            </a:r>
            <a:endParaRPr sz="2200" b="1" i="0" u="none" cap="none">
              <a:solidFill>
                <a:srgbClr val="595959"/>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200"/>
              <a:buFont typeface="Arial"/>
              <a:buNone/>
            </a:pPr>
            <a:r>
              <a:t/>
            </a:r>
            <a:endParaRPr sz="2200" b="1" i="0" u="none" cap="none">
              <a:solidFill>
                <a:srgbClr val="595959"/>
              </a:solidFill>
              <a:latin typeface="Arial"/>
              <a:ea typeface="Arial"/>
              <a:cs typeface="Arial"/>
            </a:endParaRPr>
          </a:p>
        </p:txBody>
      </p:sp>
      <p:pic>
        <p:nvPicPr>
          <p:cNvPr id="102" name="Google Shape;88;p5"/>
          <p:cNvPicPr>
            <a:picLocks xmlns:a="http://schemas.openxmlformats.org/drawingml/2006/main" noChangeAspect="1"/>
          </p:cNvPicPr>
          <p:nvPr/>
        </p:nvPicPr>
        <p:blipFill rotWithShape="1">
          <a:blip xmlns:r="http://schemas.openxmlformats.org/officeDocument/2006/relationships" xmlns:a="http://schemas.openxmlformats.org/drawingml/2006/main" r:embed="R60f402479a6c45a0">
            <a:alphaModFix/>
          </a:blip>
          <a:srcRect xmlns:a="http://schemas.openxmlformats.org/drawingml/2006/main" l="0" t="0" r="0" b="0"/>
          <a:stretch xmlns:a="http://schemas.openxmlformats.org/drawingml/2006/main"/>
        </p:blipFill>
        <p:spPr>
          <a:xfrm xmlns:a="http://schemas.openxmlformats.org/drawingml/2006/main">
            <a:off x="2200375" y="442591"/>
            <a:ext cx="3954886" cy="655810"/>
          </a:xfrm>
          <a:prstGeom xmlns:a="http://schemas.openxmlformats.org/drawingml/2006/main" prst="rect">
            <a:avLst/>
          </a:prstGeom>
          <a:ln xmlns:a="http://schemas.openxmlformats.org/drawingml/2006/main">
            <a:noFill/>
          </a:ln>
        </p:spPr>
      </p:pic>
      <p:pic>
        <p:nvPicPr>
          <p:cNvPr id="103" name="Google Shape;89;p5"/>
          <p:cNvPicPr>
            <a:picLocks xmlns:a="http://schemas.openxmlformats.org/drawingml/2006/main" noChangeAspect="1"/>
          </p:cNvPicPr>
          <p:nvPr/>
        </p:nvPicPr>
        <p:blipFill rotWithShape="1">
          <a:blip xmlns:r="http://schemas.openxmlformats.org/officeDocument/2006/relationships" xmlns:a="http://schemas.openxmlformats.org/drawingml/2006/main" r:embed="Rfc7d590a60384327">
            <a:alphaModFix/>
          </a:blip>
          <a:srcRect xmlns:a="http://schemas.openxmlformats.org/drawingml/2006/main" l="0" t="0" r="0" b="0"/>
          <a:stretch xmlns:a="http://schemas.openxmlformats.org/drawingml/2006/main"/>
        </p:blipFill>
        <p:spPr>
          <a:xfrm xmlns:a="http://schemas.openxmlformats.org/drawingml/2006/main">
            <a:off x="2200388" y="1035601"/>
            <a:ext cx="3954857" cy="655800"/>
          </a:xfrm>
          <a:prstGeom xmlns:a="http://schemas.openxmlformats.org/drawingml/2006/main" prst="rect">
            <a:avLst/>
          </a:prstGeom>
          <a:ln xmlns:a="http://schemas.openxmlformats.org/drawingml/2006/main">
            <a:noFill/>
          </a:ln>
        </p:spPr>
      </p:pic>
      <p:pic>
        <p:nvPicPr>
          <p:cNvPr id="104" name="Google Shape;90;p5"/>
          <p:cNvPicPr>
            <a:picLocks xmlns:a="http://schemas.openxmlformats.org/drawingml/2006/main" noChangeAspect="1"/>
          </p:cNvPicPr>
          <p:nvPr/>
        </p:nvPicPr>
        <p:blipFill rotWithShape="1">
          <a:blip xmlns:r="http://schemas.openxmlformats.org/officeDocument/2006/relationships" xmlns:a="http://schemas.openxmlformats.org/drawingml/2006/main" r:embed="R78dc05e1481c4345">
            <a:alphaModFix/>
          </a:blip>
          <a:srcRect xmlns:a="http://schemas.openxmlformats.org/drawingml/2006/main" l="0" t="0" r="0" b="0"/>
          <a:stretch xmlns:a="http://schemas.openxmlformats.org/drawingml/2006/main"/>
        </p:blipFill>
        <p:spPr>
          <a:xfrm xmlns:a="http://schemas.openxmlformats.org/drawingml/2006/main">
            <a:off x="2193113" y="1801700"/>
            <a:ext cx="3954916" cy="655800"/>
          </a:xfrm>
          <a:prstGeom xmlns:a="http://schemas.openxmlformats.org/drawingml/2006/main" prst="rect">
            <a:avLst/>
          </a:prstGeom>
          <a:ln xmlns:a="http://schemas.openxmlformats.org/drawingml/2006/main">
            <a:noFill/>
          </a:ln>
        </p:spPr>
      </p:pic>
      <p:pic>
        <p:nvPicPr>
          <p:cNvPr id="105" name="Google Shape;91;p5"/>
          <p:cNvPicPr>
            <a:picLocks xmlns:a="http://schemas.openxmlformats.org/drawingml/2006/main" noChangeAspect="1"/>
          </p:cNvPicPr>
          <p:nvPr/>
        </p:nvPicPr>
        <p:blipFill rotWithShape="1">
          <a:blip xmlns:r="http://schemas.openxmlformats.org/officeDocument/2006/relationships" xmlns:a="http://schemas.openxmlformats.org/drawingml/2006/main" r:embed="Ra6caa33ea25b469f">
            <a:alphaModFix/>
          </a:blip>
          <a:srcRect xmlns:a="http://schemas.openxmlformats.org/drawingml/2006/main" l="0" t="0" r="0" b="0"/>
          <a:stretch xmlns:a="http://schemas.openxmlformats.org/drawingml/2006/main"/>
        </p:blipFill>
        <p:spPr>
          <a:xfrm xmlns:a="http://schemas.openxmlformats.org/drawingml/2006/main">
            <a:off x="2193125" y="2400751"/>
            <a:ext cx="3954901" cy="655800"/>
          </a:xfrm>
          <a:prstGeom xmlns:a="http://schemas.openxmlformats.org/drawingml/2006/main" prst="rect">
            <a:avLst/>
          </a:prstGeom>
          <a:ln xmlns:a="http://schemas.openxmlformats.org/drawingml/2006/main">
            <a:noFill/>
          </a:ln>
        </p:spPr>
      </p:pic>
      <p:pic>
        <p:nvPicPr>
          <p:cNvPr id="106" name="Google Shape;92;p5"/>
          <p:cNvPicPr>
            <a:picLocks xmlns:a="http://schemas.openxmlformats.org/drawingml/2006/main" noChangeAspect="1"/>
          </p:cNvPicPr>
          <p:nvPr/>
        </p:nvPicPr>
        <p:blipFill rotWithShape="1">
          <a:blip xmlns:r="http://schemas.openxmlformats.org/officeDocument/2006/relationships" xmlns:a="http://schemas.openxmlformats.org/drawingml/2006/main" r:embed="R4e0a04b4e8b54054">
            <a:alphaModFix/>
          </a:blip>
          <a:srcRect xmlns:a="http://schemas.openxmlformats.org/drawingml/2006/main" l="0" t="0" r="0" b="0"/>
          <a:stretch xmlns:a="http://schemas.openxmlformats.org/drawingml/2006/main"/>
        </p:blipFill>
        <p:spPr>
          <a:xfrm xmlns:a="http://schemas.openxmlformats.org/drawingml/2006/main">
            <a:off x="2201850" y="3155875"/>
            <a:ext cx="3954916" cy="655800"/>
          </a:xfrm>
          <a:prstGeom xmlns:a="http://schemas.openxmlformats.org/drawingml/2006/main" prst="rect">
            <a:avLst/>
          </a:prstGeom>
          <a:ln xmlns:a="http://schemas.openxmlformats.org/drawingml/2006/main">
            <a:noFill/>
          </a:ln>
        </p:spPr>
      </p:pic>
      <p:pic>
        <p:nvPicPr>
          <p:cNvPr id="107" name="Google Shape;93;p5"/>
          <p:cNvPicPr>
            <a:picLocks xmlns:a="http://schemas.openxmlformats.org/drawingml/2006/main" noChangeAspect="1"/>
          </p:cNvPicPr>
          <p:nvPr/>
        </p:nvPicPr>
        <p:blipFill rotWithShape="1">
          <a:blip xmlns:r="http://schemas.openxmlformats.org/officeDocument/2006/relationships" xmlns:a="http://schemas.openxmlformats.org/drawingml/2006/main" r:embed="Rec4ed1783f5b4789">
            <a:alphaModFix/>
          </a:blip>
          <a:srcRect xmlns:a="http://schemas.openxmlformats.org/drawingml/2006/main" l="0" t="0" r="0" b="0"/>
          <a:stretch xmlns:a="http://schemas.openxmlformats.org/drawingml/2006/main"/>
        </p:blipFill>
        <p:spPr>
          <a:xfrm xmlns:a="http://schemas.openxmlformats.org/drawingml/2006/main">
            <a:off x="2201800" y="3713676"/>
            <a:ext cx="3954916" cy="655800"/>
          </a:xfrm>
          <a:prstGeom xmlns:a="http://schemas.openxmlformats.org/drawingml/2006/main" prst="rect">
            <a:avLst/>
          </a:prstGeom>
          <a:ln xmlns:a="http://schemas.openxmlformats.org/drawingml/2006/main">
            <a:noFill/>
          </a:ln>
        </p:spPr>
      </p:pic>
      <p:pic>
        <p:nvPicPr>
          <p:cNvPr id="108" name="Google Shape;94;p5"/>
          <p:cNvPicPr>
            <a:picLocks xmlns:a="http://schemas.openxmlformats.org/drawingml/2006/main" noChangeAspect="1"/>
          </p:cNvPicPr>
          <p:nvPr/>
        </p:nvPicPr>
        <p:blipFill rotWithShape="1">
          <a:blip xmlns:r="http://schemas.openxmlformats.org/officeDocument/2006/relationships" xmlns:a="http://schemas.openxmlformats.org/drawingml/2006/main" r:embed="R0ee36079989d476d">
            <a:alphaModFix/>
          </a:blip>
          <a:srcRect xmlns:a="http://schemas.openxmlformats.org/drawingml/2006/main" l="0" t="0" r="0" b="0"/>
          <a:stretch xmlns:a="http://schemas.openxmlformats.org/drawingml/2006/main"/>
        </p:blipFill>
        <p:spPr>
          <a:xfrm xmlns:a="http://schemas.openxmlformats.org/drawingml/2006/main">
            <a:off x="2201800" y="4249953"/>
            <a:ext cx="3954916" cy="655800"/>
          </a:xfrm>
          <a:prstGeom xmlns:a="http://schemas.openxmlformats.org/drawingml/2006/main" prst="rect">
            <a:avLst/>
          </a:prstGeom>
          <a:ln xmlns:a="http://schemas.openxmlformats.org/drawingml/2006/main">
            <a:noFill/>
          </a:ln>
        </p:spPr>
      </p:pic>
      <p:pic>
        <p:nvPicPr>
          <p:cNvPr id="109" name="Google Shape;95;p5"/>
          <p:cNvPicPr>
            <a:picLocks xmlns:a="http://schemas.openxmlformats.org/drawingml/2006/main" noChangeAspect="1"/>
          </p:cNvPicPr>
          <p:nvPr/>
        </p:nvPicPr>
        <p:blipFill>
          <a:blip xmlns:r="http://schemas.openxmlformats.org/officeDocument/2006/relationships" xmlns:a="http://schemas.openxmlformats.org/drawingml/2006/main" r:embed="R70147dc3da054e0b">
            <a:alphaModFix/>
          </a:blip>
          <a:stretch xmlns:a="http://schemas.openxmlformats.org/drawingml/2006/main">
            <a:fillRect l="0" t="0" r="0" b="0"/>
          </a:stretch>
        </p:blipFill>
        <p:spPr>
          <a:xfrm xmlns:a="http://schemas.openxmlformats.org/drawingml/2006/main">
            <a:off x="6740825" y="248826"/>
            <a:ext cx="1797712" cy="1442600"/>
          </a:xfrm>
          <a:prstGeom xmlns:a="http://schemas.openxmlformats.org/drawingml/2006/main" prst="rect">
            <a:avLst/>
          </a:prstGeom>
          <a:ln xmlns:a="http://schemas.openxmlformats.org/drawingml/2006/main">
            <a:noFill/>
          </a:ln>
        </p:spPr>
      </p:pic>
      <p:pic>
        <p:nvPicPr>
          <p:cNvPr id="110" name="Google Shape;96;p5"/>
          <p:cNvPicPr>
            <a:picLocks xmlns:a="http://schemas.openxmlformats.org/drawingml/2006/main" noChangeAspect="1"/>
          </p:cNvPicPr>
          <p:nvPr/>
        </p:nvPicPr>
        <p:blipFill>
          <a:blip xmlns:r="http://schemas.openxmlformats.org/officeDocument/2006/relationships" xmlns:a="http://schemas.openxmlformats.org/drawingml/2006/main" r:embed="Rf9c9ad59b0844fc9">
            <a:alphaModFix/>
          </a:blip>
          <a:stretch xmlns:a="http://schemas.openxmlformats.org/drawingml/2006/main">
            <a:fillRect l="0" t="0" r="0" b="0"/>
          </a:stretch>
        </p:blipFill>
        <p:spPr>
          <a:xfrm xmlns:a="http://schemas.openxmlformats.org/drawingml/2006/main">
            <a:off x="6740825" y="1795013"/>
            <a:ext cx="1797700" cy="1442634"/>
          </a:xfrm>
          <a:prstGeom xmlns:a="http://schemas.openxmlformats.org/drawingml/2006/main" prst="rect">
            <a:avLst/>
          </a:prstGeom>
          <a:ln xmlns:a="http://schemas.openxmlformats.org/drawingml/2006/main">
            <a:noFill/>
          </a:ln>
        </p:spPr>
      </p:pic>
      <p:pic>
        <p:nvPicPr>
          <p:cNvPr id="111" name="Google Shape;97;p5"/>
          <p:cNvPicPr>
            <a:picLocks xmlns:a="http://schemas.openxmlformats.org/drawingml/2006/main" noChangeAspect="1"/>
          </p:cNvPicPr>
          <p:nvPr/>
        </p:nvPicPr>
        <p:blipFill>
          <a:blip xmlns:r="http://schemas.openxmlformats.org/officeDocument/2006/relationships" xmlns:a="http://schemas.openxmlformats.org/drawingml/2006/main" r:embed="Rf59d9ec13ee541ee">
            <a:alphaModFix/>
          </a:blip>
          <a:stretch xmlns:a="http://schemas.openxmlformats.org/drawingml/2006/main">
            <a:fillRect l="0" t="0" r="0" b="0"/>
          </a:stretch>
        </p:blipFill>
        <p:spPr>
          <a:xfrm xmlns:a="http://schemas.openxmlformats.org/drawingml/2006/main">
            <a:off x="6740825" y="3341250"/>
            <a:ext cx="1797700" cy="1442610"/>
          </a:xfrm>
          <a:prstGeom xmlns:a="http://schemas.openxmlformats.org/drawingml/2006/main" prst="rect">
            <a:avLst/>
          </a:prstGeom>
          <a:ln xmlns:a="http://schemas.openxmlformats.org/drawingml/2006/main">
            <a:noFill/>
          </a:ln>
        </p:spPr>
      </p:pic>
      <p:pic>
        <p:nvPicPr>
          <p:cNvPr id="112" name="Google Shape;98;p5"/>
          <p:cNvPicPr>
            <a:picLocks xmlns:a="http://schemas.openxmlformats.org/drawingml/2006/main" noChangeAspect="1"/>
          </p:cNvPicPr>
          <p:nvPr/>
        </p:nvPicPr>
        <p:blipFill rotWithShape="1">
          <a:blip xmlns:r="http://schemas.openxmlformats.org/officeDocument/2006/relationships" xmlns:a="http://schemas.openxmlformats.org/drawingml/2006/main" r:embed="R8c6e4fa3b1914fbd">
            <a:alphaModFix/>
          </a:blip>
          <a:srcRect xmlns:a="http://schemas.openxmlformats.org/drawingml/2006/main" l="1358" t="0" r="67273" b="0"/>
          <a:stretch xmlns:a="http://schemas.openxmlformats.org/drawingml/2006/main"/>
        </p:blipFill>
        <p:spPr>
          <a:xfrm xmlns:a="http://schemas.openxmlformats.org/drawingml/2006/main">
            <a:off x="382501" y="643161"/>
            <a:ext cx="1582250" cy="1426396"/>
          </a:xfrm>
          <a:prstGeom xmlns:a="http://schemas.openxmlformats.org/drawingml/2006/main" prst="rect">
            <a:avLst/>
          </a:prstGeom>
          <a:ln xmlns:a="http://schemas.openxmlformats.org/drawingml/2006/main">
            <a:noFill/>
          </a:ln>
        </p:spPr>
      </p:pic>
      <p:pic>
        <p:nvPicPr>
          <p:cNvPr id="113" name="Google Shape;99;p5"/>
          <p:cNvPicPr>
            <a:picLocks xmlns:a="http://schemas.openxmlformats.org/drawingml/2006/main" noChangeAspect="1"/>
          </p:cNvPicPr>
          <p:nvPr/>
        </p:nvPicPr>
        <p:blipFill rotWithShape="1">
          <a:blip xmlns:r="http://schemas.openxmlformats.org/officeDocument/2006/relationships" xmlns:a="http://schemas.openxmlformats.org/drawingml/2006/main" r:embed="R8c6e4fa3b1914fbd">
            <a:alphaModFix/>
          </a:blip>
          <a:srcRect xmlns:a="http://schemas.openxmlformats.org/drawingml/2006/main" l="32433" t="0" r="36828" b="0"/>
          <a:stretch xmlns:a="http://schemas.openxmlformats.org/drawingml/2006/main"/>
        </p:blipFill>
        <p:spPr>
          <a:xfrm xmlns:a="http://schemas.openxmlformats.org/drawingml/2006/main">
            <a:off x="382500" y="2127021"/>
            <a:ext cx="1582250" cy="1455575"/>
          </a:xfrm>
          <a:prstGeom xmlns:a="http://schemas.openxmlformats.org/drawingml/2006/main" prst="rect">
            <a:avLst/>
          </a:prstGeom>
          <a:ln xmlns:a="http://schemas.openxmlformats.org/drawingml/2006/main">
            <a:noFill/>
          </a:ln>
        </p:spPr>
      </p:pic>
      <p:pic>
        <p:nvPicPr>
          <p:cNvPr id="114" name="Google Shape;100;p5"/>
          <p:cNvPicPr>
            <a:picLocks xmlns:a="http://schemas.openxmlformats.org/drawingml/2006/main" noChangeAspect="1"/>
          </p:cNvPicPr>
          <p:nvPr/>
        </p:nvPicPr>
        <p:blipFill rotWithShape="1">
          <a:blip xmlns:r="http://schemas.openxmlformats.org/officeDocument/2006/relationships" xmlns:a="http://schemas.openxmlformats.org/drawingml/2006/main" r:embed="R8c6e4fa3b1914fbd">
            <a:alphaModFix/>
          </a:blip>
          <a:srcRect xmlns:a="http://schemas.openxmlformats.org/drawingml/2006/main" l="63520" t="0" r="6502" b="0"/>
          <a:stretch xmlns:a="http://schemas.openxmlformats.org/drawingml/2006/main"/>
        </p:blipFill>
        <p:spPr>
          <a:xfrm xmlns:a="http://schemas.openxmlformats.org/drawingml/2006/main">
            <a:off x="382500" y="3661067"/>
            <a:ext cx="1582250" cy="1492558"/>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4791829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5" name="Google Shape;105;p6">
            <a:extLst xmlns:a="http://schemas.openxmlformats.org/drawingml/2006/main">
              <a:ext uri="{FF2B5EF4-FFF2-40B4-BE49-F238E27FC236}">
                <a16:creationId xmlns:a16="http://schemas.microsoft.com/office/drawing/2014/main" id="{9B9C57A9-F481-4E9C-9F9C-FBD0C80BCE92}"/>
              </a:ext>
            </a:extLst>
          </p:cNvPr>
          <p:cNvSpPr>
            <a:spLocks xmlns:a="http://schemas.openxmlformats.org/drawingml/2006/main" noGrp="1"/>
          </p:cNvSpPr>
          <p:nvPr/>
        </p:nvSpPr>
        <p:spPr>
          <a:xfrm xmlns:a="http://schemas.openxmlformats.org/drawingml/2006/main">
            <a:off x="167050" y="131275"/>
            <a:ext cx="8730600" cy="4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1100"/>
              <a:buFont typeface="Arial"/>
              <a:buNone/>
            </a:pPr>
            <a:r>
              <a:rPr sz="2200" b="1" i="0" u="none" cap="none">
                <a:solidFill>
                  <a:schemeClr val="dk2"/>
                </a:solidFill>
                <a:latin typeface="Arial"/>
                <a:ea typeface="Arial"/>
                <a:cs typeface="Arial"/>
              </a:rPr>
              <a:t>1.4   Classification architectures used and results obtained</a:t>
            </a:r>
            <a:endParaRPr sz="2200" b="1" i="0" u="none" cap="none">
              <a:solidFill>
                <a:schemeClr val="dk2"/>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200"/>
              <a:buFont typeface="Arial"/>
              <a:buNone/>
            </a:pPr>
            <a:r>
              <a:t/>
            </a:r>
            <a:endParaRPr sz="2200" b="1" i="0" u="none" cap="none">
              <a:solidFill>
                <a:srgbClr val="595959"/>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200"/>
              <a:buFont typeface="Arial"/>
              <a:buNone/>
            </a:pPr>
            <a:r>
              <a:t/>
            </a:r>
            <a:endParaRPr sz="2200" b="1" i="0" u="none" cap="none">
              <a:solidFill>
                <a:srgbClr val="595959"/>
              </a:solidFill>
              <a:latin typeface="Arial"/>
              <a:ea typeface="Arial"/>
              <a:cs typeface="Arial"/>
            </a:endParaRPr>
          </a:p>
        </p:txBody>
      </p:sp>
      <p:sp>
        <p:nvSpPr>
          <p:cNvPr id="106" name="Google Shape;106;p6">
            <a:extLst xmlns:a="http://schemas.openxmlformats.org/drawingml/2006/main">
              <a:ext uri="{FF2B5EF4-FFF2-40B4-BE49-F238E27FC236}">
                <a16:creationId xmlns:a16="http://schemas.microsoft.com/office/drawing/2014/main" id="{FBF66064-60C1-4314-A679-FD1FCAAB1C4C}"/>
              </a:ext>
            </a:extLst>
          </p:cNvPr>
          <p:cNvSpPr>
            <a:spLocks xmlns:a="http://schemas.openxmlformats.org/drawingml/2006/main" noGrp="1"/>
          </p:cNvSpPr>
          <p:nvPr/>
        </p:nvSpPr>
        <p:spPr>
          <a:xfrm xmlns:a="http://schemas.openxmlformats.org/drawingml/2006/main">
            <a:off x="90600" y="596575"/>
            <a:ext cx="4387500" cy="6003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pPr>
            <a:r>
              <a:rPr sz="1100" b="1" i="0" u="none" cap="none">
                <a:solidFill>
                  <a:srgbClr val="000000"/>
                </a:solidFill>
                <a:latin typeface="Arial"/>
                <a:ea typeface="Arial"/>
                <a:cs typeface="Arial"/>
              </a:rPr>
              <a:t>Part 1: Classification architectures used (transfer learning)</a:t>
            </a:r>
            <a:endParaRPr sz="1100" b="1"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For all three encoders, we  use </a:t>
            </a:r>
            <a:r>
              <a:rPr sz="800" b="1" i="0" u="none" cap="none">
                <a:solidFill>
                  <a:schemeClr val="dk1"/>
                </a:solidFill>
                <a:latin typeface="Arial"/>
                <a:ea typeface="Arial"/>
                <a:cs typeface="Arial"/>
              </a:rPr>
              <a:t>exactly the same classifier</a:t>
            </a:r>
            <a:r>
              <a:rPr sz="800" b="0" i="0" u="none" cap="none">
                <a:solidFill>
                  <a:schemeClr val="dk1"/>
                </a:solidFill>
                <a:latin typeface="Arial"/>
                <a:ea typeface="Arial"/>
                <a:cs typeface="Arial"/>
              </a:rPr>
              <a:t>, changing only which encoder produces the latent vector</a:t>
            </a:r>
            <a:endParaRPr sz="800" b="1" i="0" u="none" cap="none">
              <a:solidFill>
                <a:srgbClr val="000000"/>
              </a:solidFill>
              <a:latin typeface="Arial"/>
              <a:ea typeface="Arial"/>
              <a:cs typeface="Arial"/>
            </a:endParaRPr>
          </a:p>
        </p:txBody>
      </p:sp>
      <p:sp>
        <p:nvSpPr>
          <p:cNvPr id="107" name="Google Shape;107;p6">
            <a:extLst xmlns:a="http://schemas.openxmlformats.org/drawingml/2006/main">
              <a:ext uri="{FF2B5EF4-FFF2-40B4-BE49-F238E27FC236}">
                <a16:creationId xmlns:a16="http://schemas.microsoft.com/office/drawing/2014/main" id="{F85425A6-0EB5-4EAF-BE91-DF6182295AA1}"/>
              </a:ext>
            </a:extLst>
          </p:cNvPr>
          <p:cNvSpPr>
            <a:spLocks xmlns:a="http://schemas.openxmlformats.org/drawingml/2006/main" noGrp="1"/>
          </p:cNvSpPr>
          <p:nvPr/>
        </p:nvSpPr>
        <p:spPr>
          <a:xfrm xmlns:a="http://schemas.openxmlformats.org/drawingml/2006/main">
            <a:off x="111625" y="1339500"/>
            <a:ext cx="2615400" cy="294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900"/>
              <a:buFont typeface="Arial"/>
              <a:buNone/>
            </a:pPr>
            <a:r>
              <a:rPr sz="900" b="1" i="0" u="none" cap="none">
                <a:solidFill>
                  <a:schemeClr val="dk1"/>
                </a:solidFill>
                <a:latin typeface="Arial"/>
                <a:ea typeface="Arial"/>
                <a:cs typeface="Arial"/>
              </a:rPr>
              <a:t>Encoder (frozen):</a:t>
            </a:r>
            <a:endParaRPr sz="900" b="1"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AE / DAE: z = encoder.encode(x)</a:t>
            </a:r>
            <a:endParaRPr sz="8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VAE: mu, logvar = encoder.encode(x) and we use </a:t>
            </a:r>
            <a:endParaRPr sz="8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z = mu</a:t>
            </a:r>
            <a:endParaRPr sz="8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Latent dimension: latent_dim = 32</a:t>
            </a:r>
            <a:endParaRPr sz="8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1200"/>
              </a:spcBef>
              <a:spcAft>
                <a:spcPts val="0"/>
              </a:spcAft>
              <a:buClr>
                <a:srgbClr val="000000"/>
              </a:buClr>
              <a:buSzPts val="900"/>
              <a:buFont typeface="Arial"/>
              <a:buNone/>
            </a:pPr>
            <a:r>
              <a:rPr sz="900" b="1" i="0" u="none" cap="none">
                <a:solidFill>
                  <a:schemeClr val="dk1"/>
                </a:solidFill>
                <a:latin typeface="Arial"/>
                <a:ea typeface="Arial"/>
                <a:cs typeface="Arial"/>
              </a:rPr>
              <a:t>Classifier MLP (trained from scratch):</a:t>
            </a:r>
            <a:endParaRPr sz="900" b="1" i="0" u="none" cap="none">
              <a:solidFill>
                <a:schemeClr val="dk1"/>
              </a:solidFill>
              <a:latin typeface="Arial"/>
              <a:ea typeface="Arial"/>
              <a:cs typeface="Arial"/>
            </a:endParaRPr>
          </a:p>
          <a:p xmlns:a="http://schemas.openxmlformats.org/drawingml/2006/main">
            <a:pPr marL="0" marR="0" lvl="0" indent="0" algn="l">
              <a:lnSpc>
                <a:spcPct val="115000"/>
              </a:lnSpc>
              <a:spcBef>
                <a:spcPts val="1200"/>
              </a:spcBef>
              <a:spcAft>
                <a:spcPts val="0"/>
              </a:spcAft>
              <a:buClr>
                <a:srgbClr val="000000"/>
              </a:buClr>
              <a:buSzPts val="800"/>
              <a:buFont typeface="Arial"/>
              <a:buNone/>
            </a:pPr>
            <a:r>
              <a:rPr sz="800" b="0" i="0" u="none" cap="none">
                <a:solidFill>
                  <a:schemeClr val="dk1"/>
                </a:solidFill>
                <a:latin typeface="Arial"/>
                <a:ea typeface="Arial"/>
                <a:cs typeface="Arial"/>
              </a:rPr>
              <a:t>z (dim = 32)</a:t>
            </a:r>
            <a:endParaRPr sz="800" b="0" i="0" u="none" cap="none">
              <a:solidFill>
                <a:schemeClr val="dk1"/>
              </a:solidFill>
              <a:latin typeface="Arial"/>
              <a:ea typeface="Arial"/>
              <a:cs typeface="Arial"/>
            </a:endParaRPr>
          </a:p>
          <a:p xmlns:a="http://schemas.openxmlformats.org/drawingml/2006/main">
            <a:pPr marL="0" marR="0" lvl="0" indent="0" algn="l">
              <a:lnSpc>
                <a:spcPct val="100000"/>
              </a:lnSpc>
              <a:spcBef>
                <a:spcPts val="1200"/>
              </a:spcBef>
              <a:spcAft>
                <a:spcPts val="0"/>
              </a:spcAft>
              <a:buClr>
                <a:srgbClr val="000000"/>
              </a:buClr>
              <a:buSzPts val="800"/>
              <a:buFont typeface="Arial"/>
              <a:buNone/>
            </a:pPr>
            <a:r>
              <a:rPr sz="800" b="0" i="0" u="none" cap="none">
                <a:solidFill>
                  <a:schemeClr val="dk1"/>
                </a:solidFill>
                <a:latin typeface="Arial"/>
                <a:ea typeface="Arial"/>
                <a:cs typeface="Arial"/>
              </a:rPr>
              <a:t>  → Linear(32 → 128)</a:t>
            </a:r>
            <a:endParaRPr sz="8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  → ReLU</a:t>
            </a:r>
            <a:endParaRPr sz="8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  → Dropout(p = 0.3)</a:t>
            </a:r>
            <a:endParaRPr sz="8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  → Linear(128 → 10)</a:t>
            </a: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0"/>
              </a:spcBef>
              <a:spcAft>
                <a:spcPts val="0"/>
              </a:spcAft>
              <a:buClr>
                <a:schemeClr val="dk1"/>
              </a:buClr>
              <a:buSzPts val="1100"/>
              <a:buFont typeface="Arial"/>
              <a:buNone/>
            </a:pPr>
            <a:r>
              <a:rPr sz="800" b="0" i="0" u="none" cap="none">
                <a:solidFill>
                  <a:schemeClr val="dk1"/>
                </a:solidFill>
                <a:latin typeface="Arial"/>
                <a:ea typeface="Arial"/>
                <a:cs typeface="Arial"/>
              </a:rPr>
              <a:t>  → (Softmax implicitly inside CrossEntropyLoss)</a:t>
            </a:r>
            <a:endParaRPr sz="8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p:txBody>
      </p:sp>
      <p:sp>
        <p:nvSpPr>
          <p:cNvPr id="108" name="Google Shape;108;p6">
            <a:extLst xmlns:a="http://schemas.openxmlformats.org/drawingml/2006/main">
              <a:ext uri="{FF2B5EF4-FFF2-40B4-BE49-F238E27FC236}">
                <a16:creationId xmlns:a16="http://schemas.microsoft.com/office/drawing/2014/main" id="{96AD71C3-1550-4457-B85A-5B119B0D840E}"/>
              </a:ext>
            </a:extLst>
          </p:cNvPr>
          <p:cNvSpPr>
            <a:spLocks xmlns:a="http://schemas.openxmlformats.org/drawingml/2006/main" noGrp="1"/>
          </p:cNvSpPr>
          <p:nvPr/>
        </p:nvSpPr>
        <p:spPr>
          <a:xfrm xmlns:a="http://schemas.openxmlformats.org/drawingml/2006/main">
            <a:off x="2727150" y="1339500"/>
            <a:ext cx="1845000" cy="30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15000"/>
              </a:lnSpc>
              <a:spcBef>
                <a:spcPts val="1200"/>
              </a:spcBef>
              <a:spcAft>
                <a:spcPts val="0"/>
              </a:spcAft>
              <a:buClr>
                <a:schemeClr val="dk1"/>
              </a:buClr>
              <a:buSzPts val="1100"/>
              <a:buFont typeface="Arial"/>
              <a:buNone/>
            </a:pPr>
            <a:r>
              <a:rPr sz="900" b="1" i="0" u="none" cap="none">
                <a:solidFill>
                  <a:schemeClr val="dk1"/>
                </a:solidFill>
                <a:latin typeface="Arial"/>
                <a:ea typeface="Arial"/>
                <a:cs typeface="Arial"/>
              </a:rPr>
              <a:t>Training setup for the classifier</a:t>
            </a:r>
            <a:r>
              <a:rPr sz="800" b="0" i="0" u="none" cap="none">
                <a:solidFill>
                  <a:schemeClr val="dk1"/>
                </a:solidFill>
                <a:latin typeface="Arial"/>
                <a:ea typeface="Arial"/>
                <a:cs typeface="Arial"/>
              </a:rPr>
              <a:t>:</a:t>
            </a: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1200"/>
              </a:spcBef>
              <a:spcAft>
                <a:spcPts val="0"/>
              </a:spcAft>
              <a:buClr>
                <a:srgbClr val="000000"/>
              </a:buClr>
              <a:buSzPts val="800"/>
              <a:buFont typeface="Arial"/>
              <a:buNone/>
            </a:pPr>
            <a:r>
              <a:rPr sz="800" b="0" i="0" u="none" cap="none">
                <a:solidFill>
                  <a:schemeClr val="dk1"/>
                </a:solidFill>
                <a:latin typeface="Arial"/>
                <a:ea typeface="Arial"/>
                <a:cs typeface="Arial"/>
              </a:rPr>
              <a:t>Encoder weights </a:t>
            </a:r>
            <a:r>
              <a:rPr sz="800" b="1" i="0" u="none" cap="none">
                <a:solidFill>
                  <a:schemeClr val="dk1"/>
                </a:solidFill>
                <a:latin typeface="Arial"/>
                <a:ea typeface="Arial"/>
                <a:cs typeface="Arial"/>
              </a:rPr>
              <a:t>frozen</a:t>
            </a:r>
            <a:r>
              <a:rPr sz="800" b="0" i="0" u="none" cap="none">
                <a:solidFill>
                  <a:schemeClr val="dk1"/>
                </a:solidFill>
                <a:latin typeface="Arial"/>
                <a:ea typeface="Arial"/>
                <a:cs typeface="Arial"/>
              </a:rPr>
              <a:t> (requires_grad = False)</a:t>
            </a:r>
            <a:b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1200"/>
              </a:spcBef>
              <a:spcAft>
                <a:spcPts val="0"/>
              </a:spcAft>
              <a:buClr>
                <a:srgbClr val="000000"/>
              </a:buClr>
              <a:buSzPts val="800"/>
              <a:buFont typeface="Arial"/>
              <a:buNone/>
            </a:pPr>
            <a:r>
              <a:rPr sz="800" b="0" i="0" u="none" cap="none">
                <a:solidFill>
                  <a:schemeClr val="dk1"/>
                </a:solidFill>
                <a:latin typeface="Arial"/>
                <a:ea typeface="Arial"/>
                <a:cs typeface="Arial"/>
              </a:rPr>
              <a:t>Optimizer: Adam, lr = 1e-3</a:t>
            </a:r>
            <a:b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1200"/>
              </a:spcBef>
              <a:spcAft>
                <a:spcPts val="0"/>
              </a:spcAft>
              <a:buClr>
                <a:srgbClr val="000000"/>
              </a:buClr>
              <a:buSzPts val="800"/>
              <a:buFont typeface="Arial"/>
              <a:buNone/>
            </a:pPr>
            <a:r>
              <a:rPr sz="800" b="0" i="0" u="none" cap="none">
                <a:solidFill>
                  <a:schemeClr val="dk1"/>
                </a:solidFill>
                <a:latin typeface="Arial"/>
                <a:ea typeface="Arial"/>
                <a:cs typeface="Arial"/>
              </a:rPr>
              <a:t>Loss: CrossEntropyLoss</a:t>
            </a:r>
            <a:b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1200"/>
              </a:spcBef>
              <a:spcAft>
                <a:spcPts val="0"/>
              </a:spcAft>
              <a:buClr>
                <a:srgbClr val="000000"/>
              </a:buClr>
              <a:buSzPts val="800"/>
              <a:buFont typeface="Arial"/>
              <a:buNone/>
            </a:pPr>
            <a:r>
              <a:rPr sz="800" b="0" i="0" u="none" cap="none">
                <a:solidFill>
                  <a:schemeClr val="dk1"/>
                </a:solidFill>
                <a:latin typeface="Arial"/>
                <a:ea typeface="Arial"/>
                <a:cs typeface="Arial"/>
              </a:rPr>
              <a:t>Epochs: epochs_clf = 20</a:t>
            </a:r>
            <a:b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1200"/>
              </a:spcBef>
              <a:spcAft>
                <a:spcPts val="0"/>
              </a:spcAft>
              <a:buClr>
                <a:srgbClr val="000000"/>
              </a:buClr>
              <a:buSzPts val="800"/>
              <a:buFont typeface="Arial"/>
              <a:buNone/>
            </a:pPr>
            <a:r>
              <a:rPr sz="800" b="0" i="0" u="none" cap="none">
                <a:solidFill>
                  <a:schemeClr val="dk1"/>
                </a:solidFill>
                <a:latin typeface="Arial"/>
                <a:ea typeface="Arial"/>
                <a:cs typeface="Arial"/>
              </a:rPr>
              <a:t>Same train/val/test split as in the autoencoder training.</a:t>
            </a:r>
            <a:endParaRPr sz="800" b="0" i="0" u="none" cap="none">
              <a:solidFill>
                <a:schemeClr val="dk1"/>
              </a:solidFill>
              <a:latin typeface="Arial"/>
              <a:ea typeface="Arial"/>
              <a:cs typeface="Arial"/>
            </a:endParaRPr>
          </a:p>
          <a:p xmlns:a="http://schemas.openxmlformats.org/drawingml/2006/main">
            <a:pPr marL="0" marR="0" lvl="0" indent="0" algn="l">
              <a:lnSpc>
                <a:spcPct val="100000"/>
              </a:lnSpc>
              <a:spcBef>
                <a:spcPts val="1200"/>
              </a:spcBef>
              <a:spcAft>
                <a:spcPts val="0"/>
              </a:spcAft>
              <a:buClr>
                <a:schemeClr val="dk1"/>
              </a:buClr>
              <a:buSzPts val="1100"/>
              <a:buFont typeface="Arial"/>
              <a:buNone/>
            </a:pPr>
            <a:r>
              <a:t/>
            </a:r>
            <a:endParaRPr sz="8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p:txBody>
      </p:sp>
      <p:sp>
        <p:nvSpPr>
          <p:cNvPr id="109" name="Google Shape;109;p6">
            <a:extLst xmlns:a="http://schemas.openxmlformats.org/drawingml/2006/main">
              <a:ext uri="{FF2B5EF4-FFF2-40B4-BE49-F238E27FC236}">
                <a16:creationId xmlns:a16="http://schemas.microsoft.com/office/drawing/2014/main" id="{6676E969-2566-4A7D-B062-F063C0C8317E}"/>
              </a:ext>
            </a:extLst>
          </p:cNvPr>
          <p:cNvSpPr>
            <a:spLocks xmlns:a="http://schemas.openxmlformats.org/drawingml/2006/main" noGrp="1"/>
          </p:cNvSpPr>
          <p:nvPr/>
        </p:nvSpPr>
        <p:spPr>
          <a:xfrm xmlns:a="http://schemas.openxmlformats.org/drawingml/2006/main">
            <a:off x="4666050" y="596575"/>
            <a:ext cx="4387500" cy="6003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pPr>
            <a:r>
              <a:rPr sz="1100" b="1" i="0" u="none" cap="none">
                <a:solidFill>
                  <a:srgbClr val="000000"/>
                </a:solidFill>
                <a:latin typeface="Arial"/>
                <a:ea typeface="Arial"/>
                <a:cs typeface="Arial"/>
              </a:rPr>
              <a:t>Part 2:  Classification results using each encoder’s weights</a:t>
            </a:r>
            <a:endParaRPr sz="1100" b="1"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The following table summarizes the </a:t>
            </a:r>
            <a:r>
              <a:rPr sz="800" b="1" i="0" u="none" cap="none">
                <a:solidFill>
                  <a:schemeClr val="dk1"/>
                </a:solidFill>
                <a:latin typeface="Arial"/>
                <a:ea typeface="Arial"/>
                <a:cs typeface="Arial"/>
              </a:rPr>
              <a:t>test results</a:t>
            </a:r>
            <a:r>
              <a:rPr sz="800" b="0" i="0" u="none" cap="none">
                <a:solidFill>
                  <a:schemeClr val="dk1"/>
                </a:solidFill>
                <a:latin typeface="Arial"/>
                <a:ea typeface="Arial"/>
                <a:cs typeface="Arial"/>
              </a:rPr>
              <a:t> when training the same classifier on top of each encoder:</a:t>
            </a:r>
            <a:endParaRPr sz="500" b="1" i="0" u="none" cap="none">
              <a:solidFill>
                <a:srgbClr val="000000"/>
              </a:solidFill>
              <a:latin typeface="Arial"/>
              <a:ea typeface="Arial"/>
              <a:cs typeface="Arial"/>
            </a:endParaRPr>
          </a:p>
        </p:txBody>
      </p:sp>
      <p:graphicFrame>
        <p:nvGraphicFramePr>
          <p:cNvPr id="118" name="Google Shape;110;p6"/>
          <p:cNvGraphicFramePr/>
          <p:nvPr/>
        </p:nvGraphicFramePr>
        <p:xfrm>
          <a:off xmlns:a="http://schemas.openxmlformats.org/drawingml/2006/main" x="4715875" y="1400163"/>
          <a:ext xmlns:a="http://schemas.openxmlformats.org/drawingml/2006/main" cx="3000000" cy="3000000"/>
        </p:xfrm>
        <a:graphic xmlns:a="http://schemas.openxmlformats.org/drawingml/2006/main">
          <a:graphicData uri="http://schemas.openxmlformats.org/drawingml/2006/table">
            <a:tbl>
              <a:tblPr>
                <a:tableStyleId>{E9C96EFF-C137-458B-89EA-79B6DC1AD40E}</a:tableStyleId>
              </a:tblPr>
              <a:tblGrid>
                <a:gridCol w="803950"/>
                <a:gridCol w="616275"/>
                <a:gridCol w="1062200"/>
                <a:gridCol w="959150"/>
                <a:gridCol w="677225"/>
              </a:tblGrid>
              <a:tr h="190500">
                <a:tc>
                  <a:txBody>
                    <a:bodyPr/>
                    <a:lstStyle/>
                    <a:p>
                      <a:pPr marL="0" marR="0" lvl="0" indent="0" algn="ctr">
                        <a:lnSpc>
                          <a:spcPct val="115000"/>
                        </a:lnSpc>
                        <a:spcBef>
                          <a:spcPts val="0"/>
                        </a:spcBef>
                        <a:spcAft>
                          <a:spcPts val="0"/>
                        </a:spcAft>
                        <a:buClr>
                          <a:srgbClr val="000000"/>
                        </a:buClr>
                        <a:buSzPts val="800"/>
                        <a:buFont typeface="Arial"/>
                        <a:buNone/>
                      </a:pPr>
                      <a:r>
                        <a:rPr sz="800" b="1" u="none" cap="none"/>
                        <a:t>Frozen encoder used</a:t>
                      </a:r>
                      <a:endParaRPr sz="8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r">
                        <a:lnSpc>
                          <a:spcPct val="115000"/>
                        </a:lnSpc>
                        <a:spcBef>
                          <a:spcPts val="0"/>
                        </a:spcBef>
                        <a:spcAft>
                          <a:spcPts val="0"/>
                        </a:spcAft>
                        <a:buClr>
                          <a:srgbClr val="000000"/>
                        </a:buClr>
                        <a:buSzPts val="800"/>
                        <a:buFont typeface="Arial"/>
                        <a:buNone/>
                      </a:pPr>
                      <a:r>
                        <a:rPr sz="800" b="1" u="none" cap="none"/>
                        <a:t>Accuracy</a:t>
                      </a:r>
                      <a:endParaRPr sz="8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r">
                        <a:lnSpc>
                          <a:spcPct val="115000"/>
                        </a:lnSpc>
                        <a:spcBef>
                          <a:spcPts val="0"/>
                        </a:spcBef>
                        <a:spcAft>
                          <a:spcPts val="0"/>
                        </a:spcAft>
                        <a:buClr>
                          <a:srgbClr val="000000"/>
                        </a:buClr>
                        <a:buSzPts val="800"/>
                        <a:buFont typeface="Arial"/>
                        <a:buNone/>
                      </a:pPr>
                      <a:r>
                        <a:rPr sz="800" b="1" u="none" cap="none"/>
                        <a:t>Precision (macro)</a:t>
                      </a:r>
                      <a:endParaRPr sz="8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r">
                        <a:lnSpc>
                          <a:spcPct val="115000"/>
                        </a:lnSpc>
                        <a:spcBef>
                          <a:spcPts val="0"/>
                        </a:spcBef>
                        <a:spcAft>
                          <a:spcPts val="0"/>
                        </a:spcAft>
                        <a:buClr>
                          <a:srgbClr val="000000"/>
                        </a:buClr>
                        <a:buSzPts val="800"/>
                        <a:buFont typeface="Arial"/>
                        <a:buNone/>
                      </a:pPr>
                      <a:r>
                        <a:rPr sz="800" b="1" u="none" cap="none"/>
                        <a:t>Recall (macro)</a:t>
                      </a:r>
                      <a:endParaRPr sz="8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r">
                        <a:lnSpc>
                          <a:spcPct val="115000"/>
                        </a:lnSpc>
                        <a:spcBef>
                          <a:spcPts val="0"/>
                        </a:spcBef>
                        <a:spcAft>
                          <a:spcPts val="0"/>
                        </a:spcAft>
                        <a:buClr>
                          <a:srgbClr val="000000"/>
                        </a:buClr>
                        <a:buSzPts val="800"/>
                        <a:buFont typeface="Arial"/>
                        <a:buNone/>
                      </a:pPr>
                      <a:r>
                        <a:rPr sz="800" b="1" u="none" cap="none"/>
                        <a:t>F1-score (macro)</a:t>
                      </a:r>
                      <a:endParaRPr sz="800" b="1"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190500">
                <a:tc>
                  <a:txBody>
                    <a:bodyPr/>
                    <a:lstStyle/>
                    <a:p>
                      <a:pPr marL="0" marR="0" lvl="0" indent="0" algn="l">
                        <a:lnSpc>
                          <a:spcPct val="100000"/>
                        </a:lnSpc>
                        <a:spcBef>
                          <a:spcPts val="0"/>
                        </a:spcBef>
                        <a:spcAft>
                          <a:spcPts val="0"/>
                        </a:spcAft>
                        <a:buClr>
                          <a:srgbClr val="000000"/>
                        </a:buClr>
                        <a:buSzPts val="800"/>
                        <a:buFont typeface="Arial"/>
                        <a:buNone/>
                      </a:pPr>
                      <a:r>
                        <a:rPr sz="800" u="none" cap="none"/>
                        <a:t>AE encoder</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r">
                        <a:lnSpc>
                          <a:spcPct val="115000"/>
                        </a:lnSpc>
                        <a:spcBef>
                          <a:spcPts val="0"/>
                        </a:spcBef>
                        <a:spcAft>
                          <a:spcPts val="0"/>
                        </a:spcAft>
                        <a:buClr>
                          <a:srgbClr val="000000"/>
                        </a:buClr>
                        <a:buSzPts val="800"/>
                        <a:buFont typeface="Arial"/>
                        <a:buNone/>
                      </a:pPr>
                      <a:r>
                        <a:rPr sz="800" u="none" cap="none">
                          <a:solidFill>
                            <a:srgbClr val="FF0000"/>
                          </a:solidFill>
                        </a:rPr>
                        <a:t>≈ 0.8</a:t>
                      </a:r>
                      <a:r>
                        <a:rPr sz="800">
                          <a:solidFill>
                            <a:srgbClr val="FF0000"/>
                          </a:solidFill>
                        </a:rPr>
                        <a:t>913</a:t>
                      </a:r>
                      <a:endParaRPr sz="800" u="none" cap="none">
                        <a:solidFill>
                          <a:srgbClr val="FF0000"/>
                        </a:solidFill>
                      </a:endParaRPr>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r">
                        <a:lnSpc>
                          <a:spcPct val="115000"/>
                        </a:lnSpc>
                        <a:spcBef>
                          <a:spcPts val="0"/>
                        </a:spcBef>
                        <a:spcAft>
                          <a:spcPts val="0"/>
                        </a:spcAft>
                        <a:buClr>
                          <a:srgbClr val="000000"/>
                        </a:buClr>
                        <a:buSzPts val="800"/>
                        <a:buFont typeface="Arial"/>
                        <a:buNone/>
                      </a:pPr>
                      <a:r>
                        <a:rPr sz="800" u="none" cap="none">
                          <a:solidFill>
                            <a:srgbClr val="FF0000"/>
                          </a:solidFill>
                        </a:rPr>
                        <a:t>≈ 0.89</a:t>
                      </a:r>
                      <a:r>
                        <a:rPr sz="800">
                          <a:solidFill>
                            <a:srgbClr val="FF0000"/>
                          </a:solidFill>
                        </a:rPr>
                        <a:t>24</a:t>
                      </a:r>
                      <a:endParaRPr sz="800" u="none" cap="none">
                        <a:solidFill>
                          <a:srgbClr val="FF0000"/>
                        </a:solidFill>
                      </a:endParaRPr>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r">
                        <a:lnSpc>
                          <a:spcPct val="115000"/>
                        </a:lnSpc>
                        <a:spcBef>
                          <a:spcPts val="0"/>
                        </a:spcBef>
                        <a:spcAft>
                          <a:spcPts val="0"/>
                        </a:spcAft>
                        <a:buClr>
                          <a:srgbClr val="000000"/>
                        </a:buClr>
                        <a:buSzPts val="800"/>
                        <a:buFont typeface="Arial"/>
                        <a:buNone/>
                      </a:pPr>
                      <a:r>
                        <a:rPr sz="800" u="none" cap="none">
                          <a:solidFill>
                            <a:srgbClr val="FF0000"/>
                          </a:solidFill>
                        </a:rPr>
                        <a:t>≈ 0.88</a:t>
                      </a:r>
                      <a:r>
                        <a:rPr sz="800">
                          <a:solidFill>
                            <a:srgbClr val="FF0000"/>
                          </a:solidFill>
                        </a:rPr>
                        <a:t>13</a:t>
                      </a:r>
                      <a:endParaRPr sz="800" u="none" cap="none">
                        <a:solidFill>
                          <a:srgbClr val="FF0000"/>
                        </a:solidFill>
                      </a:endParaRPr>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r">
                        <a:lnSpc>
                          <a:spcPct val="115000"/>
                        </a:lnSpc>
                        <a:spcBef>
                          <a:spcPts val="0"/>
                        </a:spcBef>
                        <a:spcAft>
                          <a:spcPts val="0"/>
                        </a:spcAft>
                        <a:buClr>
                          <a:srgbClr val="000000"/>
                        </a:buClr>
                        <a:buSzPts val="800"/>
                        <a:buFont typeface="Arial"/>
                        <a:buNone/>
                      </a:pPr>
                      <a:r>
                        <a:rPr sz="800" u="none" cap="none">
                          <a:solidFill>
                            <a:srgbClr val="FF0000"/>
                          </a:solidFill>
                        </a:rPr>
                        <a:t>≈ 0.8</a:t>
                      </a:r>
                      <a:r>
                        <a:rPr sz="800">
                          <a:solidFill>
                            <a:srgbClr val="FF0000"/>
                          </a:solidFill>
                        </a:rPr>
                        <a:t>913</a:t>
                      </a:r>
                      <a:endParaRPr sz="800" u="none" cap="none">
                        <a:solidFill>
                          <a:srgbClr val="FF0000"/>
                        </a:solidFill>
                      </a:endParaRPr>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292875">
                <a:tc>
                  <a:txBody>
                    <a:bodyPr/>
                    <a:lstStyle/>
                    <a:p>
                      <a:pPr marL="0" marR="0" lvl="0" indent="0" algn="l">
                        <a:lnSpc>
                          <a:spcPct val="100000"/>
                        </a:lnSpc>
                        <a:spcBef>
                          <a:spcPts val="0"/>
                        </a:spcBef>
                        <a:spcAft>
                          <a:spcPts val="0"/>
                        </a:spcAft>
                        <a:buClr>
                          <a:srgbClr val="000000"/>
                        </a:buClr>
                        <a:buSzPts val="800"/>
                        <a:buFont typeface="Arial"/>
                        <a:buNone/>
                      </a:pPr>
                      <a:r>
                        <a:rPr sz="800" u="none" cap="none"/>
                        <a:t>VAE encoder</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r">
                        <a:lnSpc>
                          <a:spcPct val="115000"/>
                        </a:lnSpc>
                        <a:spcBef>
                          <a:spcPts val="0"/>
                        </a:spcBef>
                        <a:spcAft>
                          <a:spcPts val="0"/>
                        </a:spcAft>
                        <a:buClr>
                          <a:srgbClr val="000000"/>
                        </a:buClr>
                        <a:buSzPts val="800"/>
                        <a:buFont typeface="Arial"/>
                        <a:buNone/>
                      </a:pPr>
                      <a:r>
                        <a:rPr sz="800" u="none" cap="none"/>
                        <a:t>≈ 0.87</a:t>
                      </a:r>
                      <a:r>
                        <a:rPr sz="800"/>
                        <a:t>89</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r">
                        <a:lnSpc>
                          <a:spcPct val="115000"/>
                        </a:lnSpc>
                        <a:spcBef>
                          <a:spcPts val="0"/>
                        </a:spcBef>
                        <a:spcAft>
                          <a:spcPts val="0"/>
                        </a:spcAft>
                        <a:buClr>
                          <a:srgbClr val="000000"/>
                        </a:buClr>
                        <a:buSzPts val="800"/>
                        <a:buFont typeface="Arial"/>
                        <a:buNone/>
                      </a:pPr>
                      <a:r>
                        <a:rPr sz="800" u="none" cap="none"/>
                        <a:t>≈ 0.8</a:t>
                      </a:r>
                      <a:r>
                        <a:rPr sz="800"/>
                        <a:t>809</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r">
                        <a:lnSpc>
                          <a:spcPct val="115000"/>
                        </a:lnSpc>
                        <a:spcBef>
                          <a:spcPts val="0"/>
                        </a:spcBef>
                        <a:spcAft>
                          <a:spcPts val="0"/>
                        </a:spcAft>
                        <a:buClr>
                          <a:srgbClr val="000000"/>
                        </a:buClr>
                        <a:buSzPts val="800"/>
                        <a:buFont typeface="Arial"/>
                        <a:buNone/>
                      </a:pPr>
                      <a:r>
                        <a:rPr sz="800" u="none" cap="none"/>
                        <a:t>≈ 0.87</a:t>
                      </a:r>
                      <a:r>
                        <a:rPr sz="800"/>
                        <a:t>89</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r">
                        <a:lnSpc>
                          <a:spcPct val="115000"/>
                        </a:lnSpc>
                        <a:spcBef>
                          <a:spcPts val="0"/>
                        </a:spcBef>
                        <a:spcAft>
                          <a:spcPts val="0"/>
                        </a:spcAft>
                        <a:buClr>
                          <a:srgbClr val="000000"/>
                        </a:buClr>
                        <a:buSzPts val="800"/>
                        <a:buFont typeface="Arial"/>
                        <a:buNone/>
                      </a:pPr>
                      <a:r>
                        <a:rPr sz="800" u="none" cap="none"/>
                        <a:t>≈ 0.87</a:t>
                      </a:r>
                      <a:r>
                        <a:rPr sz="800"/>
                        <a:t>89</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r h="190500">
                <a:tc>
                  <a:txBody>
                    <a:bodyPr/>
                    <a:lstStyle/>
                    <a:p>
                      <a:pPr marL="0" marR="0" lvl="0" indent="0" algn="l">
                        <a:lnSpc>
                          <a:spcPct val="100000"/>
                        </a:lnSpc>
                        <a:spcBef>
                          <a:spcPts val="0"/>
                        </a:spcBef>
                        <a:spcAft>
                          <a:spcPts val="0"/>
                        </a:spcAft>
                        <a:buClr>
                          <a:srgbClr val="000000"/>
                        </a:buClr>
                        <a:buSzPts val="800"/>
                        <a:buFont typeface="Arial"/>
                        <a:buNone/>
                      </a:pPr>
                      <a:r>
                        <a:rPr sz="800" u="none" cap="none"/>
                        <a:t>DAE encoder</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r">
                        <a:lnSpc>
                          <a:spcPct val="115000"/>
                        </a:lnSpc>
                        <a:spcBef>
                          <a:spcPts val="0"/>
                        </a:spcBef>
                        <a:spcAft>
                          <a:spcPts val="0"/>
                        </a:spcAft>
                        <a:buClr>
                          <a:srgbClr val="000000"/>
                        </a:buClr>
                        <a:buSzPts val="800"/>
                        <a:buFont typeface="Arial"/>
                        <a:buNone/>
                      </a:pPr>
                      <a:r>
                        <a:rPr sz="800" u="none" cap="none"/>
                        <a:t>≈ 0.87</a:t>
                      </a:r>
                      <a:r>
                        <a:rPr sz="800"/>
                        <a:t>26</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r">
                        <a:lnSpc>
                          <a:spcPct val="115000"/>
                        </a:lnSpc>
                        <a:spcBef>
                          <a:spcPts val="0"/>
                        </a:spcBef>
                        <a:spcAft>
                          <a:spcPts val="0"/>
                        </a:spcAft>
                        <a:buClr>
                          <a:srgbClr val="000000"/>
                        </a:buClr>
                        <a:buSzPts val="800"/>
                        <a:buFont typeface="Arial"/>
                        <a:buNone/>
                      </a:pPr>
                      <a:r>
                        <a:rPr sz="800" u="none" cap="none"/>
                        <a:t>≈ 0.8745</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r">
                        <a:lnSpc>
                          <a:spcPct val="115000"/>
                        </a:lnSpc>
                        <a:spcBef>
                          <a:spcPts val="0"/>
                        </a:spcBef>
                        <a:spcAft>
                          <a:spcPts val="0"/>
                        </a:spcAft>
                        <a:buClr>
                          <a:srgbClr val="000000"/>
                        </a:buClr>
                        <a:buSzPts val="800"/>
                        <a:buFont typeface="Arial"/>
                        <a:buNone/>
                      </a:pPr>
                      <a:r>
                        <a:rPr sz="800" u="none" cap="none"/>
                        <a:t>≈ 0.87</a:t>
                      </a:r>
                      <a:r>
                        <a:rPr sz="800"/>
                        <a:t>26</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c>
                  <a:txBody>
                    <a:bodyPr/>
                    <a:lstStyle/>
                    <a:p>
                      <a:pPr marL="0" marR="0" lvl="0" indent="0" algn="r">
                        <a:lnSpc>
                          <a:spcPct val="115000"/>
                        </a:lnSpc>
                        <a:spcBef>
                          <a:spcPts val="0"/>
                        </a:spcBef>
                        <a:spcAft>
                          <a:spcPts val="0"/>
                        </a:spcAft>
                        <a:buClr>
                          <a:srgbClr val="000000"/>
                        </a:buClr>
                        <a:buSzPts val="800"/>
                        <a:buFont typeface="Arial"/>
                        <a:buNone/>
                      </a:pPr>
                      <a:r>
                        <a:rPr sz="800" u="none" cap="none"/>
                        <a:t>≈ 0.87</a:t>
                      </a:r>
                      <a:r>
                        <a:rPr sz="800"/>
                        <a:t>27</a:t>
                      </a:r>
                      <a:endParaRPr sz="800" u="none" cap="none"/>
                    </a:p>
                  </a:txBody>
                  <a:tcPr marL="91425" marR="91425" marT="91425" marB="91425">
                    <a:lnL w="9525" cmpd="sng">
                      <a:solidFill>
                        <a:srgbClr val="000000"/>
                      </a:solidFill>
                      <a:prstDash val="solid"/>
                    </a:lnL>
                    <a:lnR w="9525" cmpd="sng">
                      <a:solidFill>
                        <a:srgbClr val="000000"/>
                      </a:solidFill>
                      <a:prstDash val="solid"/>
                    </a:lnR>
                    <a:lnT w="9525" cmpd="sng">
                      <a:solidFill>
                        <a:srgbClr val="000000"/>
                      </a:solidFill>
                      <a:prstDash val="solid"/>
                    </a:lnT>
                    <a:lnB w="9525" cmpd="sng">
                      <a:solidFill>
                        <a:srgbClr val="000000"/>
                      </a:solidFill>
                      <a:prstDash val="solid"/>
                    </a:lnB>
                  </a:tcPr>
                </a:tc>
              </a:tr>
            </a:tbl>
          </a:graphicData>
        </a:graphic>
      </p:graphicFrame>
      <p:sp>
        <p:nvSpPr>
          <p:cNvPr id="111" name="Google Shape;111;p6">
            <a:extLst xmlns:a="http://schemas.openxmlformats.org/drawingml/2006/main">
              <a:ext uri="{FF2B5EF4-FFF2-40B4-BE49-F238E27FC236}">
                <a16:creationId xmlns:a16="http://schemas.microsoft.com/office/drawing/2014/main" id="{214938A0-191A-4090-B203-AC2156509DFE}"/>
              </a:ext>
            </a:extLst>
          </p:cNvPr>
          <p:cNvSpPr>
            <a:spLocks xmlns:a="http://schemas.openxmlformats.org/drawingml/2006/main" noGrp="1"/>
          </p:cNvSpPr>
          <p:nvPr/>
        </p:nvSpPr>
        <p:spPr>
          <a:xfrm xmlns:a="http://schemas.openxmlformats.org/drawingml/2006/main">
            <a:off x="4526325" y="3079525"/>
            <a:ext cx="4497900" cy="180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The </a:t>
            </a:r>
            <a:r>
              <a:rPr sz="800" b="1" i="0" u="none" cap="none">
                <a:solidFill>
                  <a:schemeClr val="dk1"/>
                </a:solidFill>
                <a:latin typeface="Arial"/>
                <a:ea typeface="Arial"/>
                <a:cs typeface="Arial"/>
              </a:rPr>
              <a:t>AE encoder</a:t>
            </a:r>
            <a:r>
              <a:rPr sz="800" b="0" i="0" u="none" cap="none">
                <a:solidFill>
                  <a:schemeClr val="dk1"/>
                </a:solidFill>
                <a:latin typeface="Arial"/>
                <a:ea typeface="Arial"/>
                <a:cs typeface="Arial"/>
              </a:rPr>
              <a:t> yields the </a:t>
            </a:r>
            <a:r>
              <a:rPr sz="800" b="1" i="0" u="none" cap="none">
                <a:solidFill>
                  <a:schemeClr val="dk1"/>
                </a:solidFill>
                <a:latin typeface="Arial"/>
                <a:ea typeface="Arial"/>
                <a:cs typeface="Arial"/>
              </a:rPr>
              <a:t>best performance</a:t>
            </a:r>
            <a:r>
              <a:rPr sz="800" b="0" i="0" u="none" cap="none">
                <a:solidFill>
                  <a:schemeClr val="dk1"/>
                </a:solidFill>
                <a:latin typeface="Arial"/>
                <a:ea typeface="Arial"/>
                <a:cs typeface="Arial"/>
              </a:rPr>
              <a:t> with this classifier:</a:t>
            </a: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Its latent space is highly tuned to reconstruct characters and ends up being quite discriminative for a small non-linear classifier.</a:t>
            </a: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The </a:t>
            </a:r>
            <a:r>
              <a:rPr sz="800" b="1" i="0" u="none" cap="none">
                <a:solidFill>
                  <a:schemeClr val="dk1"/>
                </a:solidFill>
                <a:latin typeface="Arial"/>
                <a:ea typeface="Arial"/>
                <a:cs typeface="Arial"/>
              </a:rPr>
              <a:t>VAE encoder</a:t>
            </a:r>
            <a:r>
              <a:rPr sz="800" b="0" i="0" u="none" cap="none">
                <a:solidFill>
                  <a:schemeClr val="dk1"/>
                </a:solidFill>
                <a:latin typeface="Arial"/>
                <a:ea typeface="Arial"/>
                <a:cs typeface="Arial"/>
              </a:rPr>
              <a:t> performs slightly worse:</a:t>
            </a: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The KL term regularizes the latent space to be smoother and more “Gaussian”, which is good for generative behavior but slightly hurts pure classification performance.</a:t>
            </a: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The </a:t>
            </a:r>
            <a:r>
              <a:rPr sz="800" b="1" i="0" u="none" cap="none">
                <a:solidFill>
                  <a:schemeClr val="dk1"/>
                </a:solidFill>
                <a:latin typeface="Arial"/>
                <a:ea typeface="Arial"/>
                <a:cs typeface="Arial"/>
              </a:rPr>
              <a:t>DAE encoder</a:t>
            </a:r>
            <a:r>
              <a:rPr sz="800" b="0" i="0" u="none" cap="none">
                <a:solidFill>
                  <a:schemeClr val="dk1"/>
                </a:solidFill>
                <a:latin typeface="Arial"/>
                <a:ea typeface="Arial"/>
                <a:cs typeface="Arial"/>
              </a:rPr>
              <a:t> is close to the VAE:</a:t>
            </a: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The DAE is optimized for robustness to noise; its latent space is very stable, but in this experiment you are classifying clean test images, so that robustness does not fully translate into higher accuracy.</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3623570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16" name="Google Shape;116;p7">
            <a:extLst xmlns:a="http://schemas.openxmlformats.org/drawingml/2006/main">
              <a:ext uri="{FF2B5EF4-FFF2-40B4-BE49-F238E27FC236}">
                <a16:creationId xmlns:a16="http://schemas.microsoft.com/office/drawing/2014/main" id="{A4C14D66-A2DE-4494-8EE3-B78E9F7E02F6}"/>
              </a:ext>
            </a:extLst>
          </p:cNvPr>
          <p:cNvSpPr>
            <a:spLocks xmlns:a="http://schemas.openxmlformats.org/drawingml/2006/main" noGrp="1"/>
          </p:cNvSpPr>
          <p:nvPr/>
        </p:nvSpPr>
        <p:spPr>
          <a:xfrm xmlns:a="http://schemas.openxmlformats.org/drawingml/2006/main">
            <a:off x="167050" y="131275"/>
            <a:ext cx="8730600" cy="4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1100"/>
              <a:buFont typeface="Arial"/>
              <a:buNone/>
            </a:pPr>
            <a:r>
              <a:rPr sz="2200" b="1" i="0" u="none" cap="none">
                <a:solidFill>
                  <a:schemeClr val="dk2"/>
                </a:solidFill>
                <a:latin typeface="Arial"/>
                <a:ea typeface="Arial"/>
                <a:cs typeface="Arial"/>
              </a:rPr>
              <a:t>1.5  Comparison and detailed analysis of the results obtained</a:t>
            </a:r>
            <a:endParaRPr sz="2200" b="1" i="0" u="none" cap="none">
              <a:solidFill>
                <a:schemeClr val="dk2"/>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200"/>
              <a:buFont typeface="Arial"/>
              <a:buNone/>
            </a:pPr>
            <a:r>
              <a:t/>
            </a:r>
            <a:endParaRPr sz="2200" b="1" i="0" u="none" cap="none">
              <a:solidFill>
                <a:srgbClr val="595959"/>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200"/>
              <a:buFont typeface="Arial"/>
              <a:buNone/>
            </a:pPr>
            <a:r>
              <a:t/>
            </a:r>
            <a:endParaRPr sz="2200" b="1" i="0" u="none" cap="none">
              <a:solidFill>
                <a:srgbClr val="595959"/>
              </a:solidFill>
              <a:latin typeface="Arial"/>
              <a:ea typeface="Arial"/>
              <a:cs typeface="Arial"/>
            </a:endParaRPr>
          </a:p>
        </p:txBody>
      </p:sp>
      <p:sp>
        <p:nvSpPr>
          <p:cNvPr id="117" name="Google Shape;117;p7">
            <a:extLst xmlns:a="http://schemas.openxmlformats.org/drawingml/2006/main">
              <a:ext uri="{FF2B5EF4-FFF2-40B4-BE49-F238E27FC236}">
                <a16:creationId xmlns:a16="http://schemas.microsoft.com/office/drawing/2014/main" id="{3C95BB68-814F-45D0-A84D-9EB42900F118}"/>
              </a:ext>
            </a:extLst>
          </p:cNvPr>
          <p:cNvSpPr>
            <a:spLocks xmlns:a="http://schemas.openxmlformats.org/drawingml/2006/main" noGrp="1"/>
          </p:cNvSpPr>
          <p:nvPr/>
        </p:nvSpPr>
        <p:spPr>
          <a:xfrm xmlns:a="http://schemas.openxmlformats.org/drawingml/2006/main">
            <a:off x="90600" y="596575"/>
            <a:ext cx="8962800" cy="3540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pPr>
            <a:r>
              <a:rPr sz="1100" b="1" i="0" u="none" cap="none">
                <a:solidFill>
                  <a:srgbClr val="000000"/>
                </a:solidFill>
                <a:latin typeface="Arial"/>
                <a:ea typeface="Arial"/>
                <a:cs typeface="Arial"/>
              </a:rPr>
              <a:t> AE, VAE and DAE architectures</a:t>
            </a:r>
            <a:endParaRPr sz="1100" b="1" i="0" u="none" cap="none">
              <a:solidFill>
                <a:srgbClr val="000000"/>
              </a:solidFill>
              <a:latin typeface="Arial"/>
              <a:ea typeface="Arial"/>
              <a:cs typeface="Arial"/>
            </a:endParaRPr>
          </a:p>
        </p:txBody>
      </p:sp>
      <p:sp>
        <p:nvSpPr>
          <p:cNvPr id="118" name="Google Shape;118;p7">
            <a:extLst xmlns:a="http://schemas.openxmlformats.org/drawingml/2006/main">
              <a:ext uri="{FF2B5EF4-FFF2-40B4-BE49-F238E27FC236}">
                <a16:creationId xmlns:a16="http://schemas.microsoft.com/office/drawing/2014/main" id="{C23030FD-1D32-4F44-A27F-15895FF9E9A3}"/>
              </a:ext>
            </a:extLst>
          </p:cNvPr>
          <p:cNvSpPr>
            <a:spLocks xmlns:a="http://schemas.openxmlformats.org/drawingml/2006/main" noGrp="1"/>
          </p:cNvSpPr>
          <p:nvPr/>
        </p:nvSpPr>
        <p:spPr>
          <a:xfrm xmlns:a="http://schemas.openxmlformats.org/drawingml/2006/main">
            <a:off x="133500" y="1098750"/>
            <a:ext cx="3053400" cy="331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000000"/>
              </a:buClr>
              <a:buSzPts val="900"/>
              <a:buFont typeface="Arial"/>
              <a:buNone/>
            </a:pPr>
            <a:r>
              <a:rPr sz="900" b="1" i="0" u="none" cap="none">
                <a:solidFill>
                  <a:schemeClr val="dk1"/>
                </a:solidFill>
                <a:latin typeface="Arial"/>
                <a:ea typeface="Arial"/>
                <a:cs typeface="Arial"/>
              </a:rPr>
              <a:t>Reconstruction</a:t>
            </a:r>
            <a:endParaRPr sz="900" b="1" i="0" u="none" cap="none">
              <a:solidFill>
                <a:schemeClr val="dk1"/>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AE (Autoencoder)</a:t>
            </a: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Achieves the best reconstruction on clean images.</a:t>
            </a: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It only optimises the reconstruction MSE, so the latent space is fully adapted to that objective.</a:t>
            </a: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VAE (Variational AE)</a:t>
            </a: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Reconstruction is slightly worse (images are a bit blurrier).</a:t>
            </a: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In addition to MSE, it includes a KL term that forces the latent space to approximate a N(0,I).</a:t>
            </a: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This regularisation limits how much information can be encoded and slightly worsens reconstruction.</a:t>
            </a: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DAE (Denoising AE)</a:t>
            </a:r>
            <a:b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Trained with noisy input and clean targets.</a:t>
            </a: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On clean data its MSE is similar or slightly worse than the AE, but when noise is added at test time, its reconstructions are clearly more robust.</a:t>
            </a: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800"/>
              <a:buFont typeface="Arial"/>
              <a:buNone/>
            </a:pPr>
            <a:r>
              <a:t/>
            </a:r>
            <a:endParaRPr sz="800" b="0" i="0" u="none" cap="none">
              <a:solidFill>
                <a:schemeClr val="dk2"/>
              </a:solidFill>
              <a:latin typeface="Arial"/>
              <a:ea typeface="Arial"/>
              <a:cs typeface="Arial"/>
            </a:endParaRPr>
          </a:p>
        </p:txBody>
      </p:sp>
      <p:sp>
        <p:nvSpPr>
          <p:cNvPr id="119" name="Google Shape;119;p7">
            <a:extLst xmlns:a="http://schemas.openxmlformats.org/drawingml/2006/main">
              <a:ext uri="{FF2B5EF4-FFF2-40B4-BE49-F238E27FC236}">
                <a16:creationId xmlns:a16="http://schemas.microsoft.com/office/drawing/2014/main" id="{2B5235A0-E582-44A5-A0B0-03B78A3C2BB9}"/>
              </a:ext>
            </a:extLst>
          </p:cNvPr>
          <p:cNvSpPr>
            <a:spLocks xmlns:a="http://schemas.openxmlformats.org/drawingml/2006/main" noGrp="1"/>
          </p:cNvSpPr>
          <p:nvPr/>
        </p:nvSpPr>
        <p:spPr>
          <a:xfrm xmlns:a="http://schemas.openxmlformats.org/drawingml/2006/main">
            <a:off x="3186900" y="1185500"/>
            <a:ext cx="2813100" cy="331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000000"/>
              </a:buClr>
              <a:buSzPts val="800"/>
              <a:buFont typeface="Arial"/>
              <a:buNone/>
            </a:pPr>
            <a:r>
              <a:rPr sz="800" b="1" i="0" u="none" cap="none">
                <a:solidFill>
                  <a:schemeClr val="dk1"/>
                </a:solidFill>
                <a:latin typeface="Arial"/>
                <a:ea typeface="Arial"/>
                <a:cs typeface="Arial"/>
              </a:rPr>
              <a:t>Latent space structure (t-SNE)</a:t>
            </a:r>
            <a:endParaRPr sz="800" b="1" i="0" u="none" cap="none">
              <a:solidFill>
                <a:schemeClr val="dk1"/>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AE</a:t>
            </a: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t-SNE shows well-separated clusters by class.</a:t>
            </a:r>
            <a:b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Even though it is not trained for classification, the latent space becomes quite discriminative.</a:t>
            </a: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VAE</a:t>
            </a: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t-SNE shows more mixing between colours (overlapping classes).</a:t>
            </a:r>
            <a:b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The KL term makes all classes share a smooth, continuous manifold, which is more useful for generation and interpolation than for perfect class separation.</a:t>
            </a: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DAE</a:t>
            </a: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Shows some structure and grouping, but not as clean as the AE.</a:t>
            </a:r>
            <a:b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Its main goal is noise invariance, not maximising separation between classes.</a:t>
            </a: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p:txBody>
      </p:sp>
      <p:sp>
        <p:nvSpPr>
          <p:cNvPr id="120" name="Google Shape;120;p7">
            <a:extLst xmlns:a="http://schemas.openxmlformats.org/drawingml/2006/main">
              <a:ext uri="{FF2B5EF4-FFF2-40B4-BE49-F238E27FC236}">
                <a16:creationId xmlns:a16="http://schemas.microsoft.com/office/drawing/2014/main" id="{9072AD70-B097-47B5-817C-E170CAA42A5E}"/>
              </a:ext>
            </a:extLst>
          </p:cNvPr>
          <p:cNvSpPr>
            <a:spLocks xmlns:a="http://schemas.openxmlformats.org/drawingml/2006/main" noGrp="1"/>
          </p:cNvSpPr>
          <p:nvPr/>
        </p:nvSpPr>
        <p:spPr>
          <a:xfrm xmlns:a="http://schemas.openxmlformats.org/drawingml/2006/main">
            <a:off x="6000000" y="1185500"/>
            <a:ext cx="3053400" cy="355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000000"/>
              </a:buClr>
              <a:buSzPts val="900"/>
              <a:buFont typeface="Arial"/>
              <a:buNone/>
            </a:pPr>
            <a:r>
              <a:rPr sz="900" b="1" i="0" u="none" cap="none">
                <a:solidFill>
                  <a:schemeClr val="dk1"/>
                </a:solidFill>
                <a:latin typeface="Arial"/>
                <a:ea typeface="Arial"/>
                <a:cs typeface="Arial"/>
              </a:rPr>
              <a:t>Transfer learning (classification with frozen encoder)</a:t>
            </a:r>
            <a:endParaRPr sz="900" b="1" i="0" u="none" cap="none">
              <a:solidFill>
                <a:schemeClr val="dk1"/>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Interpretation:</a:t>
            </a: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The AE provides the most discriminative latent space for this specific classification task.</a:t>
            </a: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The VAE trades some classification performance for a more regular, generative latent space.</a:t>
            </a: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800"/>
              <a:buFont typeface="Arial"/>
              <a:buNone/>
            </a:pPr>
            <a:r>
              <a:rPr sz="800" b="0" i="0" u="none" cap="none">
                <a:solidFill>
                  <a:schemeClr val="dk1"/>
                </a:solidFill>
                <a:latin typeface="Arial"/>
                <a:ea typeface="Arial"/>
                <a:cs typeface="Arial"/>
              </a:rPr>
              <a:t>The DAE is specialised in robustness to noise, not in maximising accuracy on clean data, although it remains competitive.</a:t>
            </a: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800"/>
              <a:buFont typeface="Arial"/>
              <a:buNone/>
            </a:pPr>
            <a:r>
              <a:t/>
            </a:r>
            <a:endParaRPr sz="800" b="0" i="0" u="none" cap="none">
              <a:solidFill>
                <a:schemeClr val="dk1"/>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1000"/>
              <a:buFont typeface="Arial"/>
              <a:buNone/>
            </a:pPr>
            <a:r>
              <a:rPr sz="1000" b="1" i="0" u="none" cap="none">
                <a:solidFill>
                  <a:srgbClr val="FF0000"/>
                </a:solidFill>
                <a:latin typeface="Arial"/>
                <a:ea typeface="Arial"/>
                <a:cs typeface="Arial"/>
              </a:rPr>
              <a:t>Global conclusion </a:t>
            </a:r>
            <a:endParaRPr sz="1000" b="1" i="0" u="none" cap="none">
              <a:solidFill>
                <a:srgbClr val="FF0000"/>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800"/>
              <a:buFont typeface="Arial"/>
              <a:buNone/>
            </a:pPr>
            <a:r>
              <a:t/>
            </a:r>
            <a:endParaRPr sz="800" b="0" i="0" u="none" cap="none">
              <a:solidFill>
                <a:srgbClr val="FF0000"/>
              </a:solidFill>
              <a:latin typeface="Arial"/>
              <a:ea typeface="Arial"/>
              <a:cs typeface="Arial"/>
            </a:endParaRPr>
          </a:p>
          <a:p xmlns:a="http://schemas.openxmlformats.org/drawingml/2006/main">
            <a:pPr marL="0" marR="0" lvl="0" indent="0" algn="l">
              <a:lnSpc>
                <a:spcPct val="115000"/>
              </a:lnSpc>
              <a:spcBef>
                <a:spcPts val="0"/>
              </a:spcBef>
              <a:spcAft>
                <a:spcPts val="0"/>
              </a:spcAft>
              <a:buClr>
                <a:srgbClr val="000000"/>
              </a:buClr>
              <a:buSzPts val="800"/>
              <a:buFont typeface="Arial"/>
              <a:buNone/>
            </a:pPr>
            <a:r>
              <a:rPr sz="800" b="0" i="0" u="none" cap="none">
                <a:solidFill>
                  <a:srgbClr val="FF0000"/>
                </a:solidFill>
                <a:latin typeface="Arial"/>
                <a:ea typeface="Arial"/>
                <a:cs typeface="Arial"/>
              </a:rPr>
              <a:t>In summary, the AE is the best feature extractor for classification, the VAE is the most interesting from a generative perspective (thanks to its regularised latent space), and the DAE is the most robust to noise. The choice between them depends on whether we prioritise reconstruction and classification, generative capabilities, or robustness.</a:t>
            </a:r>
            <a:endParaRPr sz="800" b="0" i="0" u="none" cap="none">
              <a:solidFill>
                <a:srgbClr val="FF0000"/>
              </a:solidFill>
              <a:latin typeface="Arial"/>
              <a:ea typeface="Arial"/>
              <a:cs typeface="Arial"/>
            </a:endParaRPr>
          </a:p>
        </p:txBody>
      </p:sp>
    </p:spTree>
    <p:extLst>
      <p:ext uri="{BB962C8B-B14F-4D97-AF65-F5344CB8AC3E}">
        <p14:creationId xmlns:p14="http://schemas.microsoft.com/office/powerpoint/2010/main" val="39268329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5" name="Google Shape;125;p8">
            <a:extLst xmlns:a="http://schemas.openxmlformats.org/drawingml/2006/main">
              <a:ext uri="{FF2B5EF4-FFF2-40B4-BE49-F238E27FC236}">
                <a16:creationId xmlns:a16="http://schemas.microsoft.com/office/drawing/2014/main" id="{03AA0071-C8C3-4DBD-A5F1-50F704702819}"/>
              </a:ext>
            </a:extLst>
          </p:cNvPr>
          <p:cNvSpPr>
            <a:spLocks xmlns:a="http://schemas.openxmlformats.org/drawingml/2006/main" noGrp="1"/>
          </p:cNvSpPr>
          <p:nvPr/>
        </p:nvSpPr>
        <p:spPr>
          <a:xfrm xmlns:a="http://schemas.openxmlformats.org/drawingml/2006/main">
            <a:off x="23868" y="477237"/>
            <a:ext cx="9144000" cy="464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1" i="0" u="none" cap="none">
                <a:solidFill>
                  <a:srgbClr val="000000"/>
                </a:solidFill>
                <a:latin typeface="Arial"/>
                <a:ea typeface="Arial"/>
                <a:cs typeface="Arial"/>
              </a:rPr>
              <a:t>   Annotation Tool: </a:t>
            </a:r>
            <a:r>
              <a:rPr sz="1200" b="1" i="0" u="none" cap="none">
                <a:solidFill>
                  <a:schemeClr val="dk1"/>
                </a:solidFill>
                <a:latin typeface="Arial"/>
                <a:ea typeface="Arial"/>
                <a:cs typeface="Arial"/>
              </a:rPr>
              <a:t>Roboflow platform</a:t>
            </a:r>
            <a:endParaRPr sz="1200" b="1"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1" i="0" u="none" cap="none">
                <a:solidFill>
                  <a:schemeClr val="dk1"/>
                </a:solidFill>
                <a:latin typeface="Arial"/>
                <a:ea typeface="Arial"/>
                <a:cs typeface="Arial"/>
              </a:rPr>
              <a:t>   Step by step:</a:t>
            </a:r>
            <a:endParaRPr sz="1200" b="1" i="0" u="none" cap="none">
              <a:solidFill>
                <a:schemeClr val="dk1"/>
              </a:solidFill>
              <a:latin typeface="Arial"/>
              <a:ea typeface="Arial"/>
              <a:cs typeface="Arial"/>
            </a:endParaRPr>
          </a:p>
          <a:p xmlns:a="http://schemas.openxmlformats.org/drawingml/2006/main">
            <a:pPr marL="457200" marR="0" lvl="0" indent="-292100" algn="l">
              <a:lnSpc>
                <a:spcPct val="100000"/>
              </a:lnSpc>
              <a:spcBef>
                <a:spcPts val="0"/>
              </a:spcBef>
              <a:spcAft>
                <a:spcPts val="0"/>
              </a:spcAft>
              <a:buClr>
                <a:schemeClr val="dk1"/>
              </a:buClr>
              <a:buSzPts val="1000"/>
              <a:buFont typeface="Arial"/>
              <a:buAutoNum type="arabicPeriod"/>
            </a:pPr>
            <a:r>
              <a:rPr sz="1000" b="0" i="0" u="none" cap="none">
                <a:solidFill>
                  <a:schemeClr val="dk1"/>
                </a:solidFill>
                <a:latin typeface="Arial"/>
                <a:ea typeface="Arial"/>
                <a:cs typeface="Arial"/>
              </a:rPr>
              <a:t>Baseline Manual Labeling: A total of </a:t>
            </a:r>
            <a:r>
              <a:rPr sz="1000" b="1" i="0" u="none" cap="none">
                <a:solidFill>
                  <a:schemeClr val="dk1"/>
                </a:solidFill>
                <a:latin typeface="Arial"/>
                <a:ea typeface="Arial"/>
                <a:cs typeface="Arial"/>
              </a:rPr>
              <a:t>82 images</a:t>
            </a:r>
            <a:r>
              <a:rPr sz="1000" b="0" i="0" u="none" cap="none">
                <a:solidFill>
                  <a:schemeClr val="dk1"/>
                </a:solidFill>
                <a:latin typeface="Arial"/>
                <a:ea typeface="Arial"/>
                <a:cs typeface="Arial"/>
              </a:rPr>
              <a:t> were manually labeled from scratch;</a:t>
            </a:r>
            <a:endParaRPr sz="1000" b="0" i="0" u="none" cap="none">
              <a:solidFill>
                <a:schemeClr val="dk1"/>
              </a:solidFill>
              <a:latin typeface="Arial"/>
              <a:ea typeface="Arial"/>
              <a:cs typeface="Arial"/>
            </a:endParaRPr>
          </a:p>
          <a:p xmlns:a="http://schemas.openxmlformats.org/drawingml/2006/main">
            <a:pPr marL="457200" marR="0" lvl="0" indent="-292100" algn="l">
              <a:lnSpc>
                <a:spcPct val="100000"/>
              </a:lnSpc>
              <a:spcBef>
                <a:spcPts val="0"/>
              </a:spcBef>
              <a:spcAft>
                <a:spcPts val="0"/>
              </a:spcAft>
              <a:buClr>
                <a:schemeClr val="dk1"/>
              </a:buClr>
              <a:buSzPts val="1000"/>
              <a:buFont typeface="Arial"/>
              <a:buAutoNum type="arabicPeriod"/>
            </a:pPr>
            <a:r>
              <a:rPr sz="1000" b="0" i="0" u="none" cap="none">
                <a:solidFill>
                  <a:schemeClr val="dk1"/>
                </a:solidFill>
                <a:latin typeface="Arial"/>
                <a:ea typeface="Arial"/>
                <a:cs typeface="Arial"/>
              </a:rPr>
              <a:t>Dataset Version Creation: a) Preprocessing: All images were resized using </a:t>
            </a:r>
            <a:r>
              <a:rPr sz="1000" b="1" i="0" u="none" cap="none">
                <a:solidFill>
                  <a:srgbClr val="188038"/>
                </a:solidFill>
                <a:latin typeface="Roboto Mono"/>
                <a:ea typeface="Roboto Mono"/>
                <a:cs typeface="Roboto Mono"/>
              </a:rPr>
              <a:t>Fit (black edges) in 640x640</a:t>
            </a:r>
            <a:endParaRPr sz="1000" b="1" i="0" u="none" cap="none">
              <a:solidFill>
                <a:srgbClr val="188038"/>
              </a:solidFill>
              <a:latin typeface="Roboto Mono"/>
              <a:ea typeface="Roboto Mono"/>
              <a:cs typeface="Roboto Mono"/>
            </a:endParaRPr>
          </a:p>
          <a:p xmlns:a="http://schemas.openxmlformats.org/drawingml/2006/main">
            <a:pPr marL="457200" marR="0" lvl="0" indent="0" algn="l">
              <a:lnSpc>
                <a:spcPct val="100000"/>
              </a:lnSpc>
              <a:spcBef>
                <a:spcPts val="0"/>
              </a:spcBef>
              <a:spcAft>
                <a:spcPts val="0"/>
              </a:spcAft>
              <a:buClr>
                <a:srgbClr val="000000"/>
              </a:buClr>
              <a:buSzPts val="1000"/>
              <a:buFont typeface="Arial"/>
              <a:buNone/>
            </a:pPr>
            <a:r>
              <a:rPr sz="1000" b="0" i="0" u="none" cap="none">
                <a:solidFill>
                  <a:schemeClr val="dk1"/>
                </a:solidFill>
                <a:latin typeface="Arial"/>
                <a:ea typeface="Arial"/>
                <a:cs typeface="Arial"/>
              </a:rPr>
              <a:t>                                          b) Augmentation: Augmentation was applied (e.g., Horizontal Flip, Exposure, Rotation) to the training set.</a:t>
            </a:r>
            <a:endParaRPr sz="1000" b="0" i="0" u="none" cap="none">
              <a:solidFill>
                <a:schemeClr val="dk1"/>
              </a:solidFill>
              <a:latin typeface="Arial"/>
              <a:ea typeface="Arial"/>
              <a:cs typeface="Arial"/>
            </a:endParaRPr>
          </a:p>
          <a:p xmlns:a="http://schemas.openxmlformats.org/drawingml/2006/main">
            <a:pPr marL="457200" marR="0" lvl="0" indent="-292100" algn="l">
              <a:lnSpc>
                <a:spcPct val="100000"/>
              </a:lnSpc>
              <a:spcBef>
                <a:spcPts val="0"/>
              </a:spcBef>
              <a:spcAft>
                <a:spcPts val="0"/>
              </a:spcAft>
              <a:buClr>
                <a:schemeClr val="dk1"/>
              </a:buClr>
              <a:buSzPts val="1000"/>
              <a:buFont typeface="Arial"/>
              <a:buAutoNum type="arabicPeriod"/>
            </a:pPr>
            <a:r>
              <a:rPr sz="1000" b="0" i="0" u="none" cap="none">
                <a:solidFill>
                  <a:schemeClr val="dk1"/>
                </a:solidFill>
                <a:latin typeface="Arial"/>
                <a:ea typeface="Arial"/>
                <a:cs typeface="Arial"/>
              </a:rPr>
              <a:t>Training Set Split for Roboflow: To satisfy the platform's mandatory requirement for a </a:t>
            </a:r>
            <a:r>
              <a:rPr sz="1000" b="1" i="0" u="none" cap="none">
                <a:solidFill>
                  <a:schemeClr val="dk1"/>
                </a:solidFill>
                <a:latin typeface="Arial"/>
                <a:ea typeface="Arial"/>
                <a:cs typeface="Arial"/>
              </a:rPr>
              <a:t>Train/Valid/Test</a:t>
            </a:r>
            <a:r>
              <a:rPr sz="1000" b="0" i="0" u="none" cap="none">
                <a:solidFill>
                  <a:schemeClr val="dk1"/>
                </a:solidFill>
                <a:latin typeface="Arial"/>
                <a:ea typeface="Arial"/>
                <a:cs typeface="Arial"/>
              </a:rPr>
              <a:t> split, the 82 manually labeled images were partitioned: </a:t>
            </a:r>
            <a:r>
              <a:rPr sz="1000" b="1" i="0" u="none" cap="none">
                <a:solidFill>
                  <a:schemeClr val="dk1"/>
                </a:solidFill>
                <a:latin typeface="Arial"/>
                <a:ea typeface="Arial"/>
                <a:cs typeface="Arial"/>
              </a:rPr>
              <a:t>Training Set: 66 images</a:t>
            </a:r>
            <a:r>
              <a:rPr sz="1000" b="0" i="0" u="none" cap="none">
                <a:solidFill>
                  <a:schemeClr val="dk1"/>
                </a:solidFill>
                <a:latin typeface="Arial"/>
                <a:ea typeface="Arial"/>
                <a:cs typeface="Arial"/>
              </a:rPr>
              <a:t>, </a:t>
            </a:r>
            <a:r>
              <a:rPr sz="1000" b="1" i="0" u="none" cap="none">
                <a:solidFill>
                  <a:schemeClr val="dk1"/>
                </a:solidFill>
                <a:latin typeface="Arial"/>
                <a:ea typeface="Arial"/>
                <a:cs typeface="Arial"/>
              </a:rPr>
              <a:t>Validation Set: 14 images</a:t>
            </a:r>
            <a:r>
              <a:rPr sz="1000" b="0" i="0" u="none" cap="none">
                <a:solidFill>
                  <a:schemeClr val="dk1"/>
                </a:solidFill>
                <a:latin typeface="Arial"/>
                <a:ea typeface="Arial"/>
                <a:cs typeface="Arial"/>
              </a:rPr>
              <a:t>, </a:t>
            </a:r>
            <a:r>
              <a:rPr sz="1000" b="1" i="0" u="none" cap="none">
                <a:solidFill>
                  <a:schemeClr val="dk1"/>
                </a:solidFill>
                <a:latin typeface="Arial"/>
                <a:ea typeface="Arial"/>
                <a:cs typeface="Arial"/>
              </a:rPr>
              <a:t>Testing Set: 2 images</a:t>
            </a:r>
            <a:r>
              <a:rPr sz="1000" b="0" i="0" u="none" cap="none">
                <a:solidFill>
                  <a:schemeClr val="dk1"/>
                </a:solidFill>
                <a:latin typeface="Arial"/>
                <a:ea typeface="Arial"/>
                <a:cs typeface="Arial"/>
              </a:rPr>
              <a:t>.</a:t>
            </a:r>
            <a:endParaRPr sz="1000" b="0" i="0" u="none" cap="none">
              <a:solidFill>
                <a:schemeClr val="dk1"/>
              </a:solidFill>
              <a:latin typeface="Arial"/>
              <a:ea typeface="Arial"/>
              <a:cs typeface="Arial"/>
            </a:endParaRPr>
          </a:p>
          <a:p xmlns:a="http://schemas.openxmlformats.org/drawingml/2006/main">
            <a:pPr marL="457200" marR="0" lvl="0" indent="-292100" algn="l">
              <a:lnSpc>
                <a:spcPct val="100000"/>
              </a:lnSpc>
              <a:spcBef>
                <a:spcPts val="0"/>
              </a:spcBef>
              <a:spcAft>
                <a:spcPts val="0"/>
              </a:spcAft>
              <a:buClr>
                <a:schemeClr val="dk1"/>
              </a:buClr>
              <a:buSzPts val="1000"/>
              <a:buFont typeface="Arial"/>
              <a:buAutoNum type="arabicPeriod"/>
            </a:pPr>
            <a:r>
              <a:rPr sz="1000" b="0" i="0" u="none" cap="none">
                <a:solidFill>
                  <a:schemeClr val="dk1"/>
                </a:solidFill>
                <a:latin typeface="Arial"/>
                <a:ea typeface="Arial"/>
                <a:cs typeface="Arial"/>
              </a:rPr>
              <a:t>Baseline Model Training: A "mini-model" was trained using the dataset version:</a:t>
            </a:r>
            <a:endParaRPr sz="1000" b="0" i="0" u="none" cap="none">
              <a:solidFill>
                <a:schemeClr val="dk1"/>
              </a:solidFill>
              <a:latin typeface="Arial"/>
              <a:ea typeface="Arial"/>
              <a:cs typeface="Arial"/>
            </a:endParaRPr>
          </a:p>
          <a:p xmlns:a="http://schemas.openxmlformats.org/drawingml/2006/main">
            <a:pPr marL="457200" marR="0" lvl="0" indent="0" algn="l">
              <a:lnSpc>
                <a:spcPct val="100000"/>
              </a:lnSpc>
              <a:spcBef>
                <a:spcPts val="0"/>
              </a:spcBef>
              <a:spcAft>
                <a:spcPts val="0"/>
              </a:spcAft>
              <a:buClr>
                <a:srgbClr val="000000"/>
              </a:buClr>
              <a:buSzPts val="1000"/>
              <a:buFont typeface="Arial"/>
              <a:buNone/>
            </a:pPr>
            <a:r>
              <a:rPr sz="1000" b="0" i="0" u="none" cap="none">
                <a:solidFill>
                  <a:schemeClr val="dk1"/>
                </a:solidFill>
                <a:latin typeface="Arial"/>
                <a:ea typeface="Arial"/>
                <a:cs typeface="Arial"/>
              </a:rPr>
              <a:t> - Architecture: Roboflow 3.0 (YOLOv8-compatible)</a:t>
            </a:r>
            <a:endParaRPr sz="1000" b="0" i="0" u="none" cap="none">
              <a:solidFill>
                <a:schemeClr val="dk1"/>
              </a:solidFill>
              <a:latin typeface="Arial"/>
              <a:ea typeface="Arial"/>
              <a:cs typeface="Arial"/>
            </a:endParaRPr>
          </a:p>
          <a:p xmlns:a="http://schemas.openxmlformats.org/drawingml/2006/main">
            <a:pPr marL="457200" marR="0" lvl="0" indent="0" algn="l">
              <a:lnSpc>
                <a:spcPct val="100000"/>
              </a:lnSpc>
              <a:spcBef>
                <a:spcPts val="0"/>
              </a:spcBef>
              <a:spcAft>
                <a:spcPts val="0"/>
              </a:spcAft>
              <a:buClr>
                <a:srgbClr val="000000"/>
              </a:buClr>
              <a:buSzPts val="1000"/>
              <a:buFont typeface="Arial"/>
              <a:buNone/>
            </a:pPr>
            <a:r>
              <a:rPr sz="1000" b="0" i="0" u="none" cap="none">
                <a:solidFill>
                  <a:schemeClr val="dk1"/>
                </a:solidFill>
                <a:latin typeface="Arial"/>
                <a:ea typeface="Arial"/>
                <a:cs typeface="Arial"/>
              </a:rPr>
              <a:t> - Size: Medium</a:t>
            </a:r>
            <a:endParaRPr sz="1000" b="0" i="0" u="none" cap="none">
              <a:solidFill>
                <a:schemeClr val="dk1"/>
              </a:solidFill>
              <a:latin typeface="Arial"/>
              <a:ea typeface="Arial"/>
              <a:cs typeface="Arial"/>
            </a:endParaRPr>
          </a:p>
          <a:p xmlns:a="http://schemas.openxmlformats.org/drawingml/2006/main">
            <a:pPr marL="457200" marR="0" lvl="0" indent="0" algn="l">
              <a:lnSpc>
                <a:spcPct val="100000"/>
              </a:lnSpc>
              <a:spcBef>
                <a:spcPts val="0"/>
              </a:spcBef>
              <a:spcAft>
                <a:spcPts val="0"/>
              </a:spcAft>
              <a:buClr>
                <a:srgbClr val="000000"/>
              </a:buClr>
              <a:buSzPts val="1000"/>
              <a:buFont typeface="Arial"/>
              <a:buNone/>
            </a:pPr>
            <a:r>
              <a:rPr sz="1000" b="0" i="0" u="none" cap="none">
                <a:solidFill>
                  <a:schemeClr val="dk1"/>
                </a:solidFill>
                <a:latin typeface="Arial"/>
                <a:ea typeface="Arial"/>
                <a:cs typeface="Arial"/>
              </a:rPr>
              <a:t> - Weights: Trained from </a:t>
            </a:r>
            <a:r>
              <a:rPr sz="1000" b="1" i="0" u="none" cap="none">
                <a:solidFill>
                  <a:schemeClr val="dk1"/>
                </a:solidFill>
                <a:latin typeface="Arial"/>
                <a:ea typeface="Arial"/>
                <a:cs typeface="Arial"/>
              </a:rPr>
              <a:t>Public Checkpoint (MS COCO)</a:t>
            </a:r>
            <a:r>
              <a:rPr sz="1000" b="0" i="0" u="none" cap="none">
                <a:solidFill>
                  <a:schemeClr val="dk1"/>
                </a:solidFill>
                <a:latin typeface="Arial"/>
                <a:ea typeface="Arial"/>
                <a:cs typeface="Arial"/>
              </a:rPr>
              <a:t> to leverage transfer learning. </a:t>
            </a:r>
            <a:endParaRPr sz="1000" b="0" i="0" u="none" cap="none">
              <a:solidFill>
                <a:schemeClr val="dk1"/>
              </a:solidFill>
              <a:latin typeface="Arial"/>
              <a:ea typeface="Arial"/>
              <a:cs typeface="Arial"/>
            </a:endParaRPr>
          </a:p>
          <a:p xmlns:a="http://schemas.openxmlformats.org/drawingml/2006/main">
            <a:pPr marL="457200" marR="0" lvl="0" indent="0" algn="l">
              <a:lnSpc>
                <a:spcPct val="100000"/>
              </a:lnSpc>
              <a:spcBef>
                <a:spcPts val="0"/>
              </a:spcBef>
              <a:spcAft>
                <a:spcPts val="0"/>
              </a:spcAft>
              <a:buClr>
                <a:srgbClr val="000000"/>
              </a:buClr>
              <a:buSzPts val="1000"/>
              <a:buFont typeface="Arial"/>
              <a:buNone/>
            </a:pPr>
            <a:r>
              <a:rPr sz="1000" b="0" i="0" u="none" cap="none">
                <a:solidFill>
                  <a:schemeClr val="dk1"/>
                </a:solidFill>
                <a:latin typeface="Arial"/>
                <a:ea typeface="Arial"/>
                <a:cs typeface="Arial"/>
              </a:rPr>
              <a:t>（V4-VERSION , mAP@50( 79.4%) </a:t>
            </a:r>
            <a:endParaRPr sz="1000" b="0" i="0" u="none" cap="none">
              <a:solidFill>
                <a:schemeClr val="dk1"/>
              </a:solidFill>
              <a:latin typeface="Arial"/>
              <a:ea typeface="Arial"/>
              <a:cs typeface="Arial"/>
            </a:endParaRPr>
          </a:p>
          <a:p xmlns:a="http://schemas.openxmlformats.org/drawingml/2006/main">
            <a:pPr marL="457200" marR="0" lvl="0" indent="-292100" algn="l">
              <a:lnSpc>
                <a:spcPct val="100000"/>
              </a:lnSpc>
              <a:spcBef>
                <a:spcPts val="0"/>
              </a:spcBef>
              <a:spcAft>
                <a:spcPts val="0"/>
              </a:spcAft>
              <a:buClr>
                <a:schemeClr val="dk1"/>
              </a:buClr>
              <a:buSzPts val="1000"/>
              <a:buFont typeface="Arial"/>
              <a:buAutoNum type="arabicPeriod"/>
            </a:pPr>
            <a:r>
              <a:rPr sz="1000" b="0" i="0" u="none" cap="none">
                <a:solidFill>
                  <a:schemeClr val="dk1"/>
                </a:solidFill>
                <a:latin typeface="Arial"/>
                <a:ea typeface="Arial"/>
                <a:cs typeface="Arial"/>
              </a:rPr>
              <a:t>Auto-Labeling: The trained Baseline Model was run on the remaining unlabeled images using Roboflow's </a:t>
            </a:r>
            <a:r>
              <a:rPr sz="1000" b="1" i="0" u="none" cap="none">
                <a:solidFill>
                  <a:schemeClr val="dk1"/>
                </a:solidFill>
                <a:latin typeface="Arial"/>
                <a:ea typeface="Arial"/>
                <a:cs typeface="Arial"/>
              </a:rPr>
              <a:t>Label Assist</a:t>
            </a:r>
            <a:r>
              <a:rPr sz="1000" b="0" i="0" u="none" cap="none">
                <a:solidFill>
                  <a:schemeClr val="dk1"/>
                </a:solidFill>
                <a:latin typeface="Arial"/>
                <a:ea typeface="Arial"/>
                <a:cs typeface="Arial"/>
              </a:rPr>
              <a:t> feature.</a:t>
            </a:r>
            <a:endParaRPr sz="1000" b="0" i="0" u="none" cap="none">
              <a:solidFill>
                <a:schemeClr val="dk1"/>
              </a:solidFill>
              <a:latin typeface="Arial"/>
              <a:ea typeface="Arial"/>
              <a:cs typeface="Arial"/>
            </a:endParaRPr>
          </a:p>
          <a:p xmlns:a="http://schemas.openxmlformats.org/drawingml/2006/main">
            <a:pPr marL="457200" marR="0" lvl="0" indent="-292100" algn="l">
              <a:lnSpc>
                <a:spcPct val="100000"/>
              </a:lnSpc>
              <a:spcBef>
                <a:spcPts val="0"/>
              </a:spcBef>
              <a:spcAft>
                <a:spcPts val="0"/>
              </a:spcAft>
              <a:buClr>
                <a:schemeClr val="dk1"/>
              </a:buClr>
              <a:buSzPts val="1000"/>
              <a:buFont typeface="Arial"/>
              <a:buAutoNum type="arabicPeriod"/>
            </a:pPr>
            <a:r>
              <a:rPr sz="1000" b="0" i="0" u="none" cap="none">
                <a:solidFill>
                  <a:schemeClr val="dk1"/>
                </a:solidFill>
                <a:latin typeface="Arial"/>
                <a:ea typeface="Arial"/>
                <a:cs typeface="Arial"/>
              </a:rPr>
              <a:t>Human Refinement: </a:t>
            </a:r>
            <a:endParaRPr sz="1000" b="0" i="0" u="none" cap="none">
              <a:solidFill>
                <a:schemeClr val="dk1"/>
              </a:solidFill>
              <a:latin typeface="Arial"/>
              <a:ea typeface="Arial"/>
              <a:cs typeface="Arial"/>
            </a:endParaRPr>
          </a:p>
          <a:p xmlns:a="http://schemas.openxmlformats.org/drawingml/2006/main">
            <a:pPr marL="457200" marR="0" lvl="0" indent="0" algn="l">
              <a:lnSpc>
                <a:spcPct val="100000"/>
              </a:lnSpc>
              <a:spcBef>
                <a:spcPts val="0"/>
              </a:spcBef>
              <a:spcAft>
                <a:spcPts val="0"/>
              </a:spcAft>
              <a:buClr>
                <a:srgbClr val="000000"/>
              </a:buClr>
              <a:buSzPts val="1000"/>
              <a:buFont typeface="Arial"/>
              <a:buNone/>
            </a:pPr>
            <a:r>
              <a:rPr sz="1000" b="0" i="0" u="none" cap="none">
                <a:solidFill>
                  <a:schemeClr val="dk1"/>
                </a:solidFill>
                <a:latin typeface="Arial"/>
                <a:ea typeface="Arial"/>
                <a:cs typeface="Arial"/>
              </a:rPr>
              <a:t>- Removal of False Positives (incorrect boxes).</a:t>
            </a:r>
            <a:endParaRPr sz="1100" b="0" i="0" u="none" cap="none">
              <a:solidFill>
                <a:schemeClr val="dk1"/>
              </a:solidFill>
              <a:latin typeface="Arial"/>
              <a:ea typeface="Arial"/>
              <a:cs typeface="Arial"/>
            </a:endParaRPr>
          </a:p>
          <a:p xmlns:a="http://schemas.openxmlformats.org/drawingml/2006/main">
            <a:pPr marL="457200" marR="0" lvl="0" indent="0" algn="l">
              <a:lnSpc>
                <a:spcPct val="100000"/>
              </a:lnSpc>
              <a:spcBef>
                <a:spcPts val="0"/>
              </a:spcBef>
              <a:spcAft>
                <a:spcPts val="0"/>
              </a:spcAft>
              <a:buClr>
                <a:srgbClr val="000000"/>
              </a:buClr>
              <a:buSzPts val="1000"/>
              <a:buFont typeface="Arial"/>
              <a:buNone/>
            </a:pPr>
            <a:r>
              <a:rPr sz="1000" b="0" i="0" u="none" cap="none">
                <a:solidFill>
                  <a:schemeClr val="dk1"/>
                </a:solidFill>
                <a:latin typeface="Arial"/>
                <a:ea typeface="Arial"/>
                <a:cs typeface="Arial"/>
              </a:rPr>
              <a:t>- Adjustment of inaccurate box positions and dimensions.</a:t>
            </a:r>
            <a:endParaRPr sz="1000" b="0" i="0" u="none" cap="none">
              <a:solidFill>
                <a:schemeClr val="dk1"/>
              </a:solidFill>
              <a:latin typeface="Arial"/>
              <a:ea typeface="Arial"/>
              <a:cs typeface="Arial"/>
            </a:endParaRPr>
          </a:p>
          <a:p xmlns:a="http://schemas.openxmlformats.org/drawingml/2006/main">
            <a:pPr marL="457200" marR="0" lvl="0" indent="0" algn="l">
              <a:lnSpc>
                <a:spcPct val="100000"/>
              </a:lnSpc>
              <a:spcBef>
                <a:spcPts val="0"/>
              </a:spcBef>
              <a:spcAft>
                <a:spcPts val="0"/>
              </a:spcAft>
              <a:buClr>
                <a:srgbClr val="000000"/>
              </a:buClr>
              <a:buSzPts val="1000"/>
              <a:buFont typeface="Arial"/>
              <a:buNone/>
            </a:pPr>
            <a:r>
              <a:rPr sz="1000" b="0" i="0" u="none" cap="none">
                <a:solidFill>
                  <a:schemeClr val="dk1"/>
                </a:solidFill>
                <a:latin typeface="Arial"/>
                <a:ea typeface="Arial"/>
                <a:cs typeface="Arial"/>
              </a:rPr>
              <a:t>- Addition of False Negatives (missed human instances).</a:t>
            </a:r>
            <a:endParaRPr sz="1000" b="0" i="0" u="none" cap="none">
              <a:solidFill>
                <a:schemeClr val="dk1"/>
              </a:solidFill>
              <a:latin typeface="Arial"/>
              <a:ea typeface="Arial"/>
              <a:cs typeface="Arial"/>
            </a:endParaRPr>
          </a:p>
          <a:p xmlns:a="http://schemas.openxmlformats.org/drawingml/2006/main">
            <a:pPr marL="457200" marR="0" lvl="0" indent="-292100" algn="l">
              <a:lnSpc>
                <a:spcPct val="100000"/>
              </a:lnSpc>
              <a:spcBef>
                <a:spcPts val="0"/>
              </a:spcBef>
              <a:spcAft>
                <a:spcPts val="0"/>
              </a:spcAft>
              <a:buClr>
                <a:schemeClr val="dk1"/>
              </a:buClr>
              <a:buSzPts val="1000"/>
              <a:buFont typeface="Arial"/>
              <a:buAutoNum type="arabicPeriod"/>
            </a:pPr>
            <a:r>
              <a:rPr sz="1000" b="0" i="0" u="none" cap="none">
                <a:solidFill>
                  <a:schemeClr val="dk1"/>
                </a:solidFill>
                <a:latin typeface="Arial"/>
                <a:ea typeface="Arial"/>
                <a:cs typeface="Arial"/>
              </a:rPr>
              <a:t>After the first cycle of auto-labeling and refinement, the dataset was expanded from 82 images </a:t>
            </a:r>
            <a:endParaRPr sz="1000" b="0" i="0" u="none" cap="none">
              <a:solidFill>
                <a:schemeClr val="dk1"/>
              </a:solidFill>
              <a:latin typeface="Arial"/>
              <a:ea typeface="Arial"/>
              <a:cs typeface="Arial"/>
            </a:endParaRPr>
          </a:p>
          <a:p xmlns:a="http://schemas.openxmlformats.org/drawingml/2006/main">
            <a:pPr marL="457200" marR="0" lvl="0" indent="0" algn="l">
              <a:lnSpc>
                <a:spcPct val="100000"/>
              </a:lnSpc>
              <a:spcBef>
                <a:spcPts val="0"/>
              </a:spcBef>
              <a:spcAft>
                <a:spcPts val="0"/>
              </a:spcAft>
              <a:buClr>
                <a:srgbClr val="000000"/>
              </a:buClr>
              <a:buSzPts val="1000"/>
              <a:buFont typeface="Arial"/>
              <a:buNone/>
            </a:pPr>
            <a:r>
              <a:rPr sz="1000" b="0" i="0" u="none" cap="none">
                <a:solidFill>
                  <a:schemeClr val="dk1"/>
                </a:solidFill>
                <a:latin typeface="Arial"/>
                <a:ea typeface="Arial"/>
                <a:cs typeface="Arial"/>
              </a:rPr>
              <a:t>to </a:t>
            </a:r>
            <a:r>
              <a:rPr sz="1000" b="1" i="0" u="none" cap="none">
                <a:solidFill>
                  <a:schemeClr val="dk1"/>
                </a:solidFill>
                <a:latin typeface="Arial"/>
                <a:ea typeface="Arial"/>
                <a:cs typeface="Arial"/>
              </a:rPr>
              <a:t>224 images</a:t>
            </a:r>
            <a:r>
              <a:rPr sz="1000" b="0" i="0" u="none" cap="none">
                <a:solidFill>
                  <a:schemeClr val="dk1"/>
                </a:solidFill>
                <a:latin typeface="Arial"/>
                <a:ea typeface="Arial"/>
                <a:cs typeface="Arial"/>
              </a:rPr>
              <a:t>.</a:t>
            </a:r>
            <a:endParaRPr sz="1000" b="0" i="0" u="none" cap="none">
              <a:solidFill>
                <a:schemeClr val="dk1"/>
              </a:solidFill>
              <a:latin typeface="Arial"/>
              <a:ea typeface="Arial"/>
              <a:cs typeface="Arial"/>
            </a:endParaRPr>
          </a:p>
          <a:p xmlns:a="http://schemas.openxmlformats.org/drawingml/2006/main">
            <a:pPr marL="457200" marR="0" lvl="0" indent="-292100" algn="l">
              <a:lnSpc>
                <a:spcPct val="100000"/>
              </a:lnSpc>
              <a:spcBef>
                <a:spcPts val="0"/>
              </a:spcBef>
              <a:spcAft>
                <a:spcPts val="0"/>
              </a:spcAft>
              <a:buClr>
                <a:schemeClr val="dk1"/>
              </a:buClr>
              <a:buSzPts val="1000"/>
              <a:buFont typeface="Arial"/>
              <a:buAutoNum type="arabicPeriod"/>
            </a:pPr>
            <a:r>
              <a:rPr sz="1000" b="0" i="0" u="none" cap="none">
                <a:solidFill>
                  <a:schemeClr val="dk1"/>
                </a:solidFill>
                <a:latin typeface="Arial"/>
                <a:ea typeface="Arial"/>
                <a:cs typeface="Arial"/>
              </a:rPr>
              <a:t>Retraining Iteration (V5)</a:t>
            </a:r>
            <a:endParaRPr sz="10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1000"/>
              <a:buFont typeface="Arial"/>
              <a:buNone/>
            </a:pPr>
            <a:r>
              <a:rPr sz="1000" b="0" i="0" u="none" cap="none">
                <a:solidFill>
                  <a:schemeClr val="dk1"/>
                </a:solidFill>
                <a:latin typeface="Arial"/>
                <a:ea typeface="Arial"/>
                <a:cs typeface="Arial"/>
              </a:rPr>
              <a:t>New Dataset Size: 224 Images</a:t>
            </a:r>
            <a:endParaRPr sz="10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1000"/>
              <a:buFont typeface="Arial"/>
              <a:buNone/>
            </a:pPr>
            <a:r>
              <a:rPr sz="1000" b="0" i="0" u="none" cap="none">
                <a:solidFill>
                  <a:schemeClr val="dk1"/>
                </a:solidFill>
                <a:latin typeface="Arial"/>
                <a:ea typeface="Arial"/>
                <a:cs typeface="Arial"/>
              </a:rPr>
              <a:t>New Dataset Split: split was adopted: Train: 157 images, Valid: 45 images, Test: 22 images.(70/20/10)</a:t>
            </a:r>
            <a:endParaRPr sz="10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1000"/>
              <a:buFont typeface="Arial"/>
              <a:buNone/>
            </a:pPr>
            <a:r>
              <a:rPr sz="1000" b="0" i="0" u="none" cap="none">
                <a:solidFill>
                  <a:schemeClr val="dk1"/>
                </a:solidFill>
                <a:latin typeface="Arial"/>
                <a:ea typeface="Arial"/>
                <a:cs typeface="Arial"/>
              </a:rPr>
              <a:t>Training Strategy: The Train from Previous Checkpoint method was used.</a:t>
            </a:r>
            <a:endParaRPr sz="1000" b="0" i="0" u="none" cap="none">
              <a:solidFill>
                <a:schemeClr val="dk1"/>
              </a:solidFill>
              <a:latin typeface="Arial"/>
              <a:ea typeface="Arial"/>
              <a:cs typeface="Arial"/>
            </a:endParaRPr>
          </a:p>
          <a:p xmlns:a="http://schemas.openxmlformats.org/drawingml/2006/main">
            <a:pPr marL="457200" marR="0" lvl="0" indent="0" algn="l">
              <a:lnSpc>
                <a:spcPct val="115000"/>
              </a:lnSpc>
              <a:spcBef>
                <a:spcPts val="0"/>
              </a:spcBef>
              <a:spcAft>
                <a:spcPts val="0"/>
              </a:spcAft>
              <a:buClr>
                <a:srgbClr val="000000"/>
              </a:buClr>
              <a:buSzPts val="1000"/>
              <a:buFont typeface="Arial"/>
              <a:buNone/>
            </a:pPr>
            <a:r>
              <a:rPr sz="1000" b="0" i="0" u="none" cap="none">
                <a:solidFill>
                  <a:schemeClr val="dk1"/>
                </a:solidFill>
                <a:latin typeface="Arial"/>
                <a:ea typeface="Arial"/>
                <a:cs typeface="Arial"/>
              </a:rPr>
              <a:t>Model Type: Roboflow 3.0 Medium</a:t>
            </a:r>
            <a:endParaRPr sz="1000" b="0" i="0" u="none" cap="none">
              <a:solidFill>
                <a:schemeClr val="dk1"/>
              </a:solidFill>
              <a:latin typeface="Arial"/>
              <a:ea typeface="Arial"/>
              <a:cs typeface="Arial"/>
            </a:endParaRPr>
          </a:p>
          <a:p xmlns:a="http://schemas.openxmlformats.org/drawingml/2006/main">
            <a:pPr marL="457200" marR="0" lvl="0" indent="0" algn="l">
              <a:lnSpc>
                <a:spcPct val="100000"/>
              </a:lnSpc>
              <a:spcBef>
                <a:spcPts val="0"/>
              </a:spcBef>
              <a:spcAft>
                <a:spcPts val="0"/>
              </a:spcAft>
              <a:buClr>
                <a:srgbClr val="000000"/>
              </a:buClr>
              <a:buSzPts val="1000"/>
              <a:buFont typeface="Arial"/>
              <a:buNone/>
            </a:pPr>
            <a:r>
              <a:rPr sz="1000" b="0" i="0" u="none" cap="none">
                <a:solidFill>
                  <a:schemeClr val="dk1"/>
                </a:solidFill>
                <a:latin typeface="Arial"/>
                <a:ea typeface="Arial"/>
                <a:cs typeface="Arial"/>
              </a:rPr>
              <a:t>V5-VERSION , mAP@50( 72.4%)  </a:t>
            </a:r>
            <a:r>
              <a:rPr sz="1000" b="0" i="1" u="none" cap="none">
                <a:solidFill>
                  <a:schemeClr val="dk1"/>
                </a:solidFill>
                <a:latin typeface="Arial"/>
                <a:ea typeface="Arial"/>
                <a:cs typeface="Arial"/>
              </a:rPr>
              <a:t>This decline does not signify poorer model performance; rather, it reflects a more stringent evaluation. By increasing the size of our validation set, we introduced more challenging and diverse images, making the 72.4% a more robust and accurate assessment of the model's true generalization ability.</a:t>
            </a:r>
            <a:endParaRPr sz="1000" b="0" i="1" u="none" cap="none">
              <a:solidFill>
                <a:schemeClr val="dk1"/>
              </a:solidFill>
              <a:latin typeface="Arial"/>
              <a:ea typeface="Arial"/>
              <a:cs typeface="Arial"/>
            </a:endParaRPr>
          </a:p>
          <a:p xmlns:a="http://schemas.openxmlformats.org/drawingml/2006/main">
            <a:pPr marL="457200" marR="0" lvl="0" indent="-292100" algn="l">
              <a:lnSpc>
                <a:spcPct val="115000"/>
              </a:lnSpc>
              <a:spcBef>
                <a:spcPts val="0"/>
              </a:spcBef>
              <a:spcAft>
                <a:spcPts val="0"/>
              </a:spcAft>
              <a:buClr>
                <a:schemeClr val="dk1"/>
              </a:buClr>
              <a:buSzPts val="1000"/>
              <a:buFont typeface="Arial"/>
              <a:buAutoNum type="arabicPeriod"/>
            </a:pPr>
            <a:r>
              <a:rPr sz="1000" b="0" i="0" u="none" cap="none">
                <a:solidFill>
                  <a:schemeClr val="dk1"/>
                </a:solidFill>
                <a:latin typeface="Arial"/>
                <a:ea typeface="Arial"/>
                <a:cs typeface="Arial"/>
              </a:rPr>
              <a:t>Human Refinement until all </a:t>
            </a:r>
            <a:r>
              <a:rPr sz="1000" b="1" i="0" u="none" cap="none">
                <a:solidFill>
                  <a:schemeClr val="dk1"/>
                </a:solidFill>
                <a:latin typeface="Arial"/>
                <a:ea typeface="Arial"/>
                <a:cs typeface="Arial"/>
              </a:rPr>
              <a:t>600 images</a:t>
            </a:r>
            <a:r>
              <a:rPr sz="1000" b="0" i="0" u="none" cap="none">
                <a:solidFill>
                  <a:schemeClr val="dk1"/>
                </a:solidFill>
                <a:latin typeface="Arial"/>
                <a:ea typeface="Arial"/>
                <a:cs typeface="Arial"/>
              </a:rPr>
              <a:t> were fully annotated. (The dataset mainly contains  1,718 human instances.)</a:t>
            </a:r>
            <a:endParaRPr sz="1000" b="0" i="0" u="none" cap="none">
              <a:solidFill>
                <a:schemeClr val="dk1"/>
              </a:solidFill>
              <a:latin typeface="Arial"/>
              <a:ea typeface="Arial"/>
              <a:cs typeface="Arial"/>
            </a:endParaRPr>
          </a:p>
        </p:txBody>
      </p:sp>
      <p:sp>
        <p:nvSpPr>
          <p:cNvPr id="126" name="Google Shape;126;p8">
            <a:extLst xmlns:a="http://schemas.openxmlformats.org/drawingml/2006/main">
              <a:ext uri="{FF2B5EF4-FFF2-40B4-BE49-F238E27FC236}">
                <a16:creationId xmlns:a16="http://schemas.microsoft.com/office/drawing/2014/main" id="{07FC4AC3-396E-48C3-BF94-804140B2F9C7}"/>
              </a:ext>
            </a:extLst>
          </p:cNvPr>
          <p:cNvSpPr>
            <a:spLocks xmlns:a="http://schemas.openxmlformats.org/drawingml/2006/main" noGrp="1"/>
          </p:cNvSpPr>
          <p:nvPr/>
        </p:nvSpPr>
        <p:spPr>
          <a:xfrm xmlns:a="http://schemas.openxmlformats.org/drawingml/2006/main">
            <a:off x="167050" y="131275"/>
            <a:ext cx="8730600" cy="4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200"/>
              <a:buFont typeface="Arial"/>
              <a:buNone/>
            </a:pPr>
            <a:r>
              <a:rPr sz="2200" b="1" i="0" u="none" cap="none">
                <a:solidFill>
                  <a:srgbClr val="595959"/>
                </a:solidFill>
                <a:latin typeface="Arial"/>
                <a:ea typeface="Arial"/>
                <a:cs typeface="Arial"/>
              </a:rPr>
              <a:t>2.1  Annotation Process</a:t>
            </a:r>
            <a:endParaRPr sz="2200" b="1" i="0" u="none" cap="none">
              <a:solidFill>
                <a:srgbClr val="595959"/>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200"/>
              <a:buFont typeface="Arial"/>
              <a:buNone/>
            </a:pPr>
            <a:r>
              <a:t/>
            </a:r>
            <a:endParaRPr sz="2200" b="1" i="0" u="none" cap="none">
              <a:solidFill>
                <a:srgbClr val="595959"/>
              </a:solidFill>
              <a:latin typeface="Arial"/>
              <a:ea typeface="Arial"/>
              <a:cs typeface="Arial"/>
            </a:endParaRPr>
          </a:p>
        </p:txBody>
      </p:sp>
      <p:pic>
        <p:nvPicPr>
          <p:cNvPr id="130" name="Google Shape;127;p8"/>
          <p:cNvPicPr>
            <a:picLocks xmlns:a="http://schemas.openxmlformats.org/drawingml/2006/main" noChangeAspect="1"/>
          </p:cNvPicPr>
          <p:nvPr/>
        </p:nvPicPr>
        <p:blipFill rotWithShape="1">
          <a:blip xmlns:r="http://schemas.openxmlformats.org/officeDocument/2006/relationships" xmlns:a="http://schemas.openxmlformats.org/drawingml/2006/main" r:embed="R1cb234ce756c451a">
            <a:alphaModFix/>
          </a:blip>
          <a:srcRect xmlns:a="http://schemas.openxmlformats.org/drawingml/2006/main" l="0" t="0" r="0" b="0"/>
          <a:stretch xmlns:a="http://schemas.openxmlformats.org/drawingml/2006/main"/>
        </p:blipFill>
        <p:spPr>
          <a:xfrm xmlns:a="http://schemas.openxmlformats.org/drawingml/2006/main">
            <a:off x="6313647" y="2774626"/>
            <a:ext cx="2854230" cy="1530126"/>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23509726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32" name="Google Shape;132;p9">
            <a:extLst xmlns:a="http://schemas.openxmlformats.org/drawingml/2006/main">
              <a:ext uri="{FF2B5EF4-FFF2-40B4-BE49-F238E27FC236}">
                <a16:creationId xmlns:a16="http://schemas.microsoft.com/office/drawing/2014/main" id="{DC1A2AD5-4043-480A-BAFE-ECAD17690910}"/>
              </a:ext>
            </a:extLst>
          </p:cNvPr>
          <p:cNvSpPr>
            <a:spLocks xmlns:a="http://schemas.openxmlformats.org/drawingml/2006/main" noGrp="1"/>
          </p:cNvSpPr>
          <p:nvPr/>
        </p:nvSpPr>
        <p:spPr>
          <a:xfrm xmlns:a="http://schemas.openxmlformats.org/drawingml/2006/main">
            <a:off x="167050" y="131275"/>
            <a:ext cx="8730600" cy="4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200"/>
              <a:buFont typeface="Arial"/>
              <a:buNone/>
            </a:pPr>
            <a:r>
              <a:rPr sz="2200" b="1" i="0" u="none" cap="none">
                <a:solidFill>
                  <a:srgbClr val="595959"/>
                </a:solidFill>
                <a:latin typeface="Arial"/>
                <a:ea typeface="Arial"/>
                <a:cs typeface="Arial"/>
              </a:rPr>
              <a:t>2.2  Analysis of the results</a:t>
            </a:r>
            <a:endParaRPr sz="2200" b="1" i="0" u="none" cap="none">
              <a:solidFill>
                <a:srgbClr val="595959"/>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200"/>
              <a:buFont typeface="Arial"/>
              <a:buNone/>
            </a:pPr>
            <a:r>
              <a:t/>
            </a:r>
            <a:endParaRPr sz="2200" b="1" i="0" u="none" cap="none">
              <a:solidFill>
                <a:srgbClr val="595959"/>
              </a:solidFill>
              <a:latin typeface="Arial"/>
              <a:ea typeface="Arial"/>
              <a:cs typeface="Arial"/>
            </a:endParaRPr>
          </a:p>
        </p:txBody>
      </p:sp>
      <p:sp>
        <p:nvSpPr>
          <p:cNvPr id="133" name="Google Shape;133;p9">
            <a:extLst xmlns:a="http://schemas.openxmlformats.org/drawingml/2006/main">
              <a:ext uri="{FF2B5EF4-FFF2-40B4-BE49-F238E27FC236}">
                <a16:creationId xmlns:a16="http://schemas.microsoft.com/office/drawing/2014/main" id="{0DF44BD3-344D-48D4-9A4D-4F789E133C04}"/>
              </a:ext>
            </a:extLst>
          </p:cNvPr>
          <p:cNvSpPr>
            <a:spLocks xmlns:a="http://schemas.openxmlformats.org/drawingml/2006/main" noGrp="1"/>
          </p:cNvSpPr>
          <p:nvPr/>
        </p:nvSpPr>
        <p:spPr>
          <a:xfrm xmlns:a="http://schemas.openxmlformats.org/drawingml/2006/main">
            <a:off x="561765" y="605879"/>
            <a:ext cx="1825800" cy="3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00"/>
              <a:buFont typeface="Arial"/>
              <a:buNone/>
            </a:pPr>
            <a:r>
              <a:rPr sz="900" b="1" i="0" u="none" cap="none">
                <a:solidFill>
                  <a:srgbClr val="000000"/>
                </a:solidFill>
                <a:latin typeface="Arial"/>
                <a:ea typeface="Arial"/>
                <a:cs typeface="Arial"/>
              </a:rPr>
              <a:t>YOLOv8s(scratch) </a:t>
            </a:r>
            <a:endParaRPr sz="900" b="1" i="0" u="none" cap="none">
              <a:solidFill>
                <a:srgbClr val="000000"/>
              </a:solidFill>
              <a:latin typeface="Arial"/>
              <a:ea typeface="Arial"/>
              <a:cs typeface="Arial"/>
            </a:endParaRPr>
          </a:p>
        </p:txBody>
      </p:sp>
      <p:sp>
        <p:nvSpPr>
          <p:cNvPr id="134" name="Google Shape;134;p9">
            <a:extLst xmlns:a="http://schemas.openxmlformats.org/drawingml/2006/main">
              <a:ext uri="{FF2B5EF4-FFF2-40B4-BE49-F238E27FC236}">
                <a16:creationId xmlns:a16="http://schemas.microsoft.com/office/drawing/2014/main" id="{6910295F-9410-4706-8A45-25F146B90958}"/>
              </a:ext>
            </a:extLst>
          </p:cNvPr>
          <p:cNvSpPr>
            <a:spLocks xmlns:a="http://schemas.openxmlformats.org/drawingml/2006/main" noGrp="1"/>
          </p:cNvSpPr>
          <p:nvPr/>
        </p:nvSpPr>
        <p:spPr>
          <a:xfrm xmlns:a="http://schemas.openxmlformats.org/drawingml/2006/main">
            <a:off x="3901169" y="605879"/>
            <a:ext cx="1825800" cy="3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00"/>
              <a:buFont typeface="Arial"/>
              <a:buNone/>
            </a:pPr>
            <a:r>
              <a:rPr sz="900" b="1" i="0" u="none" cap="none">
                <a:solidFill>
                  <a:srgbClr val="000000"/>
                </a:solidFill>
                <a:latin typeface="Arial"/>
                <a:ea typeface="Arial"/>
                <a:cs typeface="Arial"/>
              </a:rPr>
              <a:t>YOLOv9s(scratch) </a:t>
            </a:r>
            <a:endParaRPr sz="900" b="1" i="0" u="none" cap="none">
              <a:solidFill>
                <a:srgbClr val="000000"/>
              </a:solidFill>
              <a:latin typeface="Arial"/>
              <a:ea typeface="Arial"/>
              <a:cs typeface="Arial"/>
            </a:endParaRPr>
          </a:p>
        </p:txBody>
      </p:sp>
      <p:sp>
        <p:nvSpPr>
          <p:cNvPr id="135" name="Google Shape;135;p9">
            <a:extLst xmlns:a="http://schemas.openxmlformats.org/drawingml/2006/main">
              <a:ext uri="{FF2B5EF4-FFF2-40B4-BE49-F238E27FC236}">
                <a16:creationId xmlns:a16="http://schemas.microsoft.com/office/drawing/2014/main" id="{3A284FAA-D4EA-4561-A816-E5C1380B08F6}"/>
              </a:ext>
            </a:extLst>
          </p:cNvPr>
          <p:cNvSpPr>
            <a:spLocks xmlns:a="http://schemas.openxmlformats.org/drawingml/2006/main" noGrp="1"/>
          </p:cNvSpPr>
          <p:nvPr/>
        </p:nvSpPr>
        <p:spPr>
          <a:xfrm xmlns:a="http://schemas.openxmlformats.org/drawingml/2006/main">
            <a:off x="6884299" y="605879"/>
            <a:ext cx="1951500" cy="3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00"/>
              <a:buFont typeface="Arial"/>
              <a:buNone/>
            </a:pPr>
            <a:r>
              <a:rPr sz="900" b="1" i="0" u="none" cap="none">
                <a:solidFill>
                  <a:srgbClr val="000000"/>
                </a:solidFill>
                <a:latin typeface="Arial"/>
                <a:ea typeface="Arial"/>
                <a:cs typeface="Arial"/>
              </a:rPr>
              <a:t>YOLOv10s(scratch) </a:t>
            </a:r>
            <a:endParaRPr sz="900" b="1" i="0" u="none" cap="none">
              <a:solidFill>
                <a:srgbClr val="000000"/>
              </a:solidFill>
              <a:latin typeface="Arial"/>
              <a:ea typeface="Arial"/>
              <a:cs typeface="Arial"/>
            </a:endParaRPr>
          </a:p>
        </p:txBody>
      </p:sp>
      <p:sp>
        <p:nvSpPr>
          <p:cNvPr id="136" name="Google Shape;136;p9">
            <a:extLst xmlns:a="http://schemas.openxmlformats.org/drawingml/2006/main">
              <a:ext uri="{FF2B5EF4-FFF2-40B4-BE49-F238E27FC236}">
                <a16:creationId xmlns:a16="http://schemas.microsoft.com/office/drawing/2014/main" id="{01300553-4DBA-4105-BBB6-50CA803CB582}"/>
              </a:ext>
            </a:extLst>
          </p:cNvPr>
          <p:cNvSpPr>
            <a:spLocks xmlns:a="http://schemas.openxmlformats.org/drawingml/2006/main" noGrp="1"/>
          </p:cNvSpPr>
          <p:nvPr/>
        </p:nvSpPr>
        <p:spPr>
          <a:xfrm xmlns:a="http://schemas.openxmlformats.org/drawingml/2006/main">
            <a:off x="431200" y="2814625"/>
            <a:ext cx="1825800" cy="30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00"/>
              <a:buFont typeface="Arial"/>
              <a:buNone/>
            </a:pPr>
            <a:r>
              <a:rPr sz="800" b="1" i="0" u="none" cap="none">
                <a:solidFill>
                  <a:srgbClr val="000000"/>
                </a:solidFill>
                <a:latin typeface="Arial"/>
                <a:ea typeface="Arial"/>
                <a:cs typeface="Arial"/>
              </a:rPr>
              <a:t>YOLOv8s(pretrained) </a:t>
            </a:r>
            <a:endParaRPr sz="800" b="1" i="0" u="none" cap="none">
              <a:solidFill>
                <a:srgbClr val="000000"/>
              </a:solidFill>
              <a:latin typeface="Arial"/>
              <a:ea typeface="Arial"/>
              <a:cs typeface="Arial"/>
            </a:endParaRPr>
          </a:p>
        </p:txBody>
      </p:sp>
      <p:sp>
        <p:nvSpPr>
          <p:cNvPr id="137" name="Google Shape;137;p9">
            <a:extLst xmlns:a="http://schemas.openxmlformats.org/drawingml/2006/main">
              <a:ext uri="{FF2B5EF4-FFF2-40B4-BE49-F238E27FC236}">
                <a16:creationId xmlns:a16="http://schemas.microsoft.com/office/drawing/2014/main" id="{E96E5F07-CC6F-446A-8EB2-591AD6CBD748}"/>
              </a:ext>
            </a:extLst>
          </p:cNvPr>
          <p:cNvSpPr>
            <a:spLocks xmlns:a="http://schemas.openxmlformats.org/drawingml/2006/main" noGrp="1"/>
          </p:cNvSpPr>
          <p:nvPr/>
        </p:nvSpPr>
        <p:spPr>
          <a:xfrm xmlns:a="http://schemas.openxmlformats.org/drawingml/2006/main">
            <a:off x="3582050" y="2814625"/>
            <a:ext cx="1825800" cy="30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00"/>
              <a:buFont typeface="Arial"/>
              <a:buNone/>
            </a:pPr>
            <a:r>
              <a:rPr sz="800" b="1" i="0" u="none" cap="none">
                <a:solidFill>
                  <a:srgbClr val="000000"/>
                </a:solidFill>
                <a:latin typeface="Arial"/>
                <a:ea typeface="Arial"/>
                <a:cs typeface="Arial"/>
              </a:rPr>
              <a:t>YOLOv9s(pretrained) </a:t>
            </a:r>
            <a:endParaRPr sz="800" b="1" i="0" u="none" cap="none">
              <a:solidFill>
                <a:srgbClr val="000000"/>
              </a:solidFill>
              <a:latin typeface="Arial"/>
              <a:ea typeface="Arial"/>
              <a:cs typeface="Arial"/>
            </a:endParaRPr>
          </a:p>
        </p:txBody>
      </p:sp>
      <p:sp>
        <p:nvSpPr>
          <p:cNvPr id="138" name="Google Shape;138;p9">
            <a:extLst xmlns:a="http://schemas.openxmlformats.org/drawingml/2006/main">
              <a:ext uri="{FF2B5EF4-FFF2-40B4-BE49-F238E27FC236}">
                <a16:creationId xmlns:a16="http://schemas.microsoft.com/office/drawing/2014/main" id="{4E7E37EF-CB4A-4135-B4F8-17133CE01F09}"/>
              </a:ext>
            </a:extLst>
          </p:cNvPr>
          <p:cNvSpPr>
            <a:spLocks xmlns:a="http://schemas.openxmlformats.org/drawingml/2006/main" noGrp="1"/>
          </p:cNvSpPr>
          <p:nvPr/>
        </p:nvSpPr>
        <p:spPr>
          <a:xfrm xmlns:a="http://schemas.openxmlformats.org/drawingml/2006/main">
            <a:off x="6807700" y="2814625"/>
            <a:ext cx="1825800" cy="30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00"/>
              <a:buFont typeface="Arial"/>
              <a:buNone/>
            </a:pPr>
            <a:r>
              <a:rPr sz="800" b="1" i="0" u="none" cap="none">
                <a:solidFill>
                  <a:srgbClr val="000000"/>
                </a:solidFill>
                <a:latin typeface="Arial"/>
                <a:ea typeface="Arial"/>
                <a:cs typeface="Arial"/>
              </a:rPr>
              <a:t>YOLOv10s(pretrained) </a:t>
            </a:r>
            <a:endParaRPr sz="800" b="1" i="0" u="none" cap="none">
              <a:solidFill>
                <a:srgbClr val="000000"/>
              </a:solidFill>
              <a:latin typeface="Arial"/>
              <a:ea typeface="Arial"/>
              <a:cs typeface="Arial"/>
            </a:endParaRPr>
          </a:p>
        </p:txBody>
      </p:sp>
      <p:pic>
        <p:nvPicPr>
          <p:cNvPr id="152" name="Google Shape;139;p9"/>
          <p:cNvPicPr>
            <a:picLocks xmlns:a="http://schemas.openxmlformats.org/drawingml/2006/main" noChangeAspect="1"/>
          </p:cNvPicPr>
          <p:nvPr/>
        </p:nvPicPr>
        <p:blipFill rotWithShape="1">
          <a:blip xmlns:r="http://schemas.openxmlformats.org/officeDocument/2006/relationships" xmlns:a="http://schemas.openxmlformats.org/drawingml/2006/main" r:embed="Re354617fb60a4a50">
            <a:alphaModFix/>
          </a:blip>
          <a:srcRect xmlns:a="http://schemas.openxmlformats.org/drawingml/2006/main" l="0" t="0" r="0" b="0"/>
          <a:stretch xmlns:a="http://schemas.openxmlformats.org/drawingml/2006/main"/>
        </p:blipFill>
        <p:spPr>
          <a:xfrm xmlns:a="http://schemas.openxmlformats.org/drawingml/2006/main">
            <a:off x="0" y="898400"/>
            <a:ext cx="3074099" cy="1897651"/>
          </a:xfrm>
          <a:prstGeom xmlns:a="http://schemas.openxmlformats.org/drawingml/2006/main" prst="rect">
            <a:avLst/>
          </a:prstGeom>
          <a:ln xmlns:a="http://schemas.openxmlformats.org/drawingml/2006/main" w="9525" cap="flat" cmpd="sng">
            <a:solidFill>
              <a:schemeClr val="dk2"/>
            </a:solidFill>
            <a:prstDash val="solid"/>
            <a:round/>
          </a:ln>
        </p:spPr>
      </p:pic>
      <p:pic>
        <p:nvPicPr>
          <p:cNvPr id="153" name="Google Shape;140;p9"/>
          <p:cNvPicPr>
            <a:picLocks xmlns:a="http://schemas.openxmlformats.org/drawingml/2006/main" noChangeAspect="1"/>
          </p:cNvPicPr>
          <p:nvPr/>
        </p:nvPicPr>
        <p:blipFill rotWithShape="1">
          <a:blip xmlns:r="http://schemas.openxmlformats.org/officeDocument/2006/relationships" xmlns:a="http://schemas.openxmlformats.org/drawingml/2006/main" r:embed="Re35e969855d74073">
            <a:alphaModFix/>
          </a:blip>
          <a:srcRect xmlns:a="http://schemas.openxmlformats.org/drawingml/2006/main" l="0" t="0" r="0" b="0"/>
          <a:stretch xmlns:a="http://schemas.openxmlformats.org/drawingml/2006/main"/>
        </p:blipFill>
        <p:spPr>
          <a:xfrm xmlns:a="http://schemas.openxmlformats.org/drawingml/2006/main">
            <a:off x="3082259" y="898375"/>
            <a:ext cx="3074089" cy="1897651"/>
          </a:xfrm>
          <a:prstGeom xmlns:a="http://schemas.openxmlformats.org/drawingml/2006/main" prst="rect">
            <a:avLst/>
          </a:prstGeom>
          <a:ln xmlns:a="http://schemas.openxmlformats.org/drawingml/2006/main" w="9525" cap="flat" cmpd="sng">
            <a:solidFill>
              <a:schemeClr val="dk2"/>
            </a:solidFill>
            <a:prstDash val="solid"/>
            <a:round/>
          </a:ln>
        </p:spPr>
      </p:pic>
      <p:pic>
        <p:nvPicPr>
          <p:cNvPr id="154" name="Google Shape;141;p9"/>
          <p:cNvPicPr>
            <a:picLocks xmlns:a="http://schemas.openxmlformats.org/drawingml/2006/main" noChangeAspect="1"/>
          </p:cNvPicPr>
          <p:nvPr/>
        </p:nvPicPr>
        <p:blipFill rotWithShape="1">
          <a:blip xmlns:r="http://schemas.openxmlformats.org/officeDocument/2006/relationships" xmlns:a="http://schemas.openxmlformats.org/drawingml/2006/main" r:embed="R35670856823d4edb">
            <a:alphaModFix/>
          </a:blip>
          <a:srcRect xmlns:a="http://schemas.openxmlformats.org/drawingml/2006/main" l="0" t="0" r="0" b="0"/>
          <a:stretch xmlns:a="http://schemas.openxmlformats.org/drawingml/2006/main"/>
        </p:blipFill>
        <p:spPr>
          <a:xfrm xmlns:a="http://schemas.openxmlformats.org/drawingml/2006/main">
            <a:off x="6168725" y="898375"/>
            <a:ext cx="2975273" cy="1897651"/>
          </a:xfrm>
          <a:prstGeom xmlns:a="http://schemas.openxmlformats.org/drawingml/2006/main" prst="rect">
            <a:avLst/>
          </a:prstGeom>
          <a:ln xmlns:a="http://schemas.openxmlformats.org/drawingml/2006/main" w="9525" cap="flat" cmpd="sng">
            <a:solidFill>
              <a:schemeClr val="dk2"/>
            </a:solidFill>
            <a:prstDash val="solid"/>
            <a:round/>
          </a:ln>
        </p:spPr>
      </p:pic>
      <p:pic>
        <p:nvPicPr>
          <p:cNvPr id="155" name="Google Shape;142;p9"/>
          <p:cNvPicPr>
            <a:picLocks xmlns:a="http://schemas.openxmlformats.org/drawingml/2006/main" noChangeAspect="1"/>
          </p:cNvPicPr>
          <p:nvPr/>
        </p:nvPicPr>
        <p:blipFill rotWithShape="1">
          <a:blip xmlns:r="http://schemas.openxmlformats.org/officeDocument/2006/relationships" xmlns:a="http://schemas.openxmlformats.org/drawingml/2006/main" r:embed="R949b2f63cdb541ef">
            <a:alphaModFix/>
          </a:blip>
          <a:srcRect xmlns:a="http://schemas.openxmlformats.org/drawingml/2006/main" l="0" t="0" r="0" b="0"/>
          <a:stretch xmlns:a="http://schemas.openxmlformats.org/drawingml/2006/main"/>
        </p:blipFill>
        <p:spPr>
          <a:xfrm xmlns:a="http://schemas.openxmlformats.org/drawingml/2006/main" flipH="0" flipV="0">
            <a:off x="0" y="3141000"/>
            <a:ext cx="3074099" cy="1844150"/>
          </a:xfrm>
          <a:prstGeom xmlns:a="http://schemas.openxmlformats.org/drawingml/2006/main" prst="rect">
            <a:avLst/>
          </a:prstGeom>
          <a:ln xmlns:a="http://schemas.openxmlformats.org/drawingml/2006/main" w="9525" cap="flat" cmpd="sng">
            <a:solidFill>
              <a:schemeClr val="dk2"/>
            </a:solidFill>
            <a:prstDash val="solid"/>
            <a:round/>
          </a:ln>
        </p:spPr>
      </p:pic>
      <p:pic>
        <p:nvPicPr>
          <p:cNvPr id="156" name="Google Shape;143;p9"/>
          <p:cNvPicPr>
            <a:picLocks xmlns:a="http://schemas.openxmlformats.org/drawingml/2006/main" noChangeAspect="1"/>
          </p:cNvPicPr>
          <p:nvPr/>
        </p:nvPicPr>
        <p:blipFill rotWithShape="1">
          <a:blip xmlns:r="http://schemas.openxmlformats.org/officeDocument/2006/relationships" xmlns:a="http://schemas.openxmlformats.org/drawingml/2006/main" r:embed="Rb994a268aedf4e45">
            <a:alphaModFix/>
          </a:blip>
          <a:srcRect xmlns:a="http://schemas.openxmlformats.org/drawingml/2006/main" l="0" t="0" r="0" b="0"/>
          <a:stretch xmlns:a="http://schemas.openxmlformats.org/drawingml/2006/main"/>
        </p:blipFill>
        <p:spPr>
          <a:xfrm xmlns:a="http://schemas.openxmlformats.org/drawingml/2006/main" flipH="0" flipV="0">
            <a:off x="3074100" y="3141025"/>
            <a:ext cx="3094625" cy="1844150"/>
          </a:xfrm>
          <a:prstGeom xmlns:a="http://schemas.openxmlformats.org/drawingml/2006/main" prst="rect">
            <a:avLst/>
          </a:prstGeom>
          <a:ln xmlns:a="http://schemas.openxmlformats.org/drawingml/2006/main" w="9525" cap="flat" cmpd="sng">
            <a:solidFill>
              <a:schemeClr val="dk2"/>
            </a:solidFill>
            <a:prstDash val="solid"/>
            <a:round/>
          </a:ln>
        </p:spPr>
      </p:pic>
      <p:pic>
        <p:nvPicPr>
          <p:cNvPr id="157" name="Google Shape;144;p9"/>
          <p:cNvPicPr>
            <a:picLocks xmlns:a="http://schemas.openxmlformats.org/drawingml/2006/main" noChangeAspect="1"/>
          </p:cNvPicPr>
          <p:nvPr/>
        </p:nvPicPr>
        <p:blipFill rotWithShape="1">
          <a:blip xmlns:r="http://schemas.openxmlformats.org/officeDocument/2006/relationships" xmlns:a="http://schemas.openxmlformats.org/drawingml/2006/main" r:embed="R25a179c7f1d14cd2">
            <a:alphaModFix/>
          </a:blip>
          <a:srcRect xmlns:a="http://schemas.openxmlformats.org/drawingml/2006/main" l="0" t="0" r="0" b="0"/>
          <a:stretch xmlns:a="http://schemas.openxmlformats.org/drawingml/2006/main"/>
        </p:blipFill>
        <p:spPr>
          <a:xfrm xmlns:a="http://schemas.openxmlformats.org/drawingml/2006/main" flipH="0" flipV="0">
            <a:off x="6168725" y="3141025"/>
            <a:ext cx="2975273" cy="1844150"/>
          </a:xfrm>
          <a:prstGeom xmlns:a="http://schemas.openxmlformats.org/drawingml/2006/main" prst="rect">
            <a:avLst/>
          </a:prstGeom>
          <a:ln xmlns:a="http://schemas.openxmlformats.org/drawingml/2006/main" w="9525" cap="flat" cmpd="sng">
            <a:solidFill>
              <a:schemeClr val="dk2"/>
            </a:solidFill>
            <a:prstDash val="solid"/>
            <a:round/>
          </a:ln>
        </p:spPr>
      </p:pic>
    </p:spTree>
    <p:extLst>
      <p:ext uri="{BB962C8B-B14F-4D97-AF65-F5344CB8AC3E}">
        <p14:creationId xmlns:p14="http://schemas.microsoft.com/office/powerpoint/2010/main" val="34332891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49" name="Google Shape;149;p10">
            <a:extLst xmlns:a="http://schemas.openxmlformats.org/drawingml/2006/main">
              <a:ext uri="{FF2B5EF4-FFF2-40B4-BE49-F238E27FC236}">
                <a16:creationId xmlns:a16="http://schemas.microsoft.com/office/drawing/2014/main" id="{7CCFFB7C-7579-4025-B907-0F72D0A9BE18}"/>
              </a:ext>
            </a:extLst>
          </p:cNvPr>
          <p:cNvSpPr>
            <a:spLocks xmlns:a="http://schemas.openxmlformats.org/drawingml/2006/main" noGrp="1"/>
          </p:cNvSpPr>
          <p:nvPr/>
        </p:nvSpPr>
        <p:spPr>
          <a:xfrm xmlns:a="http://schemas.openxmlformats.org/drawingml/2006/main">
            <a:off x="167050" y="131275"/>
            <a:ext cx="8730600" cy="4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200"/>
              <a:buFont typeface="Arial"/>
              <a:buNone/>
            </a:pPr>
            <a:r>
              <a:rPr sz="2200" b="1" i="0" u="none" cap="none">
                <a:solidFill>
                  <a:srgbClr val="595959"/>
                </a:solidFill>
                <a:latin typeface="Arial"/>
                <a:ea typeface="Arial"/>
                <a:cs typeface="Arial"/>
              </a:rPr>
              <a:t>2.2  Analysis of the results</a:t>
            </a:r>
            <a:endParaRPr sz="2200" b="1" i="0" u="none" cap="none">
              <a:solidFill>
                <a:srgbClr val="595959"/>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200"/>
              <a:buFont typeface="Arial"/>
              <a:buNone/>
            </a:pPr>
            <a:r>
              <a:t/>
            </a:r>
            <a:endParaRPr sz="2200" b="1" i="0" u="none" cap="none">
              <a:solidFill>
                <a:srgbClr val="595959"/>
              </a:solidFill>
              <a:latin typeface="Arial"/>
              <a:ea typeface="Arial"/>
              <a:cs typeface="Arial"/>
            </a:endParaRPr>
          </a:p>
        </p:txBody>
      </p:sp>
      <p:pic>
        <p:nvPicPr>
          <p:cNvPr id="168" name="Google Shape;150;p10"/>
          <p:cNvPicPr>
            <a:picLocks xmlns:a="http://schemas.openxmlformats.org/drawingml/2006/main" noChangeAspect="1"/>
          </p:cNvPicPr>
          <p:nvPr/>
        </p:nvPicPr>
        <p:blipFill rotWithShape="1">
          <a:blip xmlns:r="http://schemas.openxmlformats.org/officeDocument/2006/relationships" xmlns:a="http://schemas.openxmlformats.org/drawingml/2006/main" r:embed="Ra8f7908b901f4355">
            <a:alphaModFix/>
          </a:blip>
          <a:srcRect xmlns:a="http://schemas.openxmlformats.org/drawingml/2006/main" l="9118" t="0" r="11592" b="5015"/>
          <a:stretch xmlns:a="http://schemas.openxmlformats.org/drawingml/2006/main"/>
        </p:blipFill>
        <p:spPr>
          <a:xfrm xmlns:a="http://schemas.openxmlformats.org/drawingml/2006/main">
            <a:off x="742200" y="755775"/>
            <a:ext cx="2424550" cy="2178467"/>
          </a:xfrm>
          <a:prstGeom xmlns:a="http://schemas.openxmlformats.org/drawingml/2006/main" prst="rect">
            <a:avLst/>
          </a:prstGeom>
          <a:ln xmlns:a="http://schemas.openxmlformats.org/drawingml/2006/main" w="9525" cap="flat" cmpd="sng">
            <a:solidFill>
              <a:schemeClr val="dk2"/>
            </a:solidFill>
            <a:prstDash val="solid"/>
            <a:round/>
          </a:ln>
        </p:spPr>
      </p:pic>
      <p:sp>
        <p:nvSpPr>
          <p:cNvPr id="151" name="Google Shape;151;p10">
            <a:extLst xmlns:a="http://schemas.openxmlformats.org/drawingml/2006/main">
              <a:ext uri="{FF2B5EF4-FFF2-40B4-BE49-F238E27FC236}">
                <a16:creationId xmlns:a16="http://schemas.microsoft.com/office/drawing/2014/main" id="{0F044FDC-1243-41F5-A52E-4390B0969E6E}"/>
              </a:ext>
            </a:extLst>
          </p:cNvPr>
          <p:cNvSpPr>
            <a:spLocks xmlns:a="http://schemas.openxmlformats.org/drawingml/2006/main" noGrp="1"/>
          </p:cNvSpPr>
          <p:nvPr/>
        </p:nvSpPr>
        <p:spPr>
          <a:xfrm xmlns:a="http://schemas.openxmlformats.org/drawingml/2006/main">
            <a:off x="5" y="755775"/>
            <a:ext cx="742200" cy="46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00"/>
              <a:buFont typeface="Arial"/>
              <a:buNone/>
            </a:pPr>
            <a:r>
              <a:rPr sz="900" b="1" i="0" u="none" cap="none">
                <a:solidFill>
                  <a:srgbClr val="000000"/>
                </a:solidFill>
                <a:latin typeface="Arial"/>
                <a:ea typeface="Arial"/>
                <a:cs typeface="Arial"/>
              </a:rPr>
              <a:t>YOLOv8s</a:t>
            </a:r>
            <a:endParaRPr sz="900" b="1" i="0" u="non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900"/>
              <a:buFont typeface="Arial"/>
              <a:buNone/>
            </a:pPr>
            <a:r>
              <a:rPr sz="900" b="1" i="0" u="none" cap="none">
                <a:solidFill>
                  <a:srgbClr val="000000"/>
                </a:solidFill>
                <a:latin typeface="Arial"/>
                <a:ea typeface="Arial"/>
                <a:cs typeface="Arial"/>
              </a:rPr>
              <a:t>(scratch) </a:t>
            </a:r>
            <a:endParaRPr sz="900" b="1" i="0" u="none" cap="none">
              <a:solidFill>
                <a:srgbClr val="000000"/>
              </a:solidFill>
              <a:latin typeface="Arial"/>
              <a:ea typeface="Arial"/>
              <a:cs typeface="Arial"/>
            </a:endParaRPr>
          </a:p>
        </p:txBody>
      </p:sp>
      <p:sp>
        <p:nvSpPr>
          <p:cNvPr id="152" name="Google Shape;152;p10">
            <a:extLst xmlns:a="http://schemas.openxmlformats.org/drawingml/2006/main">
              <a:ext uri="{FF2B5EF4-FFF2-40B4-BE49-F238E27FC236}">
                <a16:creationId xmlns:a16="http://schemas.microsoft.com/office/drawing/2014/main" id="{F4690E45-D0EA-406F-A843-EB84A1881E99}"/>
              </a:ext>
            </a:extLst>
          </p:cNvPr>
          <p:cNvSpPr>
            <a:spLocks xmlns:a="http://schemas.openxmlformats.org/drawingml/2006/main" noGrp="1"/>
          </p:cNvSpPr>
          <p:nvPr/>
        </p:nvSpPr>
        <p:spPr>
          <a:xfrm xmlns:a="http://schemas.openxmlformats.org/drawingml/2006/main">
            <a:off x="2998149" y="755775"/>
            <a:ext cx="960300" cy="46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00"/>
              <a:buFont typeface="Arial"/>
              <a:buNone/>
            </a:pPr>
            <a:r>
              <a:rPr sz="900" b="1" i="0" u="none" cap="none">
                <a:solidFill>
                  <a:srgbClr val="000000"/>
                </a:solidFill>
                <a:latin typeface="Arial"/>
                <a:ea typeface="Arial"/>
                <a:cs typeface="Arial"/>
              </a:rPr>
              <a:t>YOLOv9s</a:t>
            </a:r>
            <a:endParaRPr sz="900" b="1" i="0" u="non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900"/>
              <a:buFont typeface="Arial"/>
              <a:buNone/>
            </a:pPr>
            <a:r>
              <a:rPr sz="900" b="1" i="0" u="none" cap="none">
                <a:solidFill>
                  <a:srgbClr val="000000"/>
                </a:solidFill>
                <a:latin typeface="Arial"/>
                <a:ea typeface="Arial"/>
                <a:cs typeface="Arial"/>
              </a:rPr>
              <a:t>(scratch) </a:t>
            </a:r>
            <a:endParaRPr sz="900" b="1" i="0" u="none" cap="none">
              <a:solidFill>
                <a:srgbClr val="000000"/>
              </a:solidFill>
              <a:latin typeface="Arial"/>
              <a:ea typeface="Arial"/>
              <a:cs typeface="Arial"/>
            </a:endParaRPr>
          </a:p>
        </p:txBody>
      </p:sp>
      <p:sp>
        <p:nvSpPr>
          <p:cNvPr id="153" name="Google Shape;153;p10">
            <a:extLst xmlns:a="http://schemas.openxmlformats.org/drawingml/2006/main">
              <a:ext uri="{FF2B5EF4-FFF2-40B4-BE49-F238E27FC236}">
                <a16:creationId xmlns:a16="http://schemas.microsoft.com/office/drawing/2014/main" id="{08CFD262-95F9-478E-AAFA-8E32E4E23105}"/>
              </a:ext>
            </a:extLst>
          </p:cNvPr>
          <p:cNvSpPr>
            <a:spLocks xmlns:a="http://schemas.openxmlformats.org/drawingml/2006/main" noGrp="1"/>
          </p:cNvSpPr>
          <p:nvPr/>
        </p:nvSpPr>
        <p:spPr>
          <a:xfrm xmlns:a="http://schemas.openxmlformats.org/drawingml/2006/main">
            <a:off x="5934860" y="755774"/>
            <a:ext cx="1044900" cy="46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900"/>
              <a:buFont typeface="Arial"/>
              <a:buNone/>
            </a:pPr>
            <a:r>
              <a:rPr sz="900" b="1" i="0" u="none" cap="none">
                <a:solidFill>
                  <a:srgbClr val="000000"/>
                </a:solidFill>
                <a:latin typeface="Arial"/>
                <a:ea typeface="Arial"/>
                <a:cs typeface="Arial"/>
              </a:rPr>
              <a:t>YOLOv10s</a:t>
            </a:r>
            <a:endParaRPr sz="900" b="1" i="0" u="non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900"/>
              <a:buFont typeface="Arial"/>
              <a:buNone/>
            </a:pPr>
            <a:r>
              <a:rPr sz="900" b="1" i="0" u="none" cap="none">
                <a:solidFill>
                  <a:srgbClr val="000000"/>
                </a:solidFill>
                <a:latin typeface="Arial"/>
                <a:ea typeface="Arial"/>
                <a:cs typeface="Arial"/>
              </a:rPr>
              <a:t>(scratch) </a:t>
            </a:r>
            <a:endParaRPr sz="900" b="1" i="0" u="none" cap="none">
              <a:solidFill>
                <a:srgbClr val="000000"/>
              </a:solidFill>
              <a:latin typeface="Arial"/>
              <a:ea typeface="Arial"/>
              <a:cs typeface="Arial"/>
            </a:endParaRPr>
          </a:p>
        </p:txBody>
      </p:sp>
      <p:pic>
        <p:nvPicPr>
          <p:cNvPr id="172" name="Google Shape;154;p10"/>
          <p:cNvPicPr>
            <a:picLocks xmlns:a="http://schemas.openxmlformats.org/drawingml/2006/main" noChangeAspect="1"/>
          </p:cNvPicPr>
          <p:nvPr/>
        </p:nvPicPr>
        <p:blipFill rotWithShape="1">
          <a:blip xmlns:r="http://schemas.openxmlformats.org/officeDocument/2006/relationships" xmlns:a="http://schemas.openxmlformats.org/drawingml/2006/main" r:embed="Re2226e6163564261">
            <a:alphaModFix/>
          </a:blip>
          <a:srcRect xmlns:a="http://schemas.openxmlformats.org/drawingml/2006/main" l="9696" t="0" r="12234" b="5527"/>
          <a:stretch xmlns:a="http://schemas.openxmlformats.org/drawingml/2006/main"/>
        </p:blipFill>
        <p:spPr>
          <a:xfrm xmlns:a="http://schemas.openxmlformats.org/drawingml/2006/main" flipH="0" flipV="0">
            <a:off x="742200" y="2868525"/>
            <a:ext cx="2424550" cy="2200401"/>
          </a:xfrm>
          <a:prstGeom xmlns:a="http://schemas.openxmlformats.org/drawingml/2006/main" prst="rect">
            <a:avLst/>
          </a:prstGeom>
          <a:ln xmlns:a="http://schemas.openxmlformats.org/drawingml/2006/main" w="9525" cap="flat" cmpd="sng">
            <a:solidFill>
              <a:schemeClr val="dk2"/>
            </a:solidFill>
            <a:prstDash val="solid"/>
            <a:round/>
          </a:ln>
        </p:spPr>
      </p:pic>
      <p:sp>
        <p:nvSpPr>
          <p:cNvPr id="155" name="Google Shape;155;p10">
            <a:extLst xmlns:a="http://schemas.openxmlformats.org/drawingml/2006/main">
              <a:ext uri="{FF2B5EF4-FFF2-40B4-BE49-F238E27FC236}">
                <a16:creationId xmlns:a16="http://schemas.microsoft.com/office/drawing/2014/main" id="{8E56C777-F1DC-4FEF-8D62-60FEF92AE9B8}"/>
              </a:ext>
            </a:extLst>
          </p:cNvPr>
          <p:cNvSpPr>
            <a:spLocks xmlns:a="http://schemas.openxmlformats.org/drawingml/2006/main" noGrp="1"/>
          </p:cNvSpPr>
          <p:nvPr/>
        </p:nvSpPr>
        <p:spPr>
          <a:xfrm xmlns:a="http://schemas.openxmlformats.org/drawingml/2006/main">
            <a:off x="-24740" y="3240975"/>
            <a:ext cx="818400" cy="43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00"/>
              <a:buFont typeface="Arial"/>
              <a:buNone/>
            </a:pPr>
            <a:r>
              <a:rPr sz="800" b="1" i="0" u="none" cap="none">
                <a:solidFill>
                  <a:srgbClr val="000000"/>
                </a:solidFill>
                <a:latin typeface="Arial"/>
                <a:ea typeface="Arial"/>
                <a:cs typeface="Arial"/>
              </a:rPr>
              <a:t>YOLOv8s</a:t>
            </a:r>
            <a:endParaRPr sz="800" b="1" i="0" u="non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800"/>
              <a:buFont typeface="Arial"/>
              <a:buNone/>
            </a:pPr>
            <a:r>
              <a:rPr sz="800" b="1" i="0" u="none" cap="none">
                <a:solidFill>
                  <a:srgbClr val="000000"/>
                </a:solidFill>
                <a:latin typeface="Arial"/>
                <a:ea typeface="Arial"/>
                <a:cs typeface="Arial"/>
              </a:rPr>
              <a:t>(pretrained) </a:t>
            </a:r>
            <a:endParaRPr sz="800" b="1" i="0" u="none" cap="none">
              <a:solidFill>
                <a:srgbClr val="000000"/>
              </a:solidFill>
              <a:latin typeface="Arial"/>
              <a:ea typeface="Arial"/>
              <a:cs typeface="Arial"/>
            </a:endParaRPr>
          </a:p>
        </p:txBody>
      </p:sp>
      <p:pic>
        <p:nvPicPr>
          <p:cNvPr id="174" name="Google Shape;156;p10"/>
          <p:cNvPicPr>
            <a:picLocks xmlns:a="http://schemas.openxmlformats.org/drawingml/2006/main" noChangeAspect="1"/>
          </p:cNvPicPr>
          <p:nvPr/>
        </p:nvPicPr>
        <p:blipFill rotWithShape="1">
          <a:blip xmlns:r="http://schemas.openxmlformats.org/officeDocument/2006/relationships" xmlns:a="http://schemas.openxmlformats.org/drawingml/2006/main" r:embed="R40be55009d1f49a6">
            <a:alphaModFix/>
          </a:blip>
          <a:srcRect xmlns:a="http://schemas.openxmlformats.org/drawingml/2006/main" l="9893" t="0" r="12516" b="4898"/>
          <a:stretch xmlns:a="http://schemas.openxmlformats.org/drawingml/2006/main"/>
        </p:blipFill>
        <p:spPr>
          <a:xfrm xmlns:a="http://schemas.openxmlformats.org/drawingml/2006/main">
            <a:off x="3784852" y="755775"/>
            <a:ext cx="2298445" cy="2112749"/>
          </a:xfrm>
          <a:prstGeom xmlns:a="http://schemas.openxmlformats.org/drawingml/2006/main" prst="rect">
            <a:avLst/>
          </a:prstGeom>
          <a:ln xmlns:a="http://schemas.openxmlformats.org/drawingml/2006/main" w="9525" cap="flat" cmpd="sng">
            <a:solidFill>
              <a:schemeClr val="dk2"/>
            </a:solidFill>
            <a:prstDash val="solid"/>
            <a:round/>
          </a:ln>
        </p:spPr>
      </p:pic>
      <p:sp>
        <p:nvSpPr>
          <p:cNvPr id="157" name="Google Shape;157;p10">
            <a:extLst xmlns:a="http://schemas.openxmlformats.org/drawingml/2006/main">
              <a:ext uri="{FF2B5EF4-FFF2-40B4-BE49-F238E27FC236}">
                <a16:creationId xmlns:a16="http://schemas.microsoft.com/office/drawing/2014/main" id="{EF6BBFAE-88B0-4022-8352-E629EBDC41A1}"/>
              </a:ext>
            </a:extLst>
          </p:cNvPr>
          <p:cNvSpPr>
            <a:spLocks xmlns:a="http://schemas.openxmlformats.org/drawingml/2006/main" noGrp="1"/>
          </p:cNvSpPr>
          <p:nvPr/>
        </p:nvSpPr>
        <p:spPr>
          <a:xfrm xmlns:a="http://schemas.openxmlformats.org/drawingml/2006/main">
            <a:off x="3055429" y="3240975"/>
            <a:ext cx="818400" cy="43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00"/>
              <a:buFont typeface="Arial"/>
              <a:buNone/>
            </a:pPr>
            <a:r>
              <a:rPr sz="800" b="1" i="0" u="none" cap="none">
                <a:solidFill>
                  <a:srgbClr val="000000"/>
                </a:solidFill>
                <a:latin typeface="Arial"/>
                <a:ea typeface="Arial"/>
                <a:cs typeface="Arial"/>
              </a:rPr>
              <a:t>YOLOv9s</a:t>
            </a:r>
            <a:endParaRPr sz="800" b="1" i="0" u="non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800"/>
              <a:buFont typeface="Arial"/>
              <a:buNone/>
            </a:pPr>
            <a:r>
              <a:rPr sz="800" b="1" i="0" u="none" cap="none">
                <a:solidFill>
                  <a:srgbClr val="000000"/>
                </a:solidFill>
                <a:latin typeface="Arial"/>
                <a:ea typeface="Arial"/>
                <a:cs typeface="Arial"/>
              </a:rPr>
              <a:t>(pretrained) </a:t>
            </a:r>
            <a:endParaRPr sz="800" b="1" i="0" u="none" cap="none">
              <a:solidFill>
                <a:srgbClr val="000000"/>
              </a:solidFill>
              <a:latin typeface="Arial"/>
              <a:ea typeface="Arial"/>
              <a:cs typeface="Arial"/>
            </a:endParaRPr>
          </a:p>
        </p:txBody>
      </p:sp>
      <p:pic>
        <p:nvPicPr>
          <p:cNvPr id="176" name="Google Shape;158;p10"/>
          <p:cNvPicPr>
            <a:picLocks xmlns:a="http://schemas.openxmlformats.org/drawingml/2006/main" noChangeAspect="1"/>
          </p:cNvPicPr>
          <p:nvPr/>
        </p:nvPicPr>
        <p:blipFill rotWithShape="1">
          <a:blip xmlns:r="http://schemas.openxmlformats.org/officeDocument/2006/relationships" xmlns:a="http://schemas.openxmlformats.org/drawingml/2006/main" r:embed="R2a98b588086746d5">
            <a:alphaModFix/>
          </a:blip>
          <a:srcRect xmlns:a="http://schemas.openxmlformats.org/drawingml/2006/main" l="10281" t="0" r="12128" b="5669"/>
          <a:stretch xmlns:a="http://schemas.openxmlformats.org/drawingml/2006/main"/>
        </p:blipFill>
        <p:spPr>
          <a:xfrm xmlns:a="http://schemas.openxmlformats.org/drawingml/2006/main" flipH="0" flipV="0">
            <a:off x="3784852" y="2868525"/>
            <a:ext cx="2298450" cy="2200401"/>
          </a:xfrm>
          <a:prstGeom xmlns:a="http://schemas.openxmlformats.org/drawingml/2006/main" prst="rect">
            <a:avLst/>
          </a:prstGeom>
          <a:ln xmlns:a="http://schemas.openxmlformats.org/drawingml/2006/main" w="9525" cap="flat" cmpd="sng">
            <a:solidFill>
              <a:schemeClr val="dk2"/>
            </a:solidFill>
            <a:prstDash val="solid"/>
            <a:round/>
          </a:ln>
        </p:spPr>
      </p:pic>
      <p:pic>
        <p:nvPicPr>
          <p:cNvPr id="177" name="Google Shape;159;p10"/>
          <p:cNvPicPr>
            <a:picLocks xmlns:a="http://schemas.openxmlformats.org/drawingml/2006/main" noChangeAspect="1"/>
          </p:cNvPicPr>
          <p:nvPr/>
        </p:nvPicPr>
        <p:blipFill rotWithShape="1">
          <a:blip xmlns:r="http://schemas.openxmlformats.org/officeDocument/2006/relationships" xmlns:a="http://schemas.openxmlformats.org/drawingml/2006/main" r:embed="R0e8eb9fe40cb48a1">
            <a:alphaModFix/>
          </a:blip>
          <a:srcRect xmlns:a="http://schemas.openxmlformats.org/drawingml/2006/main" l="9554" t="0" r="12260" b="4535"/>
          <a:stretch xmlns:a="http://schemas.openxmlformats.org/drawingml/2006/main"/>
        </p:blipFill>
        <p:spPr>
          <a:xfrm xmlns:a="http://schemas.openxmlformats.org/drawingml/2006/main">
            <a:off x="6808440" y="755775"/>
            <a:ext cx="2298450" cy="2104881"/>
          </a:xfrm>
          <a:prstGeom xmlns:a="http://schemas.openxmlformats.org/drawingml/2006/main" prst="rect">
            <a:avLst/>
          </a:prstGeom>
          <a:ln xmlns:a="http://schemas.openxmlformats.org/drawingml/2006/main" w="9525" cap="flat" cmpd="sng">
            <a:solidFill>
              <a:schemeClr val="dk2"/>
            </a:solidFill>
            <a:prstDash val="solid"/>
            <a:round/>
          </a:ln>
        </p:spPr>
      </p:pic>
      <p:sp>
        <p:nvSpPr>
          <p:cNvPr id="160" name="Google Shape;160;p10">
            <a:extLst xmlns:a="http://schemas.openxmlformats.org/drawingml/2006/main">
              <a:ext uri="{FF2B5EF4-FFF2-40B4-BE49-F238E27FC236}">
                <a16:creationId xmlns:a16="http://schemas.microsoft.com/office/drawing/2014/main" id="{5B46CA23-ACE4-4B98-AED6-62791D99C3F4}"/>
              </a:ext>
            </a:extLst>
          </p:cNvPr>
          <p:cNvSpPr>
            <a:spLocks xmlns:a="http://schemas.openxmlformats.org/drawingml/2006/main" noGrp="1"/>
          </p:cNvSpPr>
          <p:nvPr/>
        </p:nvSpPr>
        <p:spPr>
          <a:xfrm xmlns:a="http://schemas.openxmlformats.org/drawingml/2006/main">
            <a:off x="5987162" y="3240975"/>
            <a:ext cx="818400" cy="43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800"/>
              <a:buFont typeface="Arial"/>
              <a:buNone/>
            </a:pPr>
            <a:r>
              <a:rPr sz="800" b="1" i="0" u="none" cap="none">
                <a:solidFill>
                  <a:srgbClr val="000000"/>
                </a:solidFill>
                <a:latin typeface="Arial"/>
                <a:ea typeface="Arial"/>
                <a:cs typeface="Arial"/>
              </a:rPr>
              <a:t>YOLOv10s</a:t>
            </a:r>
            <a:endParaRPr sz="800" b="1" i="0" u="non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800"/>
              <a:buFont typeface="Arial"/>
              <a:buNone/>
            </a:pPr>
            <a:r>
              <a:rPr sz="800" b="1" i="0" u="none" cap="none">
                <a:solidFill>
                  <a:srgbClr val="000000"/>
                </a:solidFill>
                <a:latin typeface="Arial"/>
                <a:ea typeface="Arial"/>
                <a:cs typeface="Arial"/>
              </a:rPr>
              <a:t>(pretrained) </a:t>
            </a:r>
            <a:endParaRPr sz="800" b="1" i="0" u="none" cap="none">
              <a:solidFill>
                <a:srgbClr val="000000"/>
              </a:solidFill>
              <a:latin typeface="Arial"/>
              <a:ea typeface="Arial"/>
              <a:cs typeface="Arial"/>
            </a:endParaRPr>
          </a:p>
        </p:txBody>
      </p:sp>
      <p:pic>
        <p:nvPicPr>
          <p:cNvPr id="179" name="Google Shape;161;p10"/>
          <p:cNvPicPr>
            <a:picLocks xmlns:a="http://schemas.openxmlformats.org/drawingml/2006/main" noChangeAspect="1"/>
          </p:cNvPicPr>
          <p:nvPr/>
        </p:nvPicPr>
        <p:blipFill rotWithShape="1">
          <a:blip xmlns:r="http://schemas.openxmlformats.org/officeDocument/2006/relationships" xmlns:a="http://schemas.openxmlformats.org/drawingml/2006/main" r:embed="Rcd7441b3a2694020">
            <a:alphaModFix/>
          </a:blip>
          <a:srcRect xmlns:a="http://schemas.openxmlformats.org/drawingml/2006/main" l="10330" t="0" r="13550" b="6042"/>
          <a:stretch xmlns:a="http://schemas.openxmlformats.org/drawingml/2006/main"/>
        </p:blipFill>
        <p:spPr>
          <a:xfrm xmlns:a="http://schemas.openxmlformats.org/drawingml/2006/main" flipH="0" flipV="0">
            <a:off x="6808450" y="2860650"/>
            <a:ext cx="2298450" cy="2200401"/>
          </a:xfrm>
          <a:prstGeom xmlns:a="http://schemas.openxmlformats.org/drawingml/2006/main" prst="rect">
            <a:avLst/>
          </a:prstGeom>
          <a:ln xmlns:a="http://schemas.openxmlformats.org/drawingml/2006/main" w="9525" cap="flat" cmpd="sng">
            <a:solidFill>
              <a:schemeClr val="dk2"/>
            </a:solidFill>
            <a:prstDash val="solid"/>
            <a:round/>
          </a:ln>
        </p:spPr>
      </p:pic>
    </p:spTree>
    <p:extLst>
      <p:ext uri="{BB962C8B-B14F-4D97-AF65-F5344CB8AC3E}">
        <p14:creationId xmlns:p14="http://schemas.microsoft.com/office/powerpoint/2010/main" val="210600582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66" name="Google Shape;166;p11">
            <a:extLst xmlns:a="http://schemas.openxmlformats.org/drawingml/2006/main">
              <a:ext uri="{FF2B5EF4-FFF2-40B4-BE49-F238E27FC236}">
                <a16:creationId xmlns:a16="http://schemas.microsoft.com/office/drawing/2014/main" id="{B5A0344A-5651-42C1-8F9B-83668F4C3DC4}"/>
              </a:ext>
            </a:extLst>
          </p:cNvPr>
          <p:cNvSpPr>
            <a:spLocks xmlns:a="http://schemas.openxmlformats.org/drawingml/2006/main" noGrp="1"/>
          </p:cNvSpPr>
          <p:nvPr/>
        </p:nvSpPr>
        <p:spPr>
          <a:xfrm xmlns:a="http://schemas.openxmlformats.org/drawingml/2006/main">
            <a:off x="167050" y="131275"/>
            <a:ext cx="8730600" cy="4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1100"/>
              <a:buFont typeface="Arial"/>
              <a:buNone/>
            </a:pPr>
            <a:r>
              <a:rPr sz="2200" b="1" i="0" u="none" cap="none">
                <a:solidFill>
                  <a:schemeClr val="dk2"/>
                </a:solidFill>
                <a:latin typeface="Arial"/>
                <a:ea typeface="Arial"/>
                <a:cs typeface="Arial"/>
              </a:rPr>
              <a:t>2.2  Analysis of the results</a:t>
            </a:r>
            <a:endParaRPr sz="2200" b="1" i="0" u="none" cap="none">
              <a:solidFill>
                <a:schemeClr val="dk2"/>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200"/>
              <a:buFont typeface="Arial"/>
              <a:buNone/>
            </a:pPr>
            <a:r>
              <a:t/>
            </a:r>
            <a:endParaRPr sz="2200" b="1" i="0" u="none" cap="none">
              <a:solidFill>
                <a:srgbClr val="595959"/>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200"/>
              <a:buFont typeface="Arial"/>
              <a:buNone/>
            </a:pPr>
            <a:r>
              <a:t/>
            </a:r>
            <a:endParaRPr sz="2200" b="1" i="0" u="none" cap="none">
              <a:solidFill>
                <a:srgbClr val="595959"/>
              </a:solidFill>
              <a:latin typeface="Arial"/>
              <a:ea typeface="Arial"/>
              <a:cs typeface="Arial"/>
            </a:endParaRPr>
          </a:p>
        </p:txBody>
      </p:sp>
      <p:sp>
        <p:nvSpPr>
          <p:cNvPr id="167" name="Google Shape;167;p11">
            <a:extLst xmlns:a="http://schemas.openxmlformats.org/drawingml/2006/main">
              <a:ext uri="{FF2B5EF4-FFF2-40B4-BE49-F238E27FC236}">
                <a16:creationId xmlns:a16="http://schemas.microsoft.com/office/drawing/2014/main" id="{8D65499D-F176-4BD2-B5F6-591F04322641}"/>
              </a:ext>
            </a:extLst>
          </p:cNvPr>
          <p:cNvSpPr>
            <a:spLocks xmlns:a="http://schemas.openxmlformats.org/drawingml/2006/main" noGrp="1"/>
          </p:cNvSpPr>
          <p:nvPr/>
        </p:nvSpPr>
        <p:spPr>
          <a:xfrm xmlns:a="http://schemas.openxmlformats.org/drawingml/2006/main">
            <a:off x="5894100" y="1119775"/>
            <a:ext cx="3159300" cy="35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0" i="0" u="none" cap="none">
                <a:solidFill>
                  <a:srgbClr val="000000"/>
                </a:solidFill>
                <a:latin typeface="Arial"/>
                <a:ea typeface="Arial"/>
                <a:cs typeface="Arial"/>
              </a:rPr>
              <a:t>Summary table (test results)</a:t>
            </a:r>
            <a:endParaRPr sz="1100" b="0" i="0" u="none" cap="none">
              <a:solidFill>
                <a:srgbClr val="000000"/>
              </a:solidFill>
              <a:latin typeface="Arial"/>
              <a:ea typeface="Arial"/>
              <a:cs typeface="Arial"/>
            </a:endParaRPr>
          </a:p>
        </p:txBody>
      </p:sp>
      <p:graphicFrame>
        <p:nvGraphicFramePr>
          <p:cNvPr id="176" name="Google Shape;168;p11"/>
          <p:cNvGraphicFramePr/>
          <p:nvPr/>
        </p:nvGraphicFramePr>
        <p:xfrm>
          <a:off xmlns:a="http://schemas.openxmlformats.org/drawingml/2006/main" x="5767900" y="1434225"/>
          <a:ext xmlns:a="http://schemas.openxmlformats.org/drawingml/2006/main" cx="3000000" cy="3000000"/>
        </p:xfrm>
        <a:graphic xmlns:a="http://schemas.openxmlformats.org/drawingml/2006/main">
          <a:graphicData uri="http://schemas.openxmlformats.org/drawingml/2006/table">
            <a:tbl>
              <a:tblPr>
                <a:tableStyleId>{E9C96EFF-C137-458B-89EA-79B6DC1AD40E}</a:tableStyleId>
              </a:tblPr>
              <a:tblGrid>
                <a:gridCol w="1308100"/>
                <a:gridCol w="639300"/>
                <a:gridCol w="581925"/>
                <a:gridCol w="756050"/>
              </a:tblGrid>
              <a:tr h="460725">
                <a:tc>
                  <a:txBody>
                    <a:bodyPr/>
                    <a:lstStyle/>
                    <a:p>
                      <a:pPr marL="0" marR="0" lvl="0" indent="0" algn="ctr">
                        <a:lnSpc>
                          <a:spcPct val="115000"/>
                        </a:lnSpc>
                        <a:spcBef>
                          <a:spcPts val="0"/>
                        </a:spcBef>
                        <a:spcAft>
                          <a:spcPts val="0"/>
                        </a:spcAft>
                        <a:buClr>
                          <a:srgbClr val="000000"/>
                        </a:buClr>
                        <a:buSzPts val="800"/>
                        <a:buFont typeface="Arial"/>
                        <a:buNone/>
                      </a:pPr>
                      <a:r>
                        <a:rPr sz="800" b="1" u="none" cap="none"/>
                        <a:t>Model</a:t>
                      </a:r>
                      <a:endParaRPr sz="800" b="1" u="none" cap="none"/>
                    </a:p>
                  </a:txBody>
                  <a:tcPr marL="91425" marR="91425" marT="91425" marB="91425" anchor="ctr">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15000"/>
                        </a:lnSpc>
                        <a:spcBef>
                          <a:spcPts val="0"/>
                        </a:spcBef>
                        <a:spcAft>
                          <a:spcPts val="0"/>
                        </a:spcAft>
                        <a:buClr>
                          <a:srgbClr val="000000"/>
                        </a:buClr>
                        <a:buSzPts val="800"/>
                        <a:buFont typeface="Arial"/>
                        <a:buNone/>
                      </a:pPr>
                      <a:r>
                        <a:rPr sz="800" b="1" u="none" cap="none"/>
                        <a:t>training time</a:t>
                      </a:r>
                      <a:endParaRPr sz="800" b="1" u="none" cap="none"/>
                    </a:p>
                    <a:p>
                      <a:pPr marL="0" marR="0" lvl="0" indent="0" algn="ctr">
                        <a:lnSpc>
                          <a:spcPct val="115000"/>
                        </a:lnSpc>
                        <a:spcBef>
                          <a:spcPts val="0"/>
                        </a:spcBef>
                        <a:spcAft>
                          <a:spcPts val="0"/>
                        </a:spcAft>
                        <a:buClr>
                          <a:srgbClr val="000000"/>
                        </a:buClr>
                        <a:buSzPts val="800"/>
                        <a:buFont typeface="Arial"/>
                        <a:buNone/>
                      </a:pPr>
                      <a:r>
                        <a:rPr sz="800" b="1" u="none" cap="none"/>
                        <a:t>（h）</a:t>
                      </a:r>
                      <a:endParaRPr sz="800" b="1" u="none" cap="none"/>
                    </a:p>
                  </a:txBody>
                  <a:tcPr marL="91425" marR="91425" marT="91425" marB="91425" anchor="ctr">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15000"/>
                        </a:lnSpc>
                        <a:spcBef>
                          <a:spcPts val="0"/>
                        </a:spcBef>
                        <a:spcAft>
                          <a:spcPts val="0"/>
                        </a:spcAft>
                        <a:buClr>
                          <a:srgbClr val="000000"/>
                        </a:buClr>
                        <a:buSzPts val="800"/>
                        <a:buFont typeface="Arial"/>
                        <a:buNone/>
                      </a:pPr>
                      <a:r>
                        <a:rPr sz="800" b="1" u="none" cap="none"/>
                        <a:t>mAP50</a:t>
                      </a:r>
                      <a:endParaRPr sz="800" b="1" u="none" cap="none"/>
                    </a:p>
                    <a:p>
                      <a:pPr marL="0" marR="0" lvl="0" indent="0" algn="ctr">
                        <a:lnSpc>
                          <a:spcPct val="115000"/>
                        </a:lnSpc>
                        <a:spcBef>
                          <a:spcPts val="0"/>
                        </a:spcBef>
                        <a:spcAft>
                          <a:spcPts val="0"/>
                        </a:spcAft>
                        <a:buClr>
                          <a:srgbClr val="000000"/>
                        </a:buClr>
                        <a:buSzPts val="800"/>
                        <a:buFont typeface="Arial"/>
                        <a:buNone/>
                      </a:pPr>
                      <a:r>
                        <a:rPr sz="800" b="1" u="none" cap="none"/>
                        <a:t> (Test)</a:t>
                      </a:r>
                      <a:endParaRPr sz="800" b="1" u="none" cap="none"/>
                    </a:p>
                  </a:txBody>
                  <a:tcPr marL="91425" marR="91425" marT="91425" marB="91425" anchor="ctr">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15000"/>
                        </a:lnSpc>
                        <a:spcBef>
                          <a:spcPts val="0"/>
                        </a:spcBef>
                        <a:spcAft>
                          <a:spcPts val="0"/>
                        </a:spcAft>
                        <a:buClr>
                          <a:srgbClr val="000000"/>
                        </a:buClr>
                        <a:buSzPts val="800"/>
                        <a:buFont typeface="Arial"/>
                        <a:buNone/>
                      </a:pPr>
                      <a:r>
                        <a:rPr sz="800" b="1" u="none" cap="none"/>
                        <a:t>mAP50-95 </a:t>
                      </a:r>
                      <a:endParaRPr sz="800" b="1" u="none" cap="none"/>
                    </a:p>
                    <a:p>
                      <a:pPr marL="0" marR="0" lvl="0" indent="0" algn="ctr">
                        <a:lnSpc>
                          <a:spcPct val="115000"/>
                        </a:lnSpc>
                        <a:spcBef>
                          <a:spcPts val="0"/>
                        </a:spcBef>
                        <a:spcAft>
                          <a:spcPts val="0"/>
                        </a:spcAft>
                        <a:buClr>
                          <a:srgbClr val="000000"/>
                        </a:buClr>
                        <a:buSzPts val="800"/>
                        <a:buFont typeface="Arial"/>
                        <a:buNone/>
                      </a:pPr>
                      <a:r>
                        <a:rPr sz="800" b="1" u="none" cap="none"/>
                        <a:t>(Test)</a:t>
                      </a:r>
                      <a:endParaRPr sz="800" b="1" u="none" cap="none"/>
                    </a:p>
                  </a:txBody>
                  <a:tcPr marL="91425" marR="91425" marT="91425" marB="91425" anchor="ctr">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r>
              <a:tr h="287525">
                <a:tc>
                  <a:txBody>
                    <a:bodyPr/>
                    <a:lstStyle/>
                    <a:p>
                      <a:pPr marL="0" marR="0" lvl="0" indent="0" algn="l">
                        <a:lnSpc>
                          <a:spcPct val="100000"/>
                        </a:lnSpc>
                        <a:spcBef>
                          <a:spcPts val="0"/>
                        </a:spcBef>
                        <a:spcAft>
                          <a:spcPts val="0"/>
                        </a:spcAft>
                        <a:buClr>
                          <a:srgbClr val="000000"/>
                        </a:buClr>
                        <a:buSzPts val="800"/>
                        <a:buFont typeface="Arial"/>
                        <a:buNone/>
                      </a:pPr>
                      <a:r>
                        <a:rPr sz="800" b="1" u="none" cap="none"/>
                        <a:t>YOLOv8s_scratch</a:t>
                      </a:r>
                      <a:endParaRPr sz="800" b="1"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800"/>
                        <a:buFont typeface="Arial"/>
                        <a:buNone/>
                      </a:pPr>
                      <a:r>
                        <a:rPr sz="800" u="none" cap="none"/>
                        <a:t>0.177</a:t>
                      </a:r>
                      <a:endParaRPr sz="8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800"/>
                        <a:buFont typeface="Arial"/>
                        <a:buNone/>
                      </a:pPr>
                      <a:r>
                        <a:rPr sz="800" u="none" cap="none"/>
                        <a:t>0.7574</a:t>
                      </a:r>
                      <a:endParaRPr sz="8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800"/>
                        <a:buFont typeface="Arial"/>
                        <a:buNone/>
                      </a:pPr>
                      <a:r>
                        <a:rPr sz="800" u="none" cap="none"/>
                        <a:t>0.3748</a:t>
                      </a:r>
                      <a:endParaRPr sz="8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r>
              <a:tr h="287525">
                <a:tc>
                  <a:txBody>
                    <a:bodyPr/>
                    <a:lstStyle/>
                    <a:p>
                      <a:pPr marL="0" marR="0" lvl="0" indent="0" algn="l">
                        <a:lnSpc>
                          <a:spcPct val="100000"/>
                        </a:lnSpc>
                        <a:spcBef>
                          <a:spcPts val="0"/>
                        </a:spcBef>
                        <a:spcAft>
                          <a:spcPts val="0"/>
                        </a:spcAft>
                        <a:buClr>
                          <a:srgbClr val="000000"/>
                        </a:buClr>
                        <a:buSzPts val="800"/>
                        <a:buFont typeface="Arial"/>
                        <a:buNone/>
                      </a:pPr>
                      <a:r>
                        <a:rPr sz="800" b="1" u="none" cap="none">
                          <a:solidFill>
                            <a:srgbClr val="FF0000"/>
                          </a:solidFill>
                        </a:rPr>
                        <a:t>YOLOv8s_pretrained</a:t>
                      </a:r>
                      <a:endParaRPr sz="800" b="1" u="none" cap="none">
                        <a:solidFill>
                          <a:srgbClr val="FF0000"/>
                        </a:solidFill>
                      </a:endParaRPr>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800"/>
                        <a:buFont typeface="Arial"/>
                        <a:buNone/>
                      </a:pPr>
                      <a:r>
                        <a:rPr sz="800" b="1" u="none" cap="none">
                          <a:solidFill>
                            <a:srgbClr val="FF0000"/>
                          </a:solidFill>
                        </a:rPr>
                        <a:t>0.179</a:t>
                      </a:r>
                      <a:endParaRPr sz="800" b="1" u="none" cap="none">
                        <a:solidFill>
                          <a:srgbClr val="FF0000"/>
                        </a:solidFill>
                      </a:endParaRPr>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800"/>
                        <a:buFont typeface="Arial"/>
                        <a:buNone/>
                      </a:pPr>
                      <a:r>
                        <a:rPr sz="800" b="1" u="none" cap="none">
                          <a:solidFill>
                            <a:srgbClr val="FF0000"/>
                          </a:solidFill>
                        </a:rPr>
                        <a:t>0.8264</a:t>
                      </a:r>
                      <a:endParaRPr sz="800" b="1" u="none" cap="none">
                        <a:solidFill>
                          <a:srgbClr val="FF0000"/>
                        </a:solidFill>
                      </a:endParaRPr>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800"/>
                        <a:buFont typeface="Arial"/>
                        <a:buNone/>
                      </a:pPr>
                      <a:r>
                        <a:rPr sz="800" b="1" u="none" cap="none">
                          <a:solidFill>
                            <a:srgbClr val="FF0000"/>
                          </a:solidFill>
                        </a:rPr>
                        <a:t>0.4497</a:t>
                      </a:r>
                      <a:endParaRPr sz="800" b="1" u="none" cap="none">
                        <a:solidFill>
                          <a:srgbClr val="FF0000"/>
                        </a:solidFill>
                      </a:endParaRPr>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r>
              <a:tr h="287525">
                <a:tc>
                  <a:txBody>
                    <a:bodyPr/>
                    <a:lstStyle/>
                    <a:p>
                      <a:pPr marL="0" marR="0" lvl="0" indent="0" algn="l">
                        <a:lnSpc>
                          <a:spcPct val="100000"/>
                        </a:lnSpc>
                        <a:spcBef>
                          <a:spcPts val="0"/>
                        </a:spcBef>
                        <a:spcAft>
                          <a:spcPts val="0"/>
                        </a:spcAft>
                        <a:buClr>
                          <a:srgbClr val="000000"/>
                        </a:buClr>
                        <a:buSzPts val="800"/>
                        <a:buFont typeface="Arial"/>
                        <a:buNone/>
                      </a:pPr>
                      <a:r>
                        <a:rPr sz="800" b="1" u="none" cap="none"/>
                        <a:t>YOLOv9s_scratch</a:t>
                      </a:r>
                      <a:endParaRPr sz="800" b="1"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800"/>
                        <a:buFont typeface="Arial"/>
                        <a:buNone/>
                      </a:pPr>
                      <a:r>
                        <a:rPr sz="800" u="none" cap="none"/>
                        <a:t>0.223</a:t>
                      </a:r>
                      <a:endParaRPr sz="8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800"/>
                        <a:buFont typeface="Arial"/>
                        <a:buNone/>
                      </a:pPr>
                      <a:r>
                        <a:rPr sz="800" u="none" cap="none"/>
                        <a:t>0.7461</a:t>
                      </a:r>
                      <a:endParaRPr sz="8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800"/>
                        <a:buFont typeface="Arial"/>
                        <a:buNone/>
                      </a:pPr>
                      <a:r>
                        <a:rPr sz="800" u="none" cap="none"/>
                        <a:t>0.3693</a:t>
                      </a:r>
                      <a:endParaRPr sz="8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r>
              <a:tr h="287525">
                <a:tc>
                  <a:txBody>
                    <a:bodyPr/>
                    <a:lstStyle/>
                    <a:p>
                      <a:pPr marL="0" marR="0" lvl="0" indent="0" algn="l">
                        <a:lnSpc>
                          <a:spcPct val="100000"/>
                        </a:lnSpc>
                        <a:spcBef>
                          <a:spcPts val="0"/>
                        </a:spcBef>
                        <a:spcAft>
                          <a:spcPts val="0"/>
                        </a:spcAft>
                        <a:buClr>
                          <a:srgbClr val="000000"/>
                        </a:buClr>
                        <a:buSzPts val="800"/>
                        <a:buFont typeface="Arial"/>
                        <a:buNone/>
                      </a:pPr>
                      <a:r>
                        <a:rPr sz="800" b="1" u="none" cap="none"/>
                        <a:t>YOLOv9s_pretrained</a:t>
                      </a:r>
                      <a:endParaRPr sz="800" b="1"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800"/>
                        <a:buFont typeface="Arial"/>
                        <a:buNone/>
                      </a:pPr>
                      <a:r>
                        <a:rPr sz="800" u="none" cap="none"/>
                        <a:t>0.220</a:t>
                      </a:r>
                      <a:endParaRPr sz="8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800"/>
                        <a:buFont typeface="Arial"/>
                        <a:buNone/>
                      </a:pPr>
                      <a:r>
                        <a:rPr sz="800" u="none" cap="none"/>
                        <a:t>0.8237</a:t>
                      </a:r>
                      <a:endParaRPr sz="8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800"/>
                        <a:buFont typeface="Arial"/>
                        <a:buNone/>
                      </a:pPr>
                      <a:r>
                        <a:rPr sz="800" u="none" cap="none"/>
                        <a:t>0.4278</a:t>
                      </a:r>
                      <a:endParaRPr sz="8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r>
              <a:tr h="287525">
                <a:tc>
                  <a:txBody>
                    <a:bodyPr/>
                    <a:lstStyle/>
                    <a:p>
                      <a:pPr marL="0" marR="0" lvl="0" indent="0" algn="l">
                        <a:lnSpc>
                          <a:spcPct val="100000"/>
                        </a:lnSpc>
                        <a:spcBef>
                          <a:spcPts val="0"/>
                        </a:spcBef>
                        <a:spcAft>
                          <a:spcPts val="0"/>
                        </a:spcAft>
                        <a:buClr>
                          <a:srgbClr val="000000"/>
                        </a:buClr>
                        <a:buSzPts val="800"/>
                        <a:buFont typeface="Arial"/>
                        <a:buNone/>
                      </a:pPr>
                      <a:r>
                        <a:rPr sz="800" b="1" u="none" cap="none"/>
                        <a:t>YOLOv10s_scratch</a:t>
                      </a:r>
                      <a:endParaRPr sz="800" b="1"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800"/>
                        <a:buFont typeface="Arial"/>
                        <a:buNone/>
                      </a:pPr>
                      <a:r>
                        <a:rPr sz="800" u="none" cap="none"/>
                        <a:t>0.210</a:t>
                      </a:r>
                      <a:endParaRPr sz="8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800"/>
                        <a:buFont typeface="Arial"/>
                        <a:buNone/>
                      </a:pPr>
                      <a:r>
                        <a:rPr sz="800" u="none" cap="none"/>
                        <a:t>0.6465</a:t>
                      </a:r>
                      <a:endParaRPr sz="8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800"/>
                        <a:buFont typeface="Arial"/>
                        <a:buNone/>
                      </a:pPr>
                      <a:r>
                        <a:rPr sz="800" u="none" cap="none"/>
                        <a:t>0.3283</a:t>
                      </a:r>
                      <a:endParaRPr sz="8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r>
              <a:tr h="287525">
                <a:tc>
                  <a:txBody>
                    <a:bodyPr/>
                    <a:lstStyle/>
                    <a:p>
                      <a:pPr marL="0" marR="0" lvl="0" indent="0" algn="l">
                        <a:lnSpc>
                          <a:spcPct val="100000"/>
                        </a:lnSpc>
                        <a:spcBef>
                          <a:spcPts val="0"/>
                        </a:spcBef>
                        <a:spcAft>
                          <a:spcPts val="0"/>
                        </a:spcAft>
                        <a:buClr>
                          <a:srgbClr val="000000"/>
                        </a:buClr>
                        <a:buSzPts val="800"/>
                        <a:buFont typeface="Arial"/>
                        <a:buNone/>
                      </a:pPr>
                      <a:r>
                        <a:rPr sz="800" b="1" u="none" cap="none"/>
                        <a:t>YOLOv10s_pretrained</a:t>
                      </a:r>
                      <a:endParaRPr sz="800" b="1"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800"/>
                        <a:buFont typeface="Arial"/>
                        <a:buNone/>
                      </a:pPr>
                      <a:r>
                        <a:rPr sz="800" u="none" cap="none"/>
                        <a:t>0.201</a:t>
                      </a:r>
                      <a:endParaRPr sz="8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800"/>
                        <a:buFont typeface="Arial"/>
                        <a:buNone/>
                      </a:pPr>
                      <a:r>
                        <a:rPr sz="800" u="none" cap="none"/>
                        <a:t>0.7940</a:t>
                      </a:r>
                      <a:endParaRPr sz="8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800"/>
                        <a:buFont typeface="Arial"/>
                        <a:buNone/>
                      </a:pPr>
                      <a:r>
                        <a:rPr sz="800" u="none" cap="none"/>
                        <a:t>0.4094</a:t>
                      </a:r>
                      <a:endParaRPr sz="8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r>
            </a:tbl>
          </a:graphicData>
        </a:graphic>
      </p:graphicFrame>
      <p:sp>
        <p:nvSpPr>
          <p:cNvPr id="169" name="Google Shape;169;p11">
            <a:extLst xmlns:a="http://schemas.openxmlformats.org/drawingml/2006/main">
              <a:ext uri="{FF2B5EF4-FFF2-40B4-BE49-F238E27FC236}">
                <a16:creationId xmlns:a16="http://schemas.microsoft.com/office/drawing/2014/main" id="{2BBB942B-873B-4C8B-8347-647A1B0245DA}"/>
              </a:ext>
            </a:extLst>
          </p:cNvPr>
          <p:cNvSpPr>
            <a:spLocks xmlns:a="http://schemas.openxmlformats.org/drawingml/2006/main" noGrp="1"/>
          </p:cNvSpPr>
          <p:nvPr/>
        </p:nvSpPr>
        <p:spPr>
          <a:xfrm xmlns:a="http://schemas.openxmlformats.org/drawingml/2006/main">
            <a:off x="90588" y="1050920"/>
            <a:ext cx="5658900" cy="29412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1" i="0" u="none" cap="none">
                <a:solidFill>
                  <a:schemeClr val="dk1"/>
                </a:solidFill>
                <a:latin typeface="Arial"/>
                <a:ea typeface="Arial"/>
                <a:cs typeface="Arial"/>
              </a:rPr>
              <a:t>What we see in the loss/metric plots</a:t>
            </a:r>
            <a:endParaRPr sz="1200" b="1" i="0" u="none" cap="none">
              <a:solidFill>
                <a:schemeClr val="dk1"/>
              </a:solidFill>
              <a:latin typeface="Arial"/>
              <a:ea typeface="Arial"/>
              <a:cs typeface="Arial"/>
            </a:endParaRPr>
          </a:p>
          <a:p xmlns:a="http://schemas.openxmlformats.org/drawingml/2006/main">
            <a:pPr marL="457200" marR="0" lvl="0" indent="-298450" algn="l">
              <a:lnSpc>
                <a:spcPct val="100000"/>
              </a:lnSpc>
              <a:spcBef>
                <a:spcPts val="0"/>
              </a:spcBef>
              <a:spcAft>
                <a:spcPts val="0"/>
              </a:spcAft>
              <a:buClr>
                <a:schemeClr val="dk1"/>
              </a:buClr>
              <a:buSzPts val="1100"/>
              <a:buFont typeface="Arial"/>
              <a:buChar char="●"/>
            </a:pPr>
            <a:r>
              <a:rPr sz="1100" b="1" i="0" u="none" cap="none">
                <a:solidFill>
                  <a:schemeClr val="dk1"/>
                </a:solidFill>
                <a:latin typeface="Arial"/>
                <a:ea typeface="Arial"/>
                <a:cs typeface="Arial"/>
              </a:rPr>
              <a:t>Training loss (box / cls / dfl)</a:t>
            </a:r>
            <a:r>
              <a:rPr sz="1100" b="0" i="0" u="none" cap="none">
                <a:solidFill>
                  <a:schemeClr val="dk1"/>
                </a:solidFill>
                <a:latin typeface="Arial"/>
                <a:ea typeface="Arial"/>
                <a:cs typeface="Arial"/>
              </a:rPr>
              <a:t>: smooth decrease across epochs, so training is stable and not diverging.</a:t>
            </a:r>
            <a:endParaRPr sz="1100" b="0" i="0" u="none" cap="none">
              <a:solidFill>
                <a:schemeClr val="dk1"/>
              </a:solidFill>
              <a:latin typeface="Arial"/>
              <a:ea typeface="Arial"/>
              <a:cs typeface="Arial"/>
            </a:endParaRPr>
          </a:p>
          <a:p xmlns:a="http://schemas.openxmlformats.org/drawingml/2006/main">
            <a:pPr marL="457200" marR="0" lvl="0" indent="-298450" algn="l">
              <a:lnSpc>
                <a:spcPct val="100000"/>
              </a:lnSpc>
              <a:spcBef>
                <a:spcPts val="0"/>
              </a:spcBef>
              <a:spcAft>
                <a:spcPts val="0"/>
              </a:spcAft>
              <a:buClr>
                <a:schemeClr val="dk1"/>
              </a:buClr>
              <a:buSzPts val="1100"/>
              <a:buFont typeface="Arial"/>
              <a:buChar char="●"/>
            </a:pPr>
            <a:r>
              <a:rPr sz="1100" b="1" i="0" u="none" cap="none">
                <a:solidFill>
                  <a:schemeClr val="dk1"/>
                </a:solidFill>
                <a:latin typeface="Arial"/>
                <a:ea typeface="Arial"/>
                <a:cs typeface="Arial"/>
              </a:rPr>
              <a:t>Validation loss</a:t>
            </a:r>
            <a:r>
              <a:rPr sz="1100" b="0" i="0" u="none" cap="none">
                <a:solidFill>
                  <a:schemeClr val="dk1"/>
                </a:solidFill>
                <a:latin typeface="Arial"/>
                <a:ea typeface="Arial"/>
                <a:cs typeface="Arial"/>
              </a:rPr>
              <a:t>: generally falls but sometimes spikes early on, probably because a few hard examples in the val set cause temporary bumps. Overall there’s no clear sign of significant overfitting.</a:t>
            </a:r>
            <a:endParaRPr sz="1100" b="0" i="0" u="none" cap="none">
              <a:solidFill>
                <a:schemeClr val="dk1"/>
              </a:solidFill>
              <a:latin typeface="Arial"/>
              <a:ea typeface="Arial"/>
              <a:cs typeface="Arial"/>
            </a:endParaRPr>
          </a:p>
          <a:p xmlns:a="http://schemas.openxmlformats.org/drawingml/2006/main">
            <a:pPr marL="457200" marR="0" lvl="0" indent="-298450" algn="l">
              <a:lnSpc>
                <a:spcPct val="100000"/>
              </a:lnSpc>
              <a:spcBef>
                <a:spcPts val="0"/>
              </a:spcBef>
              <a:spcAft>
                <a:spcPts val="0"/>
              </a:spcAft>
              <a:buClr>
                <a:schemeClr val="dk1"/>
              </a:buClr>
              <a:buSzPts val="1100"/>
              <a:buFont typeface="Arial"/>
              <a:buChar char="●"/>
            </a:pPr>
            <a:r>
              <a:rPr sz="1100" b="1" i="0" u="none" cap="none">
                <a:solidFill>
                  <a:schemeClr val="dk1"/>
                </a:solidFill>
                <a:latin typeface="Arial"/>
                <a:ea typeface="Arial"/>
                <a:cs typeface="Arial"/>
              </a:rPr>
              <a:t>Precision / Recall / mAP</a:t>
            </a:r>
            <a:r>
              <a:rPr sz="1100" b="0" i="0" u="none" cap="none">
                <a:solidFill>
                  <a:schemeClr val="dk1"/>
                </a:solidFill>
                <a:latin typeface="Arial"/>
                <a:ea typeface="Arial"/>
                <a:cs typeface="Arial"/>
              </a:rPr>
              <a:t>: they increase with epochs. Pretrained models show faster and higher gains, which means pretraining helps a lot on your dataset.</a:t>
            </a:r>
            <a:endParaRPr sz="11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1" i="0" u="none" cap="none">
                <a:solidFill>
                  <a:schemeClr val="dk1"/>
                </a:solidFill>
                <a:latin typeface="Arial"/>
                <a:ea typeface="Arial"/>
                <a:cs typeface="Arial"/>
              </a:rPr>
              <a:t>What the confusion matrices tell us</a:t>
            </a:r>
            <a:endParaRPr sz="1200" b="1" i="0" u="none" cap="none">
              <a:solidFill>
                <a:schemeClr val="dk1"/>
              </a:solidFill>
              <a:latin typeface="Arial"/>
              <a:ea typeface="Arial"/>
              <a:cs typeface="Arial"/>
            </a:endParaRPr>
          </a:p>
          <a:p xmlns:a="http://schemas.openxmlformats.org/drawingml/2006/main">
            <a:pPr marL="457200" marR="0" lvl="0" indent="-298450" algn="l">
              <a:lnSpc>
                <a:spcPct val="100000"/>
              </a:lnSpc>
              <a:spcBef>
                <a:spcPts val="0"/>
              </a:spcBef>
              <a:spcAft>
                <a:spcPts val="0"/>
              </a:spcAft>
              <a:buClr>
                <a:schemeClr val="dk1"/>
              </a:buClr>
              <a:buSzPts val="1100"/>
              <a:buFont typeface="Arial"/>
              <a:buChar char="●"/>
            </a:pPr>
            <a:r>
              <a:rPr sz="1100" b="0" i="0" u="none" cap="none">
                <a:solidFill>
                  <a:schemeClr val="dk1"/>
                </a:solidFill>
                <a:latin typeface="Arial"/>
                <a:ea typeface="Arial"/>
                <a:cs typeface="Arial"/>
              </a:rPr>
              <a:t>For scratch models the true-positive rate for the “human” class is around ~0.58–0.71 depending on model. After using pretrained weights it increases to roughly </a:t>
            </a:r>
            <a:r>
              <a:rPr sz="1100" b="0" i="0" u="none" cap="none">
                <a:solidFill>
                  <a:schemeClr val="dk1"/>
                </a:solidFill>
                <a:latin typeface="Arial"/>
                <a:ea typeface="Arial"/>
                <a:cs typeface="Arial"/>
              </a:rPr>
              <a:t>~0.72–0.80</a:t>
            </a:r>
            <a:r>
              <a:rPr sz="1100" b="0" i="0" u="none" cap="none">
                <a:solidFill>
                  <a:schemeClr val="dk1"/>
                </a:solidFill>
                <a:latin typeface="Arial"/>
                <a:ea typeface="Arial"/>
                <a:cs typeface="Arial"/>
              </a:rPr>
              <a:t>.</a:t>
            </a:r>
            <a:endParaRPr sz="1100" b="0" i="0" u="none" cap="none">
              <a:solidFill>
                <a:schemeClr val="dk1"/>
              </a:solidFill>
              <a:latin typeface="Arial"/>
              <a:ea typeface="Arial"/>
              <a:cs typeface="Arial"/>
            </a:endParaRPr>
          </a:p>
          <a:p xmlns:a="http://schemas.openxmlformats.org/drawingml/2006/main">
            <a:pPr marL="457200" marR="0" lvl="0" indent="-298450" algn="l">
              <a:lnSpc>
                <a:spcPct val="100000"/>
              </a:lnSpc>
              <a:spcBef>
                <a:spcPts val="0"/>
              </a:spcBef>
              <a:spcAft>
                <a:spcPts val="0"/>
              </a:spcAft>
              <a:buClr>
                <a:schemeClr val="dk1"/>
              </a:buClr>
              <a:buSzPts val="1100"/>
              <a:buFont typeface="Arial"/>
              <a:buChar char="●"/>
            </a:pPr>
            <a:r>
              <a:rPr sz="1100" b="0" i="0" u="none" cap="none">
                <a:solidFill>
                  <a:schemeClr val="dk1"/>
                </a:solidFill>
                <a:latin typeface="Arial"/>
                <a:ea typeface="Arial"/>
                <a:cs typeface="Arial"/>
              </a:rPr>
              <a:t>False positives on “background” are reduced in pretrained versions. So pretraining makes the model better at both finding humans and not mistaking background for humans.</a:t>
            </a:r>
            <a:endParaRPr sz="11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100"/>
              <a:buFont typeface="Arial"/>
              <a:buNone/>
            </a:pPr>
            <a:r>
              <a:t/>
            </a:r>
            <a:endParaRPr sz="1100" b="0" i="0" u="none" cap="none">
              <a:solidFill>
                <a:schemeClr val="dk1"/>
              </a:solidFill>
              <a:latin typeface="Arial"/>
              <a:ea typeface="Arial"/>
              <a:cs typeface="Arial"/>
            </a:endParaRPr>
          </a:p>
        </p:txBody>
      </p:sp>
      <p:sp>
        <p:nvSpPr>
          <p:cNvPr id="170" name="Google Shape;170;p11">
            <a:extLst xmlns:a="http://schemas.openxmlformats.org/drawingml/2006/main">
              <a:ext uri="{FF2B5EF4-FFF2-40B4-BE49-F238E27FC236}">
                <a16:creationId xmlns:a16="http://schemas.microsoft.com/office/drawing/2014/main" id="{DCEA87B5-1FC5-40B7-8877-64B81AD04C67}"/>
              </a:ext>
            </a:extLst>
          </p:cNvPr>
          <p:cNvSpPr>
            <a:spLocks xmlns:a="http://schemas.openxmlformats.org/drawingml/2006/main" noGrp="1"/>
          </p:cNvSpPr>
          <p:nvPr/>
        </p:nvSpPr>
        <p:spPr>
          <a:xfrm xmlns:a="http://schemas.openxmlformats.org/drawingml/2006/main">
            <a:off x="90600" y="596575"/>
            <a:ext cx="8962800" cy="5232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pPr>
            <a:r>
              <a:rPr sz="1100" b="1" i="0" u="none" cap="none">
                <a:solidFill>
                  <a:srgbClr val="000000"/>
                </a:solidFill>
                <a:latin typeface="Arial"/>
                <a:ea typeface="Arial"/>
                <a:cs typeface="Arial"/>
              </a:rPr>
              <a:t>Part 2  evaluated 6 YOLO model(YOLOv8s, YOLOv9s, and YOLOv10s) each trained both from scratch and using pretrained weights. Several key performance metrics were observed.</a:t>
            </a:r>
            <a:endParaRPr sz="1100" b="1" i="0" u="none" cap="none">
              <a:solidFill>
                <a:srgbClr val="000000"/>
              </a:solidFill>
              <a:latin typeface="Arial"/>
              <a:ea typeface="Arial"/>
              <a:cs typeface="Arial"/>
            </a:endParaRPr>
          </a:p>
        </p:txBody>
      </p:sp>
      <p:sp>
        <p:nvSpPr>
          <p:cNvPr id="171" name="Google Shape;171;p11">
            <a:extLst xmlns:a="http://schemas.openxmlformats.org/drawingml/2006/main">
              <a:ext uri="{FF2B5EF4-FFF2-40B4-BE49-F238E27FC236}">
                <a16:creationId xmlns:a16="http://schemas.microsoft.com/office/drawing/2014/main" id="{3CBE28EF-25F2-4C95-8315-34E688BAA3CC}"/>
              </a:ext>
            </a:extLst>
          </p:cNvPr>
          <p:cNvSpPr>
            <a:spLocks xmlns:a="http://schemas.openxmlformats.org/drawingml/2006/main" noGrp="1"/>
          </p:cNvSpPr>
          <p:nvPr/>
        </p:nvSpPr>
        <p:spPr>
          <a:xfrm xmlns:a="http://schemas.openxmlformats.org/drawingml/2006/main">
            <a:off x="56177" y="4072775"/>
            <a:ext cx="8997300" cy="8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457200" marR="0" lvl="0" indent="-298450" algn="l">
              <a:lnSpc>
                <a:spcPct val="100000"/>
              </a:lnSpc>
              <a:spcBef>
                <a:spcPts val="0"/>
              </a:spcBef>
              <a:spcAft>
                <a:spcPts val="0"/>
              </a:spcAft>
              <a:buClr>
                <a:srgbClr val="000000"/>
              </a:buClr>
              <a:buSzPts val="1100"/>
              <a:buFont typeface="Arial"/>
              <a:buAutoNum type="arabicPeriod"/>
            </a:pPr>
            <a:r>
              <a:rPr sz="1100" b="0" i="0" u="none" cap="none">
                <a:solidFill>
                  <a:srgbClr val="000000"/>
                </a:solidFill>
                <a:latin typeface="Arial"/>
                <a:ea typeface="Arial"/>
                <a:cs typeface="Arial"/>
              </a:rPr>
              <a:t>Pretrained models outperform scratch models for every architecture tested.</a:t>
            </a:r>
            <a:endParaRPr sz="1100" b="0" i="0" u="none" cap="none">
              <a:solidFill>
                <a:srgbClr val="000000"/>
              </a:solidFill>
              <a:latin typeface="Arial"/>
              <a:ea typeface="Arial"/>
              <a:cs typeface="Arial"/>
            </a:endParaRPr>
          </a:p>
          <a:p xmlns:a="http://schemas.openxmlformats.org/drawingml/2006/main">
            <a:pPr marL="457200" marR="0" lvl="0" indent="-298450" algn="l">
              <a:lnSpc>
                <a:spcPct val="100000"/>
              </a:lnSpc>
              <a:spcBef>
                <a:spcPts val="0"/>
              </a:spcBef>
              <a:spcAft>
                <a:spcPts val="0"/>
              </a:spcAft>
              <a:buClr>
                <a:srgbClr val="000000"/>
              </a:buClr>
              <a:buSzPts val="1100"/>
              <a:buFont typeface="Arial"/>
              <a:buAutoNum type="arabicPeriod"/>
            </a:pPr>
            <a:r>
              <a:rPr sz="1100" b="0" i="0" u="none" cap="none">
                <a:solidFill>
                  <a:schemeClr val="dk1"/>
                </a:solidFill>
                <a:latin typeface="Arial"/>
                <a:ea typeface="Arial"/>
                <a:cs typeface="Arial"/>
              </a:rPr>
              <a:t>The </a:t>
            </a:r>
            <a:r>
              <a:rPr sz="1100" b="1" i="0" u="none" cap="none">
                <a:solidFill>
                  <a:schemeClr val="dk1"/>
                </a:solidFill>
                <a:latin typeface="Arial"/>
                <a:ea typeface="Arial"/>
                <a:cs typeface="Arial"/>
              </a:rPr>
              <a:t>YOLOv8s Pretrained</a:t>
            </a:r>
            <a:r>
              <a:rPr sz="1100" b="0" i="0" u="none" cap="none">
                <a:solidFill>
                  <a:schemeClr val="dk1"/>
                </a:solidFill>
                <a:latin typeface="Arial"/>
                <a:ea typeface="Arial"/>
                <a:cs typeface="Arial"/>
              </a:rPr>
              <a:t> model achieved the highest mAP50-95 of </a:t>
            </a:r>
            <a:r>
              <a:rPr sz="1100" b="0" i="0" u="none" cap="none">
                <a:solidFill>
                  <a:schemeClr val="dk1"/>
                </a:solidFill>
                <a:latin typeface="Arial"/>
                <a:ea typeface="Arial"/>
                <a:cs typeface="Arial"/>
              </a:rPr>
              <a:t>0.4497</a:t>
            </a:r>
            <a:r>
              <a:rPr sz="1100" b="0" i="0" u="none" cap="none">
                <a:solidFill>
                  <a:schemeClr val="dk1"/>
                </a:solidFill>
                <a:latin typeface="Arial"/>
                <a:ea typeface="Arial"/>
                <a:cs typeface="Arial"/>
              </a:rPr>
              <a:t>.</a:t>
            </a:r>
            <a:endParaRPr sz="1100" b="0" i="0" u="none" cap="none">
              <a:solidFill>
                <a:schemeClr val="dk1"/>
              </a:solidFill>
              <a:latin typeface="Arial"/>
              <a:ea typeface="Arial"/>
              <a:cs typeface="Arial"/>
            </a:endParaRPr>
          </a:p>
          <a:p xmlns:a="http://schemas.openxmlformats.org/drawingml/2006/main">
            <a:pPr marL="457200" marR="0" lvl="0" indent="-298450" algn="l">
              <a:lnSpc>
                <a:spcPct val="100000"/>
              </a:lnSpc>
              <a:spcBef>
                <a:spcPts val="0"/>
              </a:spcBef>
              <a:spcAft>
                <a:spcPts val="0"/>
              </a:spcAft>
              <a:buClr>
                <a:schemeClr val="dk1"/>
              </a:buClr>
              <a:buSzPts val="1100"/>
              <a:buFont typeface="Arial"/>
              <a:buAutoNum type="arabicPeriod"/>
            </a:pPr>
            <a:r>
              <a:rPr sz="1100" b="0" i="0" u="none" cap="none">
                <a:solidFill>
                  <a:schemeClr val="dk1"/>
                </a:solidFill>
                <a:latin typeface="Arial"/>
                <a:ea typeface="Arial"/>
                <a:cs typeface="Arial"/>
              </a:rPr>
              <a:t>In terms of training time, the YOLOv8s architecture is the fastest, whether trained from scratch (0.177 h) or with pretraining (0.179 h), indicating that its architecture is the most efficient during the learning iterations.</a:t>
            </a:r>
            <a:endParaRPr sz="1100" b="0" i="0" u="none" cap="none">
              <a:solidFill>
                <a:schemeClr val="dk1"/>
              </a:solidFill>
              <a:latin typeface="Arial"/>
              <a:ea typeface="Arial"/>
              <a:cs typeface="Arial"/>
            </a:endParaRPr>
          </a:p>
        </p:txBody>
      </p:sp>
      <p:sp>
        <p:nvSpPr>
          <p:cNvPr id="172" name="Google Shape;172;p11">
            <a:extLst xmlns:a="http://schemas.openxmlformats.org/drawingml/2006/main">
              <a:ext uri="{FF2B5EF4-FFF2-40B4-BE49-F238E27FC236}">
                <a16:creationId xmlns:a16="http://schemas.microsoft.com/office/drawing/2014/main" id="{F7E5B5BE-8CDF-48A1-9BCD-C4B21771617A}"/>
              </a:ext>
            </a:extLst>
          </p:cNvPr>
          <p:cNvSpPr>
            <a:spLocks xmlns:a="http://schemas.openxmlformats.org/drawingml/2006/main" noGrp="1"/>
          </p:cNvSpPr>
          <p:nvPr/>
        </p:nvSpPr>
        <p:spPr>
          <a:xfrm xmlns:a="http://schemas.openxmlformats.org/drawingml/2006/main">
            <a:off x="90600" y="3767610"/>
            <a:ext cx="1091400" cy="3540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1" i="0" u="none" cap="none">
                <a:solidFill>
                  <a:srgbClr val="000000"/>
                </a:solidFill>
                <a:latin typeface="Arial"/>
                <a:ea typeface="Arial"/>
                <a:cs typeface="Arial"/>
              </a:rPr>
              <a:t>Result</a:t>
            </a:r>
            <a:endParaRPr sz="1100" b="1" i="0" u="none" cap="none">
              <a:solidFill>
                <a:srgbClr val="000000"/>
              </a:solidFill>
              <a:latin typeface="Arial"/>
              <a:ea typeface="Arial"/>
              <a:cs typeface="Arial"/>
            </a:endParaRPr>
          </a:p>
        </p:txBody>
      </p:sp>
    </p:spTree>
    <p:extLst>
      <p:ext uri="{BB962C8B-B14F-4D97-AF65-F5344CB8AC3E}">
        <p14:creationId xmlns:p14="http://schemas.microsoft.com/office/powerpoint/2010/main" val="135318257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77" name="Google Shape;177;p12">
            <a:extLst xmlns:a="http://schemas.openxmlformats.org/drawingml/2006/main">
              <a:ext uri="{FF2B5EF4-FFF2-40B4-BE49-F238E27FC236}">
                <a16:creationId xmlns:a16="http://schemas.microsoft.com/office/drawing/2014/main" id="{B646BF58-EF3C-4DC2-BE8E-0157EFE44123}"/>
              </a:ext>
            </a:extLst>
          </p:cNvPr>
          <p:cNvSpPr>
            <a:spLocks xmlns:a="http://schemas.openxmlformats.org/drawingml/2006/main" noGrp="1"/>
          </p:cNvSpPr>
          <p:nvPr/>
        </p:nvSpPr>
        <p:spPr>
          <a:xfrm xmlns:a="http://schemas.openxmlformats.org/drawingml/2006/main">
            <a:off x="167050" y="131275"/>
            <a:ext cx="8730600" cy="46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200"/>
              <a:buFont typeface="Arial"/>
              <a:buNone/>
            </a:pPr>
            <a:r>
              <a:rPr sz="2200" b="1" i="0" u="none" cap="none">
                <a:solidFill>
                  <a:srgbClr val="595959"/>
                </a:solidFill>
                <a:latin typeface="Arial"/>
                <a:ea typeface="Arial"/>
                <a:cs typeface="Arial"/>
              </a:rPr>
              <a:t>2.3  comparison</a:t>
            </a:r>
            <a:endParaRPr sz="2200" b="1" i="0" u="none" cap="none">
              <a:solidFill>
                <a:srgbClr val="595959"/>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200"/>
              <a:buFont typeface="Arial"/>
              <a:buNone/>
            </a:pPr>
            <a:r>
              <a:t/>
            </a:r>
            <a:endParaRPr sz="2200" b="1" i="0" u="none" cap="none">
              <a:solidFill>
                <a:srgbClr val="595959"/>
              </a:solidFill>
              <a:latin typeface="Arial"/>
              <a:ea typeface="Arial"/>
              <a:cs typeface="Arial"/>
            </a:endParaRPr>
          </a:p>
        </p:txBody>
      </p:sp>
      <p:graphicFrame>
        <p:nvGraphicFramePr>
          <p:cNvPr id="183" name="Google Shape;178;p12"/>
          <p:cNvGraphicFramePr/>
          <p:nvPr/>
        </p:nvGraphicFramePr>
        <p:xfrm>
          <a:off xmlns:a="http://schemas.openxmlformats.org/drawingml/2006/main" x="140288" y="1173600"/>
          <a:ext xmlns:a="http://schemas.openxmlformats.org/drawingml/2006/main" cx="3000000" cy="3000000"/>
        </p:xfrm>
        <a:graphic xmlns:a="http://schemas.openxmlformats.org/drawingml/2006/main">
          <a:graphicData uri="http://schemas.openxmlformats.org/drawingml/2006/table">
            <a:tbl>
              <a:tblPr>
                <a:tableStyleId>{E9C96EFF-C137-458B-89EA-79B6DC1AD40E}</a:tableStyleId>
              </a:tblPr>
              <a:tblGrid>
                <a:gridCol w="823375"/>
                <a:gridCol w="1774675"/>
                <a:gridCol w="975450"/>
                <a:gridCol w="909800"/>
                <a:gridCol w="2072825"/>
                <a:gridCol w="1191175"/>
                <a:gridCol w="1116125"/>
              </a:tblGrid>
              <a:tr h="239225">
                <a:tc>
                  <a:txBody>
                    <a:bodyPr/>
                    <a:lstStyle/>
                    <a:p>
                      <a:pPr marL="0" marR="0" lvl="0" indent="0" algn="ctr">
                        <a:lnSpc>
                          <a:spcPct val="100000"/>
                        </a:lnSpc>
                        <a:spcBef>
                          <a:spcPts val="0"/>
                        </a:spcBef>
                        <a:spcAft>
                          <a:spcPts val="0"/>
                        </a:spcAft>
                        <a:buClr>
                          <a:srgbClr val="000000"/>
                        </a:buClr>
                        <a:buSzPts val="900"/>
                        <a:buFont typeface="Arial"/>
                        <a:buNone/>
                      </a:pPr>
                      <a:r>
                        <a:rPr sz="900" b="1" u="none" cap="none"/>
                        <a:t>Model</a:t>
                      </a:r>
                      <a:endParaRPr sz="900" b="1" u="none" cap="none"/>
                    </a:p>
                  </a:txBody>
                  <a:tcPr marL="91425" marR="91425" marT="91425" marB="91425" anchor="ctr">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b="1" u="none" cap="none"/>
                        <a:t>mAP50 </a:t>
                      </a:r>
                      <a:endParaRPr sz="900" b="1" u="none" cap="none"/>
                    </a:p>
                    <a:p>
                      <a:pPr marL="0" marR="0" lvl="0" indent="0" algn="ctr">
                        <a:lnSpc>
                          <a:spcPct val="100000"/>
                        </a:lnSpc>
                        <a:spcBef>
                          <a:spcPts val="0"/>
                        </a:spcBef>
                        <a:spcAft>
                          <a:spcPts val="0"/>
                        </a:spcAft>
                        <a:buClr>
                          <a:srgbClr val="000000"/>
                        </a:buClr>
                        <a:buSzPts val="900"/>
                        <a:buFont typeface="Arial"/>
                        <a:buNone/>
                      </a:pPr>
                      <a:r>
                        <a:rPr sz="900" b="1" u="none" cap="none"/>
                        <a:t>(scratch → pretrained)</a:t>
                      </a:r>
                      <a:endParaRPr sz="900" b="1" u="none" cap="none"/>
                    </a:p>
                  </a:txBody>
                  <a:tcPr marL="91425" marR="91425" marT="91425" marB="91425" anchor="ctr">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b="1" u="none" cap="none"/>
                        <a:t>mAP50</a:t>
                      </a:r>
                      <a:endParaRPr sz="900" b="1" u="none" cap="none"/>
                    </a:p>
                    <a:p>
                      <a:pPr marL="0" marR="0" lvl="0" indent="0" algn="ctr">
                        <a:lnSpc>
                          <a:spcPct val="100000"/>
                        </a:lnSpc>
                        <a:spcBef>
                          <a:spcPts val="0"/>
                        </a:spcBef>
                        <a:spcAft>
                          <a:spcPts val="0"/>
                        </a:spcAft>
                        <a:buClr>
                          <a:srgbClr val="000000"/>
                        </a:buClr>
                        <a:buSzPts val="900"/>
                        <a:buFont typeface="Arial"/>
                        <a:buNone/>
                      </a:pPr>
                      <a:r>
                        <a:rPr sz="900" b="1" u="none" cap="none"/>
                        <a:t> (abs)</a:t>
                      </a:r>
                      <a:endParaRPr sz="900" b="1" u="none" cap="none"/>
                    </a:p>
                  </a:txBody>
                  <a:tcPr marL="91425" marR="91425" marT="91425" marB="91425" anchor="ctr">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b="1" u="none" cap="none"/>
                        <a:t>mAP50 </a:t>
                      </a:r>
                      <a:endParaRPr sz="900" b="1" u="none" cap="none"/>
                    </a:p>
                    <a:p>
                      <a:pPr marL="0" marR="0" lvl="0" indent="0" algn="ctr">
                        <a:lnSpc>
                          <a:spcPct val="100000"/>
                        </a:lnSpc>
                        <a:spcBef>
                          <a:spcPts val="0"/>
                        </a:spcBef>
                        <a:spcAft>
                          <a:spcPts val="0"/>
                        </a:spcAft>
                        <a:buClr>
                          <a:srgbClr val="000000"/>
                        </a:buClr>
                        <a:buSzPts val="900"/>
                        <a:buFont typeface="Arial"/>
                        <a:buNone/>
                      </a:pPr>
                      <a:r>
                        <a:rPr sz="900" b="1" u="none" cap="none"/>
                        <a:t>(%)</a:t>
                      </a:r>
                      <a:endParaRPr sz="900" b="1" u="none" cap="none"/>
                    </a:p>
                  </a:txBody>
                  <a:tcPr marL="91425" marR="91425" marT="91425" marB="91425" anchor="ctr">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b="1" u="none" cap="none"/>
                        <a:t>mAP50-95</a:t>
                      </a:r>
                      <a:endParaRPr sz="900" b="1" u="none" cap="none"/>
                    </a:p>
                    <a:p>
                      <a:pPr marL="0" marR="0" lvl="0" indent="0" algn="ctr">
                        <a:lnSpc>
                          <a:spcPct val="100000"/>
                        </a:lnSpc>
                        <a:spcBef>
                          <a:spcPts val="0"/>
                        </a:spcBef>
                        <a:spcAft>
                          <a:spcPts val="0"/>
                        </a:spcAft>
                        <a:buClr>
                          <a:srgbClr val="000000"/>
                        </a:buClr>
                        <a:buSzPts val="900"/>
                        <a:buFont typeface="Arial"/>
                        <a:buNone/>
                      </a:pPr>
                      <a:r>
                        <a:rPr sz="900" b="1" u="none" cap="none"/>
                        <a:t> (scratch → pretrained)</a:t>
                      </a:r>
                      <a:endParaRPr sz="900" b="1" u="none" cap="none"/>
                    </a:p>
                  </a:txBody>
                  <a:tcPr marL="91425" marR="91425" marT="91425" marB="91425" anchor="ctr">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b="1" u="none" cap="none"/>
                        <a:t>mAP50-95</a:t>
                      </a:r>
                      <a:endParaRPr sz="900" b="1" u="none" cap="none"/>
                    </a:p>
                    <a:p>
                      <a:pPr marL="0" marR="0" lvl="0" indent="0" algn="ctr">
                        <a:lnSpc>
                          <a:spcPct val="100000"/>
                        </a:lnSpc>
                        <a:spcBef>
                          <a:spcPts val="0"/>
                        </a:spcBef>
                        <a:spcAft>
                          <a:spcPts val="0"/>
                        </a:spcAft>
                        <a:buClr>
                          <a:srgbClr val="000000"/>
                        </a:buClr>
                        <a:buSzPts val="900"/>
                        <a:buFont typeface="Arial"/>
                        <a:buNone/>
                      </a:pPr>
                      <a:r>
                        <a:rPr sz="900" b="1" u="none" cap="none"/>
                        <a:t> (abs)</a:t>
                      </a:r>
                      <a:endParaRPr sz="900" b="1" u="none" cap="none"/>
                    </a:p>
                  </a:txBody>
                  <a:tcPr marL="91425" marR="91425" marT="91425" marB="91425" anchor="ctr">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b="1" u="none" cap="none"/>
                        <a:t>mAP50-95 </a:t>
                      </a:r>
                      <a:endParaRPr sz="900" b="1" u="none" cap="none"/>
                    </a:p>
                    <a:p>
                      <a:pPr marL="0" marR="0" lvl="0" indent="0" algn="ctr">
                        <a:lnSpc>
                          <a:spcPct val="100000"/>
                        </a:lnSpc>
                        <a:spcBef>
                          <a:spcPts val="0"/>
                        </a:spcBef>
                        <a:spcAft>
                          <a:spcPts val="0"/>
                        </a:spcAft>
                        <a:buClr>
                          <a:srgbClr val="000000"/>
                        </a:buClr>
                        <a:buSzPts val="900"/>
                        <a:buFont typeface="Arial"/>
                        <a:buNone/>
                      </a:pPr>
                      <a:r>
                        <a:rPr sz="900" b="1" u="none" cap="none"/>
                        <a:t>(%)</a:t>
                      </a:r>
                      <a:endParaRPr sz="900" b="1" u="none" cap="none"/>
                    </a:p>
                  </a:txBody>
                  <a:tcPr marL="91425" marR="91425" marT="91425" marB="91425" anchor="ctr">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r>
              <a:tr h="168275">
                <a:tc>
                  <a:txBody>
                    <a:bodyPr/>
                    <a:lstStyle/>
                    <a:p>
                      <a:pPr marL="0" marR="0" lvl="0" indent="0" algn="ctr">
                        <a:lnSpc>
                          <a:spcPct val="100000"/>
                        </a:lnSpc>
                        <a:spcBef>
                          <a:spcPts val="0"/>
                        </a:spcBef>
                        <a:spcAft>
                          <a:spcPts val="0"/>
                        </a:spcAft>
                        <a:buClr>
                          <a:srgbClr val="000000"/>
                        </a:buClr>
                        <a:buSzPts val="900"/>
                        <a:buFont typeface="Arial"/>
                        <a:buNone/>
                      </a:pPr>
                      <a:r>
                        <a:rPr sz="900" u="none" cap="none"/>
                        <a:t>YOLOv8s</a:t>
                      </a:r>
                      <a:endParaRPr sz="9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u="none" cap="none"/>
                        <a:t>0.7574 → 0.8264</a:t>
                      </a:r>
                      <a:endParaRPr sz="9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u="none" cap="none"/>
                        <a:t>+0.0690</a:t>
                      </a:r>
                      <a:endParaRPr sz="9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b="1" u="none" cap="none"/>
                        <a:t>+9.11%</a:t>
                      </a:r>
                      <a:endParaRPr sz="900" b="1"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u="none" cap="none"/>
                        <a:t>0.3748 → 0.4497</a:t>
                      </a:r>
                      <a:endParaRPr sz="9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u="none" cap="none"/>
                        <a:t>+0.0749</a:t>
                      </a:r>
                      <a:endParaRPr sz="9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b="1" u="none" cap="none"/>
                        <a:t>+19.99%</a:t>
                      </a:r>
                      <a:endParaRPr sz="900" b="1"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r>
              <a:tr h="168275">
                <a:tc>
                  <a:txBody>
                    <a:bodyPr/>
                    <a:lstStyle/>
                    <a:p>
                      <a:pPr marL="0" marR="0" lvl="0" indent="0" algn="ctr">
                        <a:lnSpc>
                          <a:spcPct val="100000"/>
                        </a:lnSpc>
                        <a:spcBef>
                          <a:spcPts val="0"/>
                        </a:spcBef>
                        <a:spcAft>
                          <a:spcPts val="0"/>
                        </a:spcAft>
                        <a:buClr>
                          <a:srgbClr val="000000"/>
                        </a:buClr>
                        <a:buSzPts val="900"/>
                        <a:buFont typeface="Arial"/>
                        <a:buNone/>
                      </a:pPr>
                      <a:r>
                        <a:rPr sz="900" u="none" cap="none"/>
                        <a:t>YOLOv9s</a:t>
                      </a:r>
                      <a:endParaRPr sz="9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u="none" cap="none"/>
                        <a:t>0.7461 → 0.8237</a:t>
                      </a:r>
                      <a:endParaRPr sz="9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u="none" cap="none"/>
                        <a:t>+0.0776</a:t>
                      </a:r>
                      <a:endParaRPr sz="9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b="1" u="none" cap="none"/>
                        <a:t>+10.40%</a:t>
                      </a:r>
                      <a:endParaRPr sz="900" b="1"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u="none" cap="none"/>
                        <a:t>0.3693 → 0.4278</a:t>
                      </a:r>
                      <a:endParaRPr sz="9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u="none" cap="none"/>
                        <a:t>+0.0585</a:t>
                      </a:r>
                      <a:endParaRPr sz="9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b="1" u="none" cap="none"/>
                        <a:t>+15.84%</a:t>
                      </a:r>
                      <a:endParaRPr sz="900" b="1"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r>
              <a:tr h="168275">
                <a:tc>
                  <a:txBody>
                    <a:bodyPr/>
                    <a:lstStyle/>
                    <a:p>
                      <a:pPr marL="0" marR="0" lvl="0" indent="0" algn="ctr">
                        <a:lnSpc>
                          <a:spcPct val="100000"/>
                        </a:lnSpc>
                        <a:spcBef>
                          <a:spcPts val="0"/>
                        </a:spcBef>
                        <a:spcAft>
                          <a:spcPts val="0"/>
                        </a:spcAft>
                        <a:buClr>
                          <a:srgbClr val="000000"/>
                        </a:buClr>
                        <a:buSzPts val="900"/>
                        <a:buFont typeface="Arial"/>
                        <a:buNone/>
                      </a:pPr>
                      <a:r>
                        <a:rPr sz="900" u="none" cap="none"/>
                        <a:t>YOLOv10s</a:t>
                      </a:r>
                      <a:endParaRPr sz="9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u="none" cap="none"/>
                        <a:t>0.6465 → 0.7940</a:t>
                      </a:r>
                      <a:endParaRPr sz="9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u="none" cap="none"/>
                        <a:t>+0.1475</a:t>
                      </a:r>
                      <a:endParaRPr sz="9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b="1" u="none" cap="none"/>
                        <a:t>+22.81%</a:t>
                      </a:r>
                      <a:endParaRPr sz="900" b="1"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u="none" cap="none"/>
                        <a:t>0.3283 → 0.4094</a:t>
                      </a:r>
                      <a:endParaRPr sz="9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u="none" cap="none"/>
                        <a:t>+0.0811</a:t>
                      </a:r>
                      <a:endParaRPr sz="900"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c>
                  <a:txBody>
                    <a:bodyPr/>
                    <a:lstStyle/>
                    <a:p>
                      <a:pPr marL="0" marR="0" lvl="0" indent="0" algn="ctr">
                        <a:lnSpc>
                          <a:spcPct val="100000"/>
                        </a:lnSpc>
                        <a:spcBef>
                          <a:spcPts val="0"/>
                        </a:spcBef>
                        <a:spcAft>
                          <a:spcPts val="0"/>
                        </a:spcAft>
                        <a:buClr>
                          <a:srgbClr val="000000"/>
                        </a:buClr>
                        <a:buSzPts val="900"/>
                        <a:buFont typeface="Arial"/>
                        <a:buNone/>
                      </a:pPr>
                      <a:r>
                        <a:rPr sz="900" b="1" u="none" cap="none"/>
                        <a:t>+24.70%</a:t>
                      </a:r>
                      <a:endParaRPr sz="900" b="1" u="none" cap="none"/>
                    </a:p>
                  </a:txBody>
                  <a:tcPr marL="91425" marR="91425" marT="91425" marB="91425">
                    <a:lnL w="9525" cmpd="sng">
                      <a:solidFill>
                        <a:schemeClr val="dk2"/>
                      </a:solidFill>
                      <a:prstDash val="solid"/>
                    </a:lnL>
                    <a:lnR w="9525" cmpd="sng">
                      <a:solidFill>
                        <a:schemeClr val="dk2"/>
                      </a:solidFill>
                      <a:prstDash val="solid"/>
                    </a:lnR>
                    <a:lnT w="9525" cmpd="sng">
                      <a:solidFill>
                        <a:schemeClr val="dk2"/>
                      </a:solidFill>
                      <a:prstDash val="solid"/>
                    </a:lnT>
                    <a:lnB w="9525" cmpd="sng">
                      <a:solidFill>
                        <a:schemeClr val="dk2"/>
                      </a:solidFill>
                      <a:prstDash val="solid"/>
                    </a:lnB>
                  </a:tcPr>
                </a:tc>
              </a:tr>
            </a:tbl>
          </a:graphicData>
        </a:graphic>
      </p:graphicFrame>
      <p:sp>
        <p:nvSpPr>
          <p:cNvPr id="179" name="Google Shape;179;p12">
            <a:extLst xmlns:a="http://schemas.openxmlformats.org/drawingml/2006/main">
              <a:ext uri="{FF2B5EF4-FFF2-40B4-BE49-F238E27FC236}">
                <a16:creationId xmlns:a16="http://schemas.microsoft.com/office/drawing/2014/main" id="{A955422A-4E89-4CC5-8233-D068CB7A90DE}"/>
              </a:ext>
            </a:extLst>
          </p:cNvPr>
          <p:cNvSpPr>
            <a:spLocks xmlns:a="http://schemas.openxmlformats.org/drawingml/2006/main" noGrp="1"/>
          </p:cNvSpPr>
          <p:nvPr/>
        </p:nvSpPr>
        <p:spPr>
          <a:xfrm xmlns:a="http://schemas.openxmlformats.org/drawingml/2006/main">
            <a:off x="90600" y="596575"/>
            <a:ext cx="8962800" cy="5232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pPr>
            <a:r>
              <a:rPr sz="1100" b="1" i="0" u="none" cap="none">
                <a:solidFill>
                  <a:srgbClr val="000000"/>
                </a:solidFill>
                <a:latin typeface="Arial"/>
                <a:ea typeface="Arial"/>
                <a:cs typeface="Arial"/>
              </a:rPr>
              <a:t>The analysis demonstrates that Transfer Learning is the single most critical factor in achieving object detection performance on this dataset. The performance increase brought by pretraining is significant across all metrics and architectures tested.</a:t>
            </a:r>
            <a:endParaRPr sz="1100" b="1" i="0" u="none" cap="none">
              <a:solidFill>
                <a:srgbClr val="000000"/>
              </a:solidFill>
              <a:latin typeface="Arial"/>
              <a:ea typeface="Arial"/>
              <a:cs typeface="Arial"/>
            </a:endParaRPr>
          </a:p>
        </p:txBody>
      </p:sp>
      <p:sp>
        <p:nvSpPr>
          <p:cNvPr id="180" name="Google Shape;180;p12">
            <a:extLst xmlns:a="http://schemas.openxmlformats.org/drawingml/2006/main">
              <a:ext uri="{FF2B5EF4-FFF2-40B4-BE49-F238E27FC236}">
                <a16:creationId xmlns:a16="http://schemas.microsoft.com/office/drawing/2014/main" id="{7F3637C0-BDFE-47E4-B46A-503ADC392C9B}"/>
              </a:ext>
            </a:extLst>
          </p:cNvPr>
          <p:cNvSpPr>
            <a:spLocks xmlns:a="http://schemas.openxmlformats.org/drawingml/2006/main" noGrp="1"/>
          </p:cNvSpPr>
          <p:nvPr/>
        </p:nvSpPr>
        <p:spPr>
          <a:xfrm xmlns:a="http://schemas.openxmlformats.org/drawingml/2006/main">
            <a:off x="90600" y="2625575"/>
            <a:ext cx="8962800" cy="23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pPr>
            <a:r>
              <a:rPr sz="1100" b="1" i="0" u="none" cap="none">
                <a:solidFill>
                  <a:schemeClr val="dk1"/>
                </a:solidFill>
                <a:latin typeface="Arial"/>
                <a:ea typeface="Arial"/>
                <a:cs typeface="Arial"/>
              </a:rPr>
              <a:t>1.Transfer learning demonstrated consistent and substantial improvements across all architectures</a:t>
            </a:r>
            <a:endParaRPr sz="1100" b="1"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100"/>
              <a:buFont typeface="Arial"/>
              <a:buNone/>
            </a:pPr>
            <a:r>
              <a:rPr sz="1100" b="0" i="0" u="none" cap="none">
                <a:solidFill>
                  <a:schemeClr val="dk1"/>
                </a:solidFill>
                <a:latin typeface="Arial"/>
                <a:ea typeface="Arial"/>
                <a:cs typeface="Arial"/>
              </a:rPr>
              <a:t>All models achieved substantial gains in mAP50-95, the use of pretrained weights led to significant performance boosts. This confirms that pretrained features provide a strong initialization, enabling models to converge more effectively on the target dataset.</a:t>
            </a:r>
            <a:endParaRPr sz="1100" b="1"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100"/>
              <a:buFont typeface="Arial"/>
              <a:buNone/>
            </a:pPr>
            <a:r>
              <a:rPr sz="1100" b="1" i="0" u="none" cap="none">
                <a:solidFill>
                  <a:schemeClr val="dk1"/>
                </a:solidFill>
                <a:latin typeface="Arial"/>
                <a:ea typeface="Arial"/>
                <a:cs typeface="Arial"/>
              </a:rPr>
              <a:t>2.The magnitude of improvement varied significantly across architectures:</a:t>
            </a:r>
            <a:endParaRPr sz="1100" b="1"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100"/>
              <a:buFont typeface="Arial"/>
              <a:buNone/>
            </a:pPr>
            <a:r>
              <a:rPr sz="1100" b="1" i="0" u="none" cap="none">
                <a:solidFill>
                  <a:schemeClr val="dk1"/>
                </a:solidFill>
                <a:latin typeface="Arial"/>
                <a:ea typeface="Arial"/>
                <a:cs typeface="Arial"/>
              </a:rPr>
              <a:t>Robust Baseline (YOLOv8s, YOLOv9s)：</a:t>
            </a:r>
            <a:r>
              <a:rPr sz="1100" b="0" i="0" u="none" cap="none">
                <a:solidFill>
                  <a:schemeClr val="dk1"/>
                </a:solidFill>
                <a:latin typeface="Arial"/>
                <a:ea typeface="Arial"/>
                <a:cs typeface="Arial"/>
              </a:rPr>
              <a:t>Both YOLOv8s and YOLOv9s, while achieving strong final performance, </a:t>
            </a:r>
            <a:r>
              <a:rPr sz="1100" b="0" i="0" u="none" cap="none">
                <a:solidFill>
                  <a:schemeClr val="dk1"/>
                </a:solidFill>
                <a:latin typeface="Arial"/>
                <a:ea typeface="Arial"/>
                <a:cs typeface="Arial"/>
              </a:rPr>
              <a:t>showed mAP50-95 gains of +19.99% and +15.84%.</a:t>
            </a:r>
            <a:r>
              <a:rPr sz="1100" b="0" i="0" u="none" cap="none">
                <a:solidFill>
                  <a:schemeClr val="dk1"/>
                </a:solidFill>
                <a:latin typeface="Arial"/>
                <a:ea typeface="Arial"/>
                <a:cs typeface="Arial"/>
              </a:rPr>
              <a:t> Their Scratch versions were already starting from a more robust baseline (mAP50-95 around 0.37),indicating strong inherent feature-learning capabilities even without pretrained initialization.</a:t>
            </a:r>
            <a:endParaRPr sz="11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100"/>
              <a:buFont typeface="Arial"/>
              <a:buNone/>
            </a:pPr>
            <a:r>
              <a:rPr sz="1100" b="1" i="0" u="none" cap="none">
                <a:solidFill>
                  <a:schemeClr val="dk1"/>
                </a:solidFill>
                <a:latin typeface="Arial"/>
                <a:ea typeface="Arial"/>
                <a:cs typeface="Arial"/>
              </a:rPr>
              <a:t>Highest Dependency(YOLOv10s)：</a:t>
            </a:r>
            <a:r>
              <a:rPr sz="1100" b="0" i="0" u="none" cap="none">
                <a:solidFill>
                  <a:schemeClr val="dk1"/>
                </a:solidFill>
                <a:latin typeface="Arial"/>
                <a:ea typeface="Arial"/>
                <a:cs typeface="Arial"/>
              </a:rPr>
              <a:t>The YOLOv10s architecture showed the most dramatic increase in performance. Its mAP50-95 increased by </a:t>
            </a:r>
            <a:r>
              <a:rPr sz="1100" b="0" i="0" u="none" cap="none">
                <a:solidFill>
                  <a:schemeClr val="dk1"/>
                </a:solidFill>
                <a:latin typeface="Arial"/>
                <a:ea typeface="Arial"/>
                <a:cs typeface="Arial"/>
              </a:rPr>
              <a:t>0.0811 absolute points (a relative gain of +24.70%)</a:t>
            </a:r>
            <a:r>
              <a:rPr sz="1100" b="0" i="0" u="none" cap="none">
                <a:solidFill>
                  <a:schemeClr val="dk1"/>
                </a:solidFill>
                <a:latin typeface="Arial"/>
                <a:ea typeface="Arial"/>
                <a:cs typeface="Arial"/>
              </a:rPr>
              <a:t>. This indicates that YOLOv10s sacrifices its ability to build foundational features from scratch on a specialized dataset, making it highly dependent on the pre-trained weights for initialization.</a:t>
            </a:r>
            <a:endParaRPr sz="11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100"/>
              <a:buFont typeface="Arial"/>
              <a:buNone/>
            </a:pPr>
            <a:r>
              <a:rPr sz="1100" b="1" i="0" u="none" cap="none">
                <a:solidFill>
                  <a:schemeClr val="dk1"/>
                </a:solidFill>
                <a:latin typeface="Arial"/>
                <a:ea typeface="Arial"/>
                <a:cs typeface="Arial"/>
              </a:rPr>
              <a:t>3.</a:t>
            </a:r>
            <a:r>
              <a:rPr sz="1100" b="0" i="0" u="none" cap="none">
                <a:solidFill>
                  <a:schemeClr val="dk1"/>
                </a:solidFill>
                <a:latin typeface="Arial"/>
                <a:ea typeface="Arial"/>
                <a:cs typeface="Arial"/>
              </a:rPr>
              <a:t>These findings highlight that while all models benefit from transfer learning, architectures like YOLOv10s may be unsuitable for small-data scenarios when trained from scratch. In contrast, YOLOv8s and YOLOv9s offer more stable baseline performance and robustness in low-data environments.</a:t>
            </a:r>
            <a:endParaRPr sz="1100" b="0" i="0" u="none" cap="none">
              <a:solidFill>
                <a:schemeClr val="dk1"/>
              </a:solidFill>
              <a:latin typeface="Arial"/>
              <a:ea typeface="Arial"/>
              <a:cs typeface="Arial"/>
            </a:endParaRPr>
          </a:p>
        </p:txBody>
      </p:sp>
    </p:spTree>
    <p:extLst>
      <p:ext uri="{BB962C8B-B14F-4D97-AF65-F5344CB8AC3E}">
        <p14:creationId xmlns:p14="http://schemas.microsoft.com/office/powerpoint/2010/main" val="12170075"/>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2026-09-02T19:44:58.6510000Z</dcterms:created>
  <dcterms:modified xsi:type="dcterms:W3CDTF">2026-09-02T19:44:58.6510000Z</dcterms:modified>
</coreProperties>
</file>